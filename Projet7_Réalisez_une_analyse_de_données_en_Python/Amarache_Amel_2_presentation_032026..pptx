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83" r:id="rId2"/>
    <p:sldId id="256" r:id="rId3"/>
    <p:sldId id="257" r:id="rId4"/>
    <p:sldId id="258" r:id="rId5"/>
    <p:sldId id="266" r:id="rId6"/>
    <p:sldId id="267" r:id="rId7"/>
    <p:sldId id="265" r:id="rId8"/>
    <p:sldId id="268" r:id="rId9"/>
    <p:sldId id="274" r:id="rId10"/>
    <p:sldId id="270" r:id="rId11"/>
    <p:sldId id="279" r:id="rId12"/>
    <p:sldId id="280" r:id="rId13"/>
    <p:sldId id="260" r:id="rId14"/>
    <p:sldId id="285" r:id="rId15"/>
    <p:sldId id="261" r:id="rId16"/>
    <p:sldId id="262" r:id="rId17"/>
    <p:sldId id="263" r:id="rId18"/>
    <p:sldId id="264" r:id="rId19"/>
    <p:sldId id="287" r:id="rId20"/>
    <p:sldId id="289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Raleway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5696" autoAdjust="0"/>
  </p:normalViewPr>
  <p:slideViewPr>
    <p:cSldViewPr snapToGrid="0">
      <p:cViewPr varScale="1">
        <p:scale>
          <a:sx n="121" d="100"/>
          <a:sy n="121" d="100"/>
        </p:scale>
        <p:origin x="341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Classeur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fr-FR" sz="1100" b="0" dirty="0">
                <a:solidFill>
                  <a:schemeClr val="bg2"/>
                </a:solidFill>
              </a:rPr>
              <a:t>Répartition des Transactions immobiliers</a:t>
            </a:r>
          </a:p>
        </c:rich>
      </c:tx>
      <c:layout>
        <c:manualLayout>
          <c:xMode val="edge"/>
          <c:yMode val="edge"/>
          <c:x val="0.15611348968022445"/>
          <c:y val="0.86044358329554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chemeClr val="accent6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47-4BF9-A88B-AC165C0ED3DA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147-4BF9-A88B-AC165C0ED3D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6EAA8A2-65BB-4D28-B779-1412CEAA9A90}" type="PERCENTAGE">
                      <a:rPr lang="en-US" b="1">
                        <a:solidFill>
                          <a:schemeClr val="bg1"/>
                        </a:solidFill>
                      </a:rPr>
                      <a:pPr/>
                      <a:t>[POURCENTAGE]</a:t>
                    </a:fld>
                    <a:endParaRPr lang="fr-FR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147-4BF9-A88B-AC165C0ED3D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424F028-3994-4F0C-9DE3-08031B9A11E3}" type="PERCENTAGE">
                      <a:rPr lang="en-US" b="1">
                        <a:solidFill>
                          <a:schemeClr val="bg1"/>
                        </a:solidFill>
                      </a:rPr>
                      <a:pPr/>
                      <a:t>[POURCENTAGE]</a:t>
                    </a:fld>
                    <a:endParaRPr lang="fr-FR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147-4BF9-A88B-AC165C0ED3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Feuil1!$A$1:$A$2</c:f>
              <c:strCache>
                <c:ptCount val="2"/>
                <c:pt idx="0">
                  <c:v>Locaux commerciaux </c:v>
                </c:pt>
                <c:pt idx="1">
                  <c:v>Appartements </c:v>
                </c:pt>
              </c:strCache>
            </c:strRef>
          </c:cat>
          <c:val>
            <c:numRef>
              <c:f>Feuil1!$B$1:$B$2</c:f>
              <c:numCache>
                <c:formatCode>General</c:formatCode>
                <c:ptCount val="2"/>
                <c:pt idx="0">
                  <c:v>1843</c:v>
                </c:pt>
                <c:pt idx="1">
                  <c:v>24353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47-4BF9-A88B-AC165C0ED3DA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ayout>
        <c:manualLayout>
          <c:xMode val="edge"/>
          <c:yMode val="edge"/>
          <c:x val="0.13524238414767695"/>
          <c:y val="3.6913468277198332E-2"/>
          <c:w val="0.72951494007434825"/>
          <c:h val="8.35053798903409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71A8DC-BCD2-44DD-8683-E129BF817DFD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F0953C1-FCD1-4AEB-8FD8-1CBF7C12706C}">
      <dgm:prSet custT="1"/>
      <dgm:spPr/>
      <dgm:t>
        <a:bodyPr/>
        <a:lstStyle/>
        <a:p>
          <a:pPr algn="ctr"/>
          <a:r>
            <a:rPr lang="fr-FR" sz="1200" b="1" dirty="0">
              <a:solidFill>
                <a:schemeClr val="bg2"/>
              </a:solidFill>
            </a:rPr>
            <a:t>Importation des données :</a:t>
          </a:r>
        </a:p>
        <a:p>
          <a:pPr algn="ctr"/>
          <a:r>
            <a:rPr lang="fr-FR" sz="1200" b="0" dirty="0">
              <a:solidFill>
                <a:schemeClr val="bg2"/>
              </a:solidFill>
            </a:rPr>
            <a:t>Chargement du fichier « portefeuille_actifs » qui contient </a:t>
          </a:r>
          <a:r>
            <a:rPr lang="fr-FR" sz="1200" b="1" dirty="0">
              <a:solidFill>
                <a:schemeClr val="bg2"/>
              </a:solidFill>
            </a:rPr>
            <a:t>275 biens </a:t>
          </a:r>
          <a:r>
            <a:rPr lang="fr-FR" sz="1200" b="1" i="0" dirty="0">
              <a:solidFill>
                <a:schemeClr val="bg2"/>
              </a:solidFill>
            </a:rPr>
            <a:t>immobiliers</a:t>
          </a:r>
          <a:r>
            <a:rPr lang="fr-FR" sz="1200" b="0" dirty="0">
              <a:solidFill>
                <a:schemeClr val="bg2"/>
              </a:solidFill>
            </a:rPr>
            <a:t>.</a:t>
          </a:r>
        </a:p>
      </dgm:t>
    </dgm:pt>
    <dgm:pt modelId="{260B3359-3C6C-4E24-BD5A-0B93F19832E2}" type="parTrans" cxnId="{E17CB1DB-973E-4424-96CA-1A48D1071717}">
      <dgm:prSet/>
      <dgm:spPr/>
      <dgm:t>
        <a:bodyPr/>
        <a:lstStyle/>
        <a:p>
          <a:endParaRPr lang="fr-FR">
            <a:solidFill>
              <a:schemeClr val="bg2"/>
            </a:solidFill>
          </a:endParaRPr>
        </a:p>
      </dgm:t>
    </dgm:pt>
    <dgm:pt modelId="{7EF42E46-8C40-4592-B080-27E2A2194300}" type="sibTrans" cxnId="{E17CB1DB-973E-4424-96CA-1A48D1071717}">
      <dgm:prSet/>
      <dgm:spPr/>
      <dgm:t>
        <a:bodyPr/>
        <a:lstStyle/>
        <a:p>
          <a:endParaRPr lang="fr-FR">
            <a:solidFill>
              <a:schemeClr val="bg2"/>
            </a:solidFill>
          </a:endParaRPr>
        </a:p>
      </dgm:t>
    </dgm:pt>
    <dgm:pt modelId="{D1339523-508F-443E-97DA-341295E7ADA4}" type="pres">
      <dgm:prSet presAssocID="{E371A8DC-BCD2-44DD-8683-E129BF817DF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E01B33B3-1185-4453-B0CA-2F933B2CFB00}" type="pres">
      <dgm:prSet presAssocID="{9F0953C1-FCD1-4AEB-8FD8-1CBF7C12706C}" presName="circle1" presStyleLbl="node1" presStyleIdx="0" presStyleCnt="1" custAng="10800000" custLinFactX="560853" custLinFactNeighborX="600000" custLinFactNeighborY="667"/>
      <dgm:spPr/>
    </dgm:pt>
    <dgm:pt modelId="{1912651F-B4C5-45AA-B68F-353870863B38}" type="pres">
      <dgm:prSet presAssocID="{9F0953C1-FCD1-4AEB-8FD8-1CBF7C12706C}" presName="space" presStyleCnt="0"/>
      <dgm:spPr/>
    </dgm:pt>
    <dgm:pt modelId="{F5513B27-47CC-42FD-A635-0BA22A2F333D}" type="pres">
      <dgm:prSet presAssocID="{9F0953C1-FCD1-4AEB-8FD8-1CBF7C12706C}" presName="rect1" presStyleLbl="alignAcc1" presStyleIdx="0" presStyleCnt="1" custScaleX="104396" custLinFactNeighborX="-3106" custLinFactNeighborY="29728"/>
      <dgm:spPr/>
    </dgm:pt>
    <dgm:pt modelId="{59B59CCE-D0B8-48B3-BFF0-8D5B3A5F319D}" type="pres">
      <dgm:prSet presAssocID="{9F0953C1-FCD1-4AEB-8FD8-1CBF7C12706C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ADCAE003-86BA-40AF-8BBE-0EC49A3DE214}" type="presOf" srcId="{9F0953C1-FCD1-4AEB-8FD8-1CBF7C12706C}" destId="{59B59CCE-D0B8-48B3-BFF0-8D5B3A5F319D}" srcOrd="1" destOrd="0" presId="urn:microsoft.com/office/officeart/2005/8/layout/target3"/>
    <dgm:cxn modelId="{BFFF9414-F73A-49F1-BEEE-0CD5D76F1162}" type="presOf" srcId="{9F0953C1-FCD1-4AEB-8FD8-1CBF7C12706C}" destId="{F5513B27-47CC-42FD-A635-0BA22A2F333D}" srcOrd="0" destOrd="0" presId="urn:microsoft.com/office/officeart/2005/8/layout/target3"/>
    <dgm:cxn modelId="{94FD6B49-B2CC-4F5B-8693-D8434099F3E1}" type="presOf" srcId="{E371A8DC-BCD2-44DD-8683-E129BF817DFD}" destId="{D1339523-508F-443E-97DA-341295E7ADA4}" srcOrd="0" destOrd="0" presId="urn:microsoft.com/office/officeart/2005/8/layout/target3"/>
    <dgm:cxn modelId="{E17CB1DB-973E-4424-96CA-1A48D1071717}" srcId="{E371A8DC-BCD2-44DD-8683-E129BF817DFD}" destId="{9F0953C1-FCD1-4AEB-8FD8-1CBF7C12706C}" srcOrd="0" destOrd="0" parTransId="{260B3359-3C6C-4E24-BD5A-0B93F19832E2}" sibTransId="{7EF42E46-8C40-4592-B080-27E2A2194300}"/>
    <dgm:cxn modelId="{4C75BB09-BD08-4FF9-A3A5-7CF9C3BFBC10}" type="presParOf" srcId="{D1339523-508F-443E-97DA-341295E7ADA4}" destId="{E01B33B3-1185-4453-B0CA-2F933B2CFB00}" srcOrd="0" destOrd="0" presId="urn:microsoft.com/office/officeart/2005/8/layout/target3"/>
    <dgm:cxn modelId="{04395849-AF9E-4350-9878-30ECAD83AADA}" type="presParOf" srcId="{D1339523-508F-443E-97DA-341295E7ADA4}" destId="{1912651F-B4C5-45AA-B68F-353870863B38}" srcOrd="1" destOrd="0" presId="urn:microsoft.com/office/officeart/2005/8/layout/target3"/>
    <dgm:cxn modelId="{0FBCA581-E005-4E77-B969-056FBBA122A0}" type="presParOf" srcId="{D1339523-508F-443E-97DA-341295E7ADA4}" destId="{F5513B27-47CC-42FD-A635-0BA22A2F333D}" srcOrd="2" destOrd="0" presId="urn:microsoft.com/office/officeart/2005/8/layout/target3"/>
    <dgm:cxn modelId="{364FC9AE-2135-4489-B3F6-E49BEAB8B365}" type="presParOf" srcId="{D1339523-508F-443E-97DA-341295E7ADA4}" destId="{59B59CCE-D0B8-48B3-BFF0-8D5B3A5F319D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BFDEBE-D82E-43D3-8A2B-93B55F391D7D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F10637A-88E3-4496-854D-ED44980C3C5C}">
      <dgm:prSet custT="1"/>
      <dgm:spPr/>
      <dgm:t>
        <a:bodyPr/>
        <a:lstStyle/>
        <a:p>
          <a:r>
            <a:rPr lang="fr-FR" sz="1200" b="1" dirty="0">
              <a:solidFill>
                <a:schemeClr val="bg2"/>
              </a:solidFill>
            </a:rPr>
            <a:t>Sélection des informations nécessaires</a:t>
          </a:r>
          <a:r>
            <a:rPr lang="fr-FR" sz="1200" b="1" i="0" dirty="0">
              <a:solidFill>
                <a:schemeClr val="bg2"/>
              </a:solidFill>
            </a:rPr>
            <a:t>:</a:t>
          </a:r>
        </a:p>
        <a:p>
          <a:r>
            <a:rPr lang="fr-FR" sz="1200" b="0" i="0" dirty="0">
              <a:solidFill>
                <a:schemeClr val="bg2"/>
              </a:solidFill>
            </a:rPr>
            <a:t>surface, localisation, type de bien , Date de prédiction 31/12/2022</a:t>
          </a:r>
          <a:endParaRPr lang="fr-FR" sz="1200" b="0" dirty="0">
            <a:solidFill>
              <a:schemeClr val="bg2"/>
            </a:solidFill>
          </a:endParaRPr>
        </a:p>
      </dgm:t>
    </dgm:pt>
    <dgm:pt modelId="{A1A9C349-5114-46E8-8E85-D129C859FCCE}" type="parTrans" cxnId="{571745A6-061E-4EA7-8DE5-C9B3BE244A2A}">
      <dgm:prSet/>
      <dgm:spPr/>
      <dgm:t>
        <a:bodyPr/>
        <a:lstStyle/>
        <a:p>
          <a:endParaRPr lang="fr-FR"/>
        </a:p>
      </dgm:t>
    </dgm:pt>
    <dgm:pt modelId="{94F065C9-C4B3-4F4F-A9AE-019FAC3837DA}" type="sibTrans" cxnId="{571745A6-061E-4EA7-8DE5-C9B3BE244A2A}">
      <dgm:prSet/>
      <dgm:spPr/>
      <dgm:t>
        <a:bodyPr/>
        <a:lstStyle/>
        <a:p>
          <a:endParaRPr lang="fr-FR"/>
        </a:p>
      </dgm:t>
    </dgm:pt>
    <dgm:pt modelId="{A2EF565D-DC2F-416A-A0D3-DEDFEB4B88CA}" type="pres">
      <dgm:prSet presAssocID="{C8BFDEBE-D82E-43D3-8A2B-93B55F391D7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271718F8-E0F5-4F59-850A-142024960BD2}" type="pres">
      <dgm:prSet presAssocID="{9F10637A-88E3-4496-854D-ED44980C3C5C}" presName="circle1" presStyleLbl="node1" presStyleIdx="0" presStyleCnt="1" custAng="10800000" custLinFactX="500000" custLinFactNeighborX="533194" custLinFactNeighborY="-780"/>
      <dgm:spPr/>
    </dgm:pt>
    <dgm:pt modelId="{AA7D05BE-5929-41DF-91BB-F6F192953F89}" type="pres">
      <dgm:prSet presAssocID="{9F10637A-88E3-4496-854D-ED44980C3C5C}" presName="space" presStyleCnt="0"/>
      <dgm:spPr/>
    </dgm:pt>
    <dgm:pt modelId="{2BF12F60-7056-4FF8-BD9C-264932766DCB}" type="pres">
      <dgm:prSet presAssocID="{9F10637A-88E3-4496-854D-ED44980C3C5C}" presName="rect1" presStyleLbl="alignAcc1" presStyleIdx="0" presStyleCnt="1" custScaleX="102897" custLinFactNeighborX="-11469" custLinFactNeighborY="28149"/>
      <dgm:spPr/>
    </dgm:pt>
    <dgm:pt modelId="{768D5BA6-97EB-4957-BD75-435FD4C6B3E3}" type="pres">
      <dgm:prSet presAssocID="{9F10637A-88E3-4496-854D-ED44980C3C5C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C87A8017-2F9B-4043-BD5F-4F85676DEFB7}" type="presOf" srcId="{9F10637A-88E3-4496-854D-ED44980C3C5C}" destId="{2BF12F60-7056-4FF8-BD9C-264932766DCB}" srcOrd="0" destOrd="0" presId="urn:microsoft.com/office/officeart/2005/8/layout/target3"/>
    <dgm:cxn modelId="{77494357-D581-410C-AE2F-3DA5A37654A0}" type="presOf" srcId="{9F10637A-88E3-4496-854D-ED44980C3C5C}" destId="{768D5BA6-97EB-4957-BD75-435FD4C6B3E3}" srcOrd="1" destOrd="0" presId="urn:microsoft.com/office/officeart/2005/8/layout/target3"/>
    <dgm:cxn modelId="{2E37DA57-012A-4C58-9FDE-1F5DE6A18A5C}" type="presOf" srcId="{C8BFDEBE-D82E-43D3-8A2B-93B55F391D7D}" destId="{A2EF565D-DC2F-416A-A0D3-DEDFEB4B88CA}" srcOrd="0" destOrd="0" presId="urn:microsoft.com/office/officeart/2005/8/layout/target3"/>
    <dgm:cxn modelId="{571745A6-061E-4EA7-8DE5-C9B3BE244A2A}" srcId="{C8BFDEBE-D82E-43D3-8A2B-93B55F391D7D}" destId="{9F10637A-88E3-4496-854D-ED44980C3C5C}" srcOrd="0" destOrd="0" parTransId="{A1A9C349-5114-46E8-8E85-D129C859FCCE}" sibTransId="{94F065C9-C4B3-4F4F-A9AE-019FAC3837DA}"/>
    <dgm:cxn modelId="{19DF5F43-0312-4FA7-89FE-FE120E75322C}" type="presParOf" srcId="{A2EF565D-DC2F-416A-A0D3-DEDFEB4B88CA}" destId="{271718F8-E0F5-4F59-850A-142024960BD2}" srcOrd="0" destOrd="0" presId="urn:microsoft.com/office/officeart/2005/8/layout/target3"/>
    <dgm:cxn modelId="{3E2DD458-DB6A-49EB-AF13-573ECBDEE5B3}" type="presParOf" srcId="{A2EF565D-DC2F-416A-A0D3-DEDFEB4B88CA}" destId="{AA7D05BE-5929-41DF-91BB-F6F192953F89}" srcOrd="1" destOrd="0" presId="urn:microsoft.com/office/officeart/2005/8/layout/target3"/>
    <dgm:cxn modelId="{AF92EE04-07CE-4050-8A6C-BFA4F45122B2}" type="presParOf" srcId="{A2EF565D-DC2F-416A-A0D3-DEDFEB4B88CA}" destId="{2BF12F60-7056-4FF8-BD9C-264932766DCB}" srcOrd="2" destOrd="0" presId="urn:microsoft.com/office/officeart/2005/8/layout/target3"/>
    <dgm:cxn modelId="{5B09D966-BE76-4A5F-A4DC-3CA7031635D5}" type="presParOf" srcId="{A2EF565D-DC2F-416A-A0D3-DEDFEB4B88CA}" destId="{768D5BA6-97EB-4957-BD75-435FD4C6B3E3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EEB323-D5FE-480B-BB21-16722890B643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E1CA01C-ABF8-40E8-A065-A6B4C95C413A}">
      <dgm:prSet custT="1"/>
      <dgm:spPr/>
      <dgm:t>
        <a:bodyPr/>
        <a:lstStyle/>
        <a:p>
          <a:r>
            <a:rPr lang="fr-FR" sz="1200" b="1" dirty="0">
              <a:solidFill>
                <a:schemeClr val="bg2"/>
              </a:solidFill>
              <a:latin typeface="+mn-lt"/>
            </a:rPr>
            <a:t>Mise en format exploitable:</a:t>
          </a:r>
          <a:endParaRPr lang="fr-FR" sz="1200" b="1" i="0" dirty="0">
            <a:solidFill>
              <a:schemeClr val="bg2"/>
            </a:solidFill>
            <a:latin typeface="+mn-lt"/>
          </a:endParaRPr>
        </a:p>
        <a:p>
          <a:r>
            <a:rPr lang="fr-FR" sz="1200" b="0" i="0" dirty="0">
              <a:solidFill>
                <a:schemeClr val="bg2"/>
              </a:solidFill>
              <a:latin typeface="+mn-lt"/>
            </a:rPr>
            <a:t>Dates → </a:t>
          </a:r>
          <a:r>
            <a:rPr lang="fr-FR" sz="1200" dirty="0">
              <a:solidFill>
                <a:schemeClr val="bg2"/>
              </a:solidFill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rPr>
            <a:t>format numérique (timestamp</a:t>
          </a:r>
          <a:r>
            <a:rPr lang="fr-FR" sz="1200" dirty="0"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rPr>
            <a:t>)</a:t>
          </a:r>
          <a:r>
            <a:rPr lang="fr-FR" sz="1200" b="0" i="0" dirty="0">
              <a:solidFill>
                <a:schemeClr val="bg2"/>
              </a:solidFill>
              <a:latin typeface="+mn-lt"/>
            </a:rPr>
            <a:t>; Code postal et type de bien → codage binaire</a:t>
          </a:r>
          <a:endParaRPr lang="fr-FR" sz="1200" b="0" dirty="0">
            <a:solidFill>
              <a:schemeClr val="bg2"/>
            </a:solidFill>
            <a:latin typeface="+mn-lt"/>
          </a:endParaRPr>
        </a:p>
      </dgm:t>
    </dgm:pt>
    <dgm:pt modelId="{481B0F8A-BF6A-42E5-AEFA-B8CCE13E630C}" type="parTrans" cxnId="{56F9E2E3-5364-4488-AF0E-A79D8BE4BAEA}">
      <dgm:prSet/>
      <dgm:spPr/>
      <dgm:t>
        <a:bodyPr/>
        <a:lstStyle/>
        <a:p>
          <a:endParaRPr lang="fr-FR"/>
        </a:p>
      </dgm:t>
    </dgm:pt>
    <dgm:pt modelId="{1238DEA6-5067-46C6-8D00-9662F45CCCDC}" type="sibTrans" cxnId="{56F9E2E3-5364-4488-AF0E-A79D8BE4BAEA}">
      <dgm:prSet/>
      <dgm:spPr/>
      <dgm:t>
        <a:bodyPr/>
        <a:lstStyle/>
        <a:p>
          <a:endParaRPr lang="fr-FR"/>
        </a:p>
      </dgm:t>
    </dgm:pt>
    <dgm:pt modelId="{6C78DAAC-2AF4-42D9-9C47-6C14B2C27DB1}" type="pres">
      <dgm:prSet presAssocID="{57EEB323-D5FE-480B-BB21-16722890B64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61AB77F-42D7-41C7-B9A9-DE8161B87567}" type="pres">
      <dgm:prSet presAssocID="{0E1CA01C-ABF8-40E8-A065-A6B4C95C413A}" presName="circle1" presStyleLbl="node1" presStyleIdx="0" presStyleCnt="1" custAng="10800000" custScaleX="118438" custLinFactX="600000" custLinFactNeighborX="676760" custLinFactNeighborY="-1641"/>
      <dgm:spPr/>
    </dgm:pt>
    <dgm:pt modelId="{FB43ADA3-D6C6-4CC6-AAFF-10641C3920F3}" type="pres">
      <dgm:prSet presAssocID="{0E1CA01C-ABF8-40E8-A065-A6B4C95C413A}" presName="space" presStyleCnt="0"/>
      <dgm:spPr/>
    </dgm:pt>
    <dgm:pt modelId="{723F5783-9804-40C6-8DA3-31F4054F12E7}" type="pres">
      <dgm:prSet presAssocID="{0E1CA01C-ABF8-40E8-A065-A6B4C95C413A}" presName="rect1" presStyleLbl="alignAcc1" presStyleIdx="0" presStyleCnt="1" custScaleX="104068" custLinFactNeighborX="6293" custLinFactNeighborY="-6600"/>
      <dgm:spPr/>
    </dgm:pt>
    <dgm:pt modelId="{EDC67F98-C9CC-48B0-92BB-DB227C45E681}" type="pres">
      <dgm:prSet presAssocID="{0E1CA01C-ABF8-40E8-A065-A6B4C95C413A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D80E4A05-2867-4F15-8BD1-E83A3E52145C}" type="presOf" srcId="{57EEB323-D5FE-480B-BB21-16722890B643}" destId="{6C78DAAC-2AF4-42D9-9C47-6C14B2C27DB1}" srcOrd="0" destOrd="0" presId="urn:microsoft.com/office/officeart/2005/8/layout/target3"/>
    <dgm:cxn modelId="{8A409E10-37B2-4C2D-A7F9-6FB59D9D90FB}" type="presOf" srcId="{0E1CA01C-ABF8-40E8-A065-A6B4C95C413A}" destId="{EDC67F98-C9CC-48B0-92BB-DB227C45E681}" srcOrd="1" destOrd="0" presId="urn:microsoft.com/office/officeart/2005/8/layout/target3"/>
    <dgm:cxn modelId="{6C9D626C-4A9A-4A1D-8309-CBE5F843C1A0}" type="presOf" srcId="{0E1CA01C-ABF8-40E8-A065-A6B4C95C413A}" destId="{723F5783-9804-40C6-8DA3-31F4054F12E7}" srcOrd="0" destOrd="0" presId="urn:microsoft.com/office/officeart/2005/8/layout/target3"/>
    <dgm:cxn modelId="{56F9E2E3-5364-4488-AF0E-A79D8BE4BAEA}" srcId="{57EEB323-D5FE-480B-BB21-16722890B643}" destId="{0E1CA01C-ABF8-40E8-A065-A6B4C95C413A}" srcOrd="0" destOrd="0" parTransId="{481B0F8A-BF6A-42E5-AEFA-B8CCE13E630C}" sibTransId="{1238DEA6-5067-46C6-8D00-9662F45CCCDC}"/>
    <dgm:cxn modelId="{0D1D1A71-DCBD-4D98-A29A-B420D20BFC9C}" type="presParOf" srcId="{6C78DAAC-2AF4-42D9-9C47-6C14B2C27DB1}" destId="{061AB77F-42D7-41C7-B9A9-DE8161B87567}" srcOrd="0" destOrd="0" presId="urn:microsoft.com/office/officeart/2005/8/layout/target3"/>
    <dgm:cxn modelId="{9F12F1C6-F0A3-4AC3-9410-C1BB3DCB0053}" type="presParOf" srcId="{6C78DAAC-2AF4-42D9-9C47-6C14B2C27DB1}" destId="{FB43ADA3-D6C6-4CC6-AAFF-10641C3920F3}" srcOrd="1" destOrd="0" presId="urn:microsoft.com/office/officeart/2005/8/layout/target3"/>
    <dgm:cxn modelId="{8C42A406-94D2-4C37-A094-A717784C3205}" type="presParOf" srcId="{6C78DAAC-2AF4-42D9-9C47-6C14B2C27DB1}" destId="{723F5783-9804-40C6-8DA3-31F4054F12E7}" srcOrd="2" destOrd="0" presId="urn:microsoft.com/office/officeart/2005/8/layout/target3"/>
    <dgm:cxn modelId="{FE065F09-9A2F-4A2B-B459-E1D85944983D}" type="presParOf" srcId="{6C78DAAC-2AF4-42D9-9C47-6C14B2C27DB1}" destId="{EDC67F98-C9CC-48B0-92BB-DB227C45E681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A9E0F1-1FC6-4E89-A5EA-FAC6109126FF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A59C4E1-229A-4A11-81E3-1FD03D9CE89C}">
      <dgm:prSet custT="1"/>
      <dgm:spPr/>
      <dgm:t>
        <a:bodyPr/>
        <a:lstStyle/>
        <a:p>
          <a:r>
            <a:rPr lang="fr-FR" sz="1200" b="1" dirty="0">
              <a:solidFill>
                <a:schemeClr val="bg2"/>
              </a:solidFill>
            </a:rPr>
            <a:t>Application de la prédiction:</a:t>
          </a:r>
        </a:p>
        <a:p>
          <a:r>
            <a:rPr lang="fr-FR" sz="1200" b="0" i="0" dirty="0">
              <a:solidFill>
                <a:schemeClr val="bg2"/>
              </a:solidFill>
            </a:rPr>
            <a:t>Le modèle de régression linéaire est appliqué sur ce jeu de données préparées</a:t>
          </a:r>
        </a:p>
      </dgm:t>
    </dgm:pt>
    <dgm:pt modelId="{B8492EE5-C9FF-45E1-9FFA-0D6646D1863B}" type="parTrans" cxnId="{E1954EC8-EFFD-4B24-BBCF-A8468C069F76}">
      <dgm:prSet/>
      <dgm:spPr/>
      <dgm:t>
        <a:bodyPr/>
        <a:lstStyle/>
        <a:p>
          <a:endParaRPr lang="fr-FR"/>
        </a:p>
      </dgm:t>
    </dgm:pt>
    <dgm:pt modelId="{3B3A3434-718A-48D3-9621-5448B495C434}" type="sibTrans" cxnId="{E1954EC8-EFFD-4B24-BBCF-A8468C069F76}">
      <dgm:prSet/>
      <dgm:spPr/>
      <dgm:t>
        <a:bodyPr/>
        <a:lstStyle/>
        <a:p>
          <a:endParaRPr lang="fr-FR"/>
        </a:p>
      </dgm:t>
    </dgm:pt>
    <dgm:pt modelId="{5A5C672E-896C-41D2-9BC6-95E1E75BFFE9}" type="pres">
      <dgm:prSet presAssocID="{DDA9E0F1-1FC6-4E89-A5EA-FAC6109126FF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84B3461-7B51-4526-83CC-5DA9BD818D6E}" type="pres">
      <dgm:prSet presAssocID="{0A59C4E1-229A-4A11-81E3-1FD03D9CE89C}" presName="circle1" presStyleLbl="node1" presStyleIdx="0" presStyleCnt="1" custFlipVert="1" custFlipHor="1" custScaleX="100391" custScaleY="92357" custLinFactX="600000" custLinFactNeighborX="628324" custLinFactNeighborY="-58"/>
      <dgm:spPr/>
    </dgm:pt>
    <dgm:pt modelId="{B693FDB7-4029-451F-94C3-D847F2FC64B7}" type="pres">
      <dgm:prSet presAssocID="{0A59C4E1-229A-4A11-81E3-1FD03D9CE89C}" presName="space" presStyleCnt="0"/>
      <dgm:spPr/>
    </dgm:pt>
    <dgm:pt modelId="{DA469E58-C67B-4F87-A125-B2834C426DF2}" type="pres">
      <dgm:prSet presAssocID="{0A59C4E1-229A-4A11-81E3-1FD03D9CE89C}" presName="rect1" presStyleLbl="alignAcc1" presStyleIdx="0" presStyleCnt="1" custScaleX="104441" custScaleY="100000" custLinFactNeighborX="-2843" custLinFactNeighborY="-3089"/>
      <dgm:spPr/>
    </dgm:pt>
    <dgm:pt modelId="{861FBC39-E70E-49BE-883F-6F8298C55E29}" type="pres">
      <dgm:prSet presAssocID="{0A59C4E1-229A-4A11-81E3-1FD03D9CE89C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C806507E-4DA5-4D1B-B231-06EDFB3B7A89}" type="presOf" srcId="{DDA9E0F1-1FC6-4E89-A5EA-FAC6109126FF}" destId="{5A5C672E-896C-41D2-9BC6-95E1E75BFFE9}" srcOrd="0" destOrd="0" presId="urn:microsoft.com/office/officeart/2005/8/layout/target3"/>
    <dgm:cxn modelId="{C552218E-0EB7-4316-9E01-2785945B5F9C}" type="presOf" srcId="{0A59C4E1-229A-4A11-81E3-1FD03D9CE89C}" destId="{861FBC39-E70E-49BE-883F-6F8298C55E29}" srcOrd="1" destOrd="0" presId="urn:microsoft.com/office/officeart/2005/8/layout/target3"/>
    <dgm:cxn modelId="{E1954EC8-EFFD-4B24-BBCF-A8468C069F76}" srcId="{DDA9E0F1-1FC6-4E89-A5EA-FAC6109126FF}" destId="{0A59C4E1-229A-4A11-81E3-1FD03D9CE89C}" srcOrd="0" destOrd="0" parTransId="{B8492EE5-C9FF-45E1-9FFA-0D6646D1863B}" sibTransId="{3B3A3434-718A-48D3-9621-5448B495C434}"/>
    <dgm:cxn modelId="{177117D8-FFFC-467E-9C25-E5696C542553}" type="presOf" srcId="{0A59C4E1-229A-4A11-81E3-1FD03D9CE89C}" destId="{DA469E58-C67B-4F87-A125-B2834C426DF2}" srcOrd="0" destOrd="0" presId="urn:microsoft.com/office/officeart/2005/8/layout/target3"/>
    <dgm:cxn modelId="{03EFA4E1-7501-4E1B-B066-1052577930D0}" type="presParOf" srcId="{5A5C672E-896C-41D2-9BC6-95E1E75BFFE9}" destId="{884B3461-7B51-4526-83CC-5DA9BD818D6E}" srcOrd="0" destOrd="0" presId="urn:microsoft.com/office/officeart/2005/8/layout/target3"/>
    <dgm:cxn modelId="{2773D385-01DA-4EC2-B86E-7CDC4A846C2E}" type="presParOf" srcId="{5A5C672E-896C-41D2-9BC6-95E1E75BFFE9}" destId="{B693FDB7-4029-451F-94C3-D847F2FC64B7}" srcOrd="1" destOrd="0" presId="urn:microsoft.com/office/officeart/2005/8/layout/target3"/>
    <dgm:cxn modelId="{05F40CA1-68F0-4112-B308-E8AD323E9C64}" type="presParOf" srcId="{5A5C672E-896C-41D2-9BC6-95E1E75BFFE9}" destId="{DA469E58-C67B-4F87-A125-B2834C426DF2}" srcOrd="2" destOrd="0" presId="urn:microsoft.com/office/officeart/2005/8/layout/target3"/>
    <dgm:cxn modelId="{10A49311-4E70-4D91-9BC6-68D96554028E}" type="presParOf" srcId="{5A5C672E-896C-41D2-9BC6-95E1E75BFFE9}" destId="{861FBC39-E70E-49BE-883F-6F8298C55E29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A9E0F1-1FC6-4E89-A5EA-FAC6109126FF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A59C4E1-229A-4A11-81E3-1FD03D9CE89C}">
      <dgm:prSet custT="1"/>
      <dgm:spPr/>
      <dgm:t>
        <a:bodyPr/>
        <a:lstStyle/>
        <a:p>
          <a:r>
            <a:rPr lang="fr-FR" sz="1200" b="0" i="0" dirty="0">
              <a:solidFill>
                <a:schemeClr val="bg2"/>
              </a:solidFill>
            </a:rPr>
            <a:t>Chaque bien se voit attribuer une valeur foncière estimée =&gt;Les valeurs prédites sont sommées pour chaque segment</a:t>
          </a:r>
          <a:r>
            <a:rPr lang="fr-FR" sz="1400" b="0" i="0" dirty="0">
              <a:solidFill>
                <a:schemeClr val="bg2"/>
              </a:solidFill>
            </a:rPr>
            <a:t>.</a:t>
          </a:r>
        </a:p>
      </dgm:t>
    </dgm:pt>
    <dgm:pt modelId="{B8492EE5-C9FF-45E1-9FFA-0D6646D1863B}" type="parTrans" cxnId="{E1954EC8-EFFD-4B24-BBCF-A8468C069F76}">
      <dgm:prSet/>
      <dgm:spPr/>
      <dgm:t>
        <a:bodyPr/>
        <a:lstStyle/>
        <a:p>
          <a:endParaRPr lang="fr-FR"/>
        </a:p>
      </dgm:t>
    </dgm:pt>
    <dgm:pt modelId="{3B3A3434-718A-48D3-9621-5448B495C434}" type="sibTrans" cxnId="{E1954EC8-EFFD-4B24-BBCF-A8468C069F76}">
      <dgm:prSet/>
      <dgm:spPr/>
      <dgm:t>
        <a:bodyPr/>
        <a:lstStyle/>
        <a:p>
          <a:endParaRPr lang="fr-FR"/>
        </a:p>
      </dgm:t>
    </dgm:pt>
    <dgm:pt modelId="{5A5C672E-896C-41D2-9BC6-95E1E75BFFE9}" type="pres">
      <dgm:prSet presAssocID="{DDA9E0F1-1FC6-4E89-A5EA-FAC6109126FF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84B3461-7B51-4526-83CC-5DA9BD818D6E}" type="pres">
      <dgm:prSet presAssocID="{0A59C4E1-229A-4A11-81E3-1FD03D9CE89C}" presName="circle1" presStyleLbl="node1" presStyleIdx="0" presStyleCnt="1" custFlipVert="1" custFlipHor="1" custScaleX="128351" custScaleY="91395" custLinFactX="533297" custLinFactNeighborX="600000" custLinFactNeighborY="3791"/>
      <dgm:spPr/>
    </dgm:pt>
    <dgm:pt modelId="{B693FDB7-4029-451F-94C3-D847F2FC64B7}" type="pres">
      <dgm:prSet presAssocID="{0A59C4E1-229A-4A11-81E3-1FD03D9CE89C}" presName="space" presStyleCnt="0"/>
      <dgm:spPr/>
    </dgm:pt>
    <dgm:pt modelId="{DA469E58-C67B-4F87-A125-B2834C426DF2}" type="pres">
      <dgm:prSet presAssocID="{0A59C4E1-229A-4A11-81E3-1FD03D9CE89C}" presName="rect1" presStyleLbl="alignAcc1" presStyleIdx="0" presStyleCnt="1" custScaleX="107279" custScaleY="100000" custLinFactNeighborX="-6333" custLinFactNeighborY="1420"/>
      <dgm:spPr/>
    </dgm:pt>
    <dgm:pt modelId="{861FBC39-E70E-49BE-883F-6F8298C55E29}" type="pres">
      <dgm:prSet presAssocID="{0A59C4E1-229A-4A11-81E3-1FD03D9CE89C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C806507E-4DA5-4D1B-B231-06EDFB3B7A89}" type="presOf" srcId="{DDA9E0F1-1FC6-4E89-A5EA-FAC6109126FF}" destId="{5A5C672E-896C-41D2-9BC6-95E1E75BFFE9}" srcOrd="0" destOrd="0" presId="urn:microsoft.com/office/officeart/2005/8/layout/target3"/>
    <dgm:cxn modelId="{C552218E-0EB7-4316-9E01-2785945B5F9C}" type="presOf" srcId="{0A59C4E1-229A-4A11-81E3-1FD03D9CE89C}" destId="{861FBC39-E70E-49BE-883F-6F8298C55E29}" srcOrd="1" destOrd="0" presId="urn:microsoft.com/office/officeart/2005/8/layout/target3"/>
    <dgm:cxn modelId="{E1954EC8-EFFD-4B24-BBCF-A8468C069F76}" srcId="{DDA9E0F1-1FC6-4E89-A5EA-FAC6109126FF}" destId="{0A59C4E1-229A-4A11-81E3-1FD03D9CE89C}" srcOrd="0" destOrd="0" parTransId="{B8492EE5-C9FF-45E1-9FFA-0D6646D1863B}" sibTransId="{3B3A3434-718A-48D3-9621-5448B495C434}"/>
    <dgm:cxn modelId="{177117D8-FFFC-467E-9C25-E5696C542553}" type="presOf" srcId="{0A59C4E1-229A-4A11-81E3-1FD03D9CE89C}" destId="{DA469E58-C67B-4F87-A125-B2834C426DF2}" srcOrd="0" destOrd="0" presId="urn:microsoft.com/office/officeart/2005/8/layout/target3"/>
    <dgm:cxn modelId="{03EFA4E1-7501-4E1B-B066-1052577930D0}" type="presParOf" srcId="{5A5C672E-896C-41D2-9BC6-95E1E75BFFE9}" destId="{884B3461-7B51-4526-83CC-5DA9BD818D6E}" srcOrd="0" destOrd="0" presId="urn:microsoft.com/office/officeart/2005/8/layout/target3"/>
    <dgm:cxn modelId="{2773D385-01DA-4EC2-B86E-7CDC4A846C2E}" type="presParOf" srcId="{5A5C672E-896C-41D2-9BC6-95E1E75BFFE9}" destId="{B693FDB7-4029-451F-94C3-D847F2FC64B7}" srcOrd="1" destOrd="0" presId="urn:microsoft.com/office/officeart/2005/8/layout/target3"/>
    <dgm:cxn modelId="{05F40CA1-68F0-4112-B308-E8AD323E9C64}" type="presParOf" srcId="{5A5C672E-896C-41D2-9BC6-95E1E75BFFE9}" destId="{DA469E58-C67B-4F87-A125-B2834C426DF2}" srcOrd="2" destOrd="0" presId="urn:microsoft.com/office/officeart/2005/8/layout/target3"/>
    <dgm:cxn modelId="{10A49311-4E70-4D91-9BC6-68D96554028E}" type="presParOf" srcId="{5A5C672E-896C-41D2-9BC6-95E1E75BFFE9}" destId="{861FBC39-E70E-49BE-883F-6F8298C55E29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50BF7F-AA51-4DD7-99B6-F600C10F2A96}" type="doc">
      <dgm:prSet loTypeId="urn:microsoft.com/office/officeart/2008/layout/VerticalCurvedList" loCatId="list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fr-FR"/>
        </a:p>
      </dgm:t>
    </dgm:pt>
    <dgm:pt modelId="{4466FC09-61B2-4EC3-BB49-EDA6E3745B81}">
      <dgm:prSet phldrT="[Texte]" custT="1"/>
      <dgm:spPr/>
      <dgm:t>
        <a:bodyPr/>
        <a:lstStyle/>
        <a:p>
          <a:r>
            <a:rPr lang="fr-FR" sz="1400" b="1" i="0" u="none" strike="noStrike" cap="none" dirty="0">
              <a:effectLst/>
              <a:latin typeface="+mj-lt"/>
              <a:ea typeface="Arial"/>
              <a:cs typeface="Arial"/>
              <a:sym typeface="Arial"/>
            </a:rPr>
            <a:t>Limites liées aux données :</a:t>
          </a:r>
          <a:endParaRPr lang="fr-FR" sz="1400" dirty="0">
            <a:latin typeface="+mj-lt"/>
          </a:endParaRPr>
        </a:p>
      </dgm:t>
    </dgm:pt>
    <dgm:pt modelId="{35011159-C061-4697-BEAB-69EED3317103}" type="parTrans" cxnId="{5D001478-7860-4824-AF30-316528257513}">
      <dgm:prSet/>
      <dgm:spPr/>
      <dgm:t>
        <a:bodyPr/>
        <a:lstStyle/>
        <a:p>
          <a:endParaRPr lang="fr-FR"/>
        </a:p>
      </dgm:t>
    </dgm:pt>
    <dgm:pt modelId="{9F235AE8-4097-4ECD-875C-8E254228C697}" type="sibTrans" cxnId="{5D001478-7860-4824-AF30-316528257513}">
      <dgm:prSet/>
      <dgm:spPr/>
      <dgm:t>
        <a:bodyPr/>
        <a:lstStyle/>
        <a:p>
          <a:endParaRPr lang="fr-FR"/>
        </a:p>
      </dgm:t>
    </dgm:pt>
    <dgm:pt modelId="{974E5264-DAC4-4C9D-9608-5DA5621C8F19}">
      <dgm:prSet phldrT="[Texte]" custT="1"/>
      <dgm:spPr/>
      <dgm:t>
        <a:bodyPr/>
        <a:lstStyle/>
        <a:p>
          <a:pPr>
            <a:buNone/>
          </a:pPr>
          <a:r>
            <a:rPr lang="fr-FR" sz="1200" dirty="0">
              <a:latin typeface="+mj-lt"/>
            </a:rPr>
            <a:t>Éléments non pris en compte :</a:t>
          </a:r>
          <a:r>
            <a:rPr lang="fr-FR" sz="1200" b="0" i="0" u="none" strike="noStrike" cap="none" dirty="0">
              <a:effectLst/>
              <a:latin typeface="+mj-lt"/>
              <a:ea typeface="Arial"/>
              <a:cs typeface="Arial"/>
              <a:sym typeface="Arial"/>
            </a:rPr>
            <a:t>que l’étage, l’état du bien, la vue, la proximité des transports, le standing, la luminosité ou le calme.</a:t>
          </a:r>
          <a:br>
            <a:rPr lang="fr-FR" sz="1200" b="0" i="0" u="none" strike="noStrike" cap="none" dirty="0">
              <a:effectLst/>
              <a:latin typeface="+mj-lt"/>
              <a:ea typeface="Arial"/>
              <a:cs typeface="Arial"/>
              <a:sym typeface="Arial"/>
            </a:rPr>
          </a:br>
          <a:endParaRPr lang="fr-FR" sz="1200" dirty="0">
            <a:latin typeface="+mj-lt"/>
          </a:endParaRPr>
        </a:p>
      </dgm:t>
    </dgm:pt>
    <dgm:pt modelId="{FE589B10-CF74-46F7-82F8-98E7527DF13B}" type="parTrans" cxnId="{33302A22-1F0D-4DED-B001-5B4E120B429A}">
      <dgm:prSet/>
      <dgm:spPr/>
      <dgm:t>
        <a:bodyPr/>
        <a:lstStyle/>
        <a:p>
          <a:endParaRPr lang="fr-FR"/>
        </a:p>
      </dgm:t>
    </dgm:pt>
    <dgm:pt modelId="{5AA71E83-08EC-4BC0-80D8-9688572C14C9}" type="sibTrans" cxnId="{33302A22-1F0D-4DED-B001-5B4E120B429A}">
      <dgm:prSet/>
      <dgm:spPr/>
      <dgm:t>
        <a:bodyPr/>
        <a:lstStyle/>
        <a:p>
          <a:endParaRPr lang="fr-FR"/>
        </a:p>
      </dgm:t>
    </dgm:pt>
    <dgm:pt modelId="{D589463C-7233-45D5-8D5A-BD714AE725D5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400" b="1" dirty="0"/>
            <a:t>Limites du modèle :</a:t>
          </a:r>
          <a:endParaRPr lang="fr-FR" sz="1400" dirty="0"/>
        </a:p>
        <a:p>
          <a:pPr>
            <a:buFont typeface="Arial" panose="020B0604020202020204" pitchFamily="34" charset="0"/>
            <a:buChar char="•"/>
          </a:pPr>
          <a:r>
            <a:rPr lang="fr-FR" sz="1200" dirty="0"/>
            <a:t>Le modelé ne capte pas les variations non linéaires </a:t>
          </a:r>
        </a:p>
        <a:p>
          <a:pPr>
            <a:buFont typeface="Arial" panose="020B0604020202020204" pitchFamily="34" charset="0"/>
            <a:buChar char="•"/>
          </a:pPr>
          <a:r>
            <a:rPr lang="fr-FR" sz="1200" dirty="0"/>
            <a:t>Des modèles plus avancés (Gradient </a:t>
          </a:r>
          <a:r>
            <a:rPr lang="fr-FR" sz="1200" dirty="0" err="1"/>
            <a:t>Boosting</a:t>
          </a:r>
          <a:r>
            <a:rPr lang="fr-FR" sz="1200" dirty="0"/>
            <a:t>, LSTM) plus précis sur le long terme </a:t>
          </a:r>
        </a:p>
      </dgm:t>
    </dgm:pt>
    <dgm:pt modelId="{18CE6937-2871-484D-9EC9-29EDB3AFDE74}" type="sibTrans" cxnId="{BD7E82FA-4E39-4914-A811-C168F530C7FF}">
      <dgm:prSet/>
      <dgm:spPr/>
      <dgm:t>
        <a:bodyPr/>
        <a:lstStyle/>
        <a:p>
          <a:endParaRPr lang="fr-FR"/>
        </a:p>
      </dgm:t>
    </dgm:pt>
    <dgm:pt modelId="{1D6D2CC9-64EB-4C1E-AFAD-9D52B73DFEB2}" type="parTrans" cxnId="{BD7E82FA-4E39-4914-A811-C168F530C7FF}">
      <dgm:prSet/>
      <dgm:spPr/>
      <dgm:t>
        <a:bodyPr/>
        <a:lstStyle/>
        <a:p>
          <a:endParaRPr lang="fr-FR"/>
        </a:p>
      </dgm:t>
    </dgm:pt>
    <dgm:pt modelId="{2BA67631-96A1-4271-81C5-6DFB5565651C}">
      <dgm:prSet phldrT="[Texte]" custT="1"/>
      <dgm:spPr/>
      <dgm:t>
        <a:bodyPr/>
        <a:lstStyle/>
        <a:p>
          <a:r>
            <a:rPr lang="fr-FR" sz="1400" b="1" i="0" u="none" strike="noStrike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Précautions à prendre </a:t>
          </a:r>
          <a:endParaRPr lang="fr-FR" sz="1400" dirty="0">
            <a:latin typeface="+mj-lt"/>
          </a:endParaRPr>
        </a:p>
      </dgm:t>
    </dgm:pt>
    <dgm:pt modelId="{97B9B1B5-4543-4B25-90FF-65B90C1EEB20}" type="sibTrans" cxnId="{6BE453E2-31E5-496D-9132-8A1C6D6CE02D}">
      <dgm:prSet/>
      <dgm:spPr/>
      <dgm:t>
        <a:bodyPr/>
        <a:lstStyle/>
        <a:p>
          <a:endParaRPr lang="fr-FR"/>
        </a:p>
      </dgm:t>
    </dgm:pt>
    <dgm:pt modelId="{3CB1DA1C-0D81-4FA8-9F34-E35ECD2A706F}" type="parTrans" cxnId="{6BE453E2-31E5-496D-9132-8A1C6D6CE02D}">
      <dgm:prSet/>
      <dgm:spPr/>
      <dgm:t>
        <a:bodyPr/>
        <a:lstStyle/>
        <a:p>
          <a:endParaRPr lang="fr-FR"/>
        </a:p>
      </dgm:t>
    </dgm:pt>
    <dgm:pt modelId="{91A356AB-77C5-48A5-A9E4-A3DD15E3737C}">
      <dgm:prSet phldrT="[Texte]"/>
      <dgm:spPr/>
      <dgm:t>
        <a:bodyPr/>
        <a:lstStyle/>
        <a:p>
          <a:r>
            <a:rPr lang="fr-FR" sz="1200" b="0" i="0" u="none" strike="noStrike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Ne pas généraliser ce modèle à d’autres contextes</a:t>
          </a:r>
          <a:endParaRPr lang="fr-FR" sz="1200" dirty="0">
            <a:latin typeface="+mj-lt"/>
          </a:endParaRPr>
        </a:p>
      </dgm:t>
    </dgm:pt>
    <dgm:pt modelId="{40B12FAA-26D2-4B35-A79D-4F11F5803A38}" type="sibTrans" cxnId="{5DC17555-8B4E-460C-8251-AD3871C29EC4}">
      <dgm:prSet/>
      <dgm:spPr/>
      <dgm:t>
        <a:bodyPr/>
        <a:lstStyle/>
        <a:p>
          <a:endParaRPr lang="fr-FR"/>
        </a:p>
      </dgm:t>
    </dgm:pt>
    <dgm:pt modelId="{2D5C82EC-C594-4ADF-ADE9-F780B7AE3BB5}" type="parTrans" cxnId="{5DC17555-8B4E-460C-8251-AD3871C29EC4}">
      <dgm:prSet/>
      <dgm:spPr/>
      <dgm:t>
        <a:bodyPr/>
        <a:lstStyle/>
        <a:p>
          <a:endParaRPr lang="fr-FR"/>
        </a:p>
      </dgm:t>
    </dgm:pt>
    <dgm:pt modelId="{6697A07B-537F-409A-B3A7-AF04E9B1CA82}">
      <dgm:prSet phldrT="[Texte]"/>
      <dgm:spPr/>
      <dgm:t>
        <a:bodyPr/>
        <a:lstStyle/>
        <a:p>
          <a:r>
            <a:rPr lang="fr-FR" sz="1200" b="0" i="0" u="none" strike="noStrike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Utiliser les résultats comme tendance et non comme certitude </a:t>
          </a:r>
          <a:endParaRPr lang="fr-FR" sz="1200" dirty="0">
            <a:latin typeface="+mj-lt"/>
          </a:endParaRPr>
        </a:p>
      </dgm:t>
    </dgm:pt>
    <dgm:pt modelId="{F706470B-95F0-4CF9-B2A3-3BA353DF0C28}" type="parTrans" cxnId="{3FDE0928-8510-4147-9F20-98CB85419647}">
      <dgm:prSet/>
      <dgm:spPr/>
      <dgm:t>
        <a:bodyPr/>
        <a:lstStyle/>
        <a:p>
          <a:endParaRPr lang="fr-FR"/>
        </a:p>
      </dgm:t>
    </dgm:pt>
    <dgm:pt modelId="{854233C5-A70E-41E7-9F5E-E6A6AEB50584}" type="sibTrans" cxnId="{3FDE0928-8510-4147-9F20-98CB85419647}">
      <dgm:prSet/>
      <dgm:spPr/>
      <dgm:t>
        <a:bodyPr/>
        <a:lstStyle/>
        <a:p>
          <a:endParaRPr lang="fr-FR"/>
        </a:p>
      </dgm:t>
    </dgm:pt>
    <dgm:pt modelId="{9E0C1A29-B80E-4D46-8324-2B63EFB81963}" type="pres">
      <dgm:prSet presAssocID="{4350BF7F-AA51-4DD7-99B6-F600C10F2A96}" presName="Name0" presStyleCnt="0">
        <dgm:presLayoutVars>
          <dgm:chMax val="7"/>
          <dgm:chPref val="7"/>
          <dgm:dir/>
        </dgm:presLayoutVars>
      </dgm:prSet>
      <dgm:spPr/>
    </dgm:pt>
    <dgm:pt modelId="{876001E5-8B7A-44BD-97E9-16A31EB08FFE}" type="pres">
      <dgm:prSet presAssocID="{4350BF7F-AA51-4DD7-99B6-F600C10F2A96}" presName="Name1" presStyleCnt="0"/>
      <dgm:spPr/>
    </dgm:pt>
    <dgm:pt modelId="{C1996085-BA66-48AF-BD30-AC62B6E5D6F9}" type="pres">
      <dgm:prSet presAssocID="{4350BF7F-AA51-4DD7-99B6-F600C10F2A96}" presName="cycle" presStyleCnt="0"/>
      <dgm:spPr/>
    </dgm:pt>
    <dgm:pt modelId="{216E55DA-BF13-4B83-ACD9-CDA0A885F7D9}" type="pres">
      <dgm:prSet presAssocID="{4350BF7F-AA51-4DD7-99B6-F600C10F2A96}" presName="srcNode" presStyleLbl="node1" presStyleIdx="0" presStyleCnt="3"/>
      <dgm:spPr/>
    </dgm:pt>
    <dgm:pt modelId="{028E9422-AF90-4A4D-9424-86D31E90D07F}" type="pres">
      <dgm:prSet presAssocID="{4350BF7F-AA51-4DD7-99B6-F600C10F2A96}" presName="conn" presStyleLbl="parChTrans1D2" presStyleIdx="0" presStyleCnt="1"/>
      <dgm:spPr/>
    </dgm:pt>
    <dgm:pt modelId="{C327EDB7-372C-4545-9CCD-700920D7EA27}" type="pres">
      <dgm:prSet presAssocID="{4350BF7F-AA51-4DD7-99B6-F600C10F2A96}" presName="extraNode" presStyleLbl="node1" presStyleIdx="0" presStyleCnt="3"/>
      <dgm:spPr/>
    </dgm:pt>
    <dgm:pt modelId="{4485EA2B-ED91-4C29-9A94-6CD07C7420BB}" type="pres">
      <dgm:prSet presAssocID="{4350BF7F-AA51-4DD7-99B6-F600C10F2A96}" presName="dstNode" presStyleLbl="node1" presStyleIdx="0" presStyleCnt="3"/>
      <dgm:spPr/>
    </dgm:pt>
    <dgm:pt modelId="{E76E98E9-2EFA-4718-AA3D-46CD005951D1}" type="pres">
      <dgm:prSet presAssocID="{4466FC09-61B2-4EC3-BB49-EDA6E3745B81}" presName="text_1" presStyleLbl="node1" presStyleIdx="0" presStyleCnt="3" custScaleY="108043">
        <dgm:presLayoutVars>
          <dgm:bulletEnabled val="1"/>
        </dgm:presLayoutVars>
      </dgm:prSet>
      <dgm:spPr/>
    </dgm:pt>
    <dgm:pt modelId="{5297A0F4-CFCE-483F-86AD-42E3C333A39E}" type="pres">
      <dgm:prSet presAssocID="{4466FC09-61B2-4EC3-BB49-EDA6E3745B81}" presName="accent_1" presStyleCnt="0"/>
      <dgm:spPr/>
    </dgm:pt>
    <dgm:pt modelId="{26B497F9-FC13-4152-9079-17E8CCF223D0}" type="pres">
      <dgm:prSet presAssocID="{4466FC09-61B2-4EC3-BB49-EDA6E3745B81}" presName="accentRepeatNode" presStyleLbl="solidFgAcc1" presStyleIdx="0" presStyleCnt="3"/>
      <dgm:spPr/>
    </dgm:pt>
    <dgm:pt modelId="{D24D57F2-6D45-4643-BE6F-C226D472664A}" type="pres">
      <dgm:prSet presAssocID="{D589463C-7233-45D5-8D5A-BD714AE725D5}" presName="text_2" presStyleLbl="node1" presStyleIdx="1" presStyleCnt="3">
        <dgm:presLayoutVars>
          <dgm:bulletEnabled val="1"/>
        </dgm:presLayoutVars>
      </dgm:prSet>
      <dgm:spPr/>
    </dgm:pt>
    <dgm:pt modelId="{EE5A8BB2-8BD6-44B0-BA74-836ACE181CBE}" type="pres">
      <dgm:prSet presAssocID="{D589463C-7233-45D5-8D5A-BD714AE725D5}" presName="accent_2" presStyleCnt="0"/>
      <dgm:spPr/>
    </dgm:pt>
    <dgm:pt modelId="{2F616A02-99C2-4DCB-88A9-37AAEDFF52E7}" type="pres">
      <dgm:prSet presAssocID="{D589463C-7233-45D5-8D5A-BD714AE725D5}" presName="accentRepeatNode" presStyleLbl="solidFgAcc1" presStyleIdx="1" presStyleCnt="3"/>
      <dgm:spPr/>
    </dgm:pt>
    <dgm:pt modelId="{F8ECB8AF-A928-45E2-8D02-41E870E71BF3}" type="pres">
      <dgm:prSet presAssocID="{2BA67631-96A1-4271-81C5-6DFB5565651C}" presName="text_3" presStyleLbl="node1" presStyleIdx="2" presStyleCnt="3">
        <dgm:presLayoutVars>
          <dgm:bulletEnabled val="1"/>
        </dgm:presLayoutVars>
      </dgm:prSet>
      <dgm:spPr/>
    </dgm:pt>
    <dgm:pt modelId="{48C7B81E-B026-42DF-92EA-98F52C3E0E58}" type="pres">
      <dgm:prSet presAssocID="{2BA67631-96A1-4271-81C5-6DFB5565651C}" presName="accent_3" presStyleCnt="0"/>
      <dgm:spPr/>
    </dgm:pt>
    <dgm:pt modelId="{266A4DE7-1CB2-4677-BEAA-95E44BFC67E0}" type="pres">
      <dgm:prSet presAssocID="{2BA67631-96A1-4271-81C5-6DFB5565651C}" presName="accentRepeatNode" presStyleLbl="solidFgAcc1" presStyleIdx="2" presStyleCnt="3"/>
      <dgm:spPr/>
    </dgm:pt>
  </dgm:ptLst>
  <dgm:cxnLst>
    <dgm:cxn modelId="{6AECCA00-D141-4F2C-97B4-C44CCE6C11BF}" type="presOf" srcId="{D589463C-7233-45D5-8D5A-BD714AE725D5}" destId="{D24D57F2-6D45-4643-BE6F-C226D472664A}" srcOrd="0" destOrd="0" presId="urn:microsoft.com/office/officeart/2008/layout/VerticalCurvedList"/>
    <dgm:cxn modelId="{33302A22-1F0D-4DED-B001-5B4E120B429A}" srcId="{4466FC09-61B2-4EC3-BB49-EDA6E3745B81}" destId="{974E5264-DAC4-4C9D-9608-5DA5621C8F19}" srcOrd="0" destOrd="0" parTransId="{FE589B10-CF74-46F7-82F8-98E7527DF13B}" sibTransId="{5AA71E83-08EC-4BC0-80D8-9688572C14C9}"/>
    <dgm:cxn modelId="{3FDE0928-8510-4147-9F20-98CB85419647}" srcId="{2BA67631-96A1-4271-81C5-6DFB5565651C}" destId="{6697A07B-537F-409A-B3A7-AF04E9B1CA82}" srcOrd="0" destOrd="0" parTransId="{F706470B-95F0-4CF9-B2A3-3BA353DF0C28}" sibTransId="{854233C5-A70E-41E7-9F5E-E6A6AEB50584}"/>
    <dgm:cxn modelId="{26F58830-DA8B-4898-9CE8-E3A73E35282B}" type="presOf" srcId="{2BA67631-96A1-4271-81C5-6DFB5565651C}" destId="{F8ECB8AF-A928-45E2-8D02-41E870E71BF3}" srcOrd="0" destOrd="0" presId="urn:microsoft.com/office/officeart/2008/layout/VerticalCurvedList"/>
    <dgm:cxn modelId="{CB482669-AF94-469A-8015-B598DA065455}" type="presOf" srcId="{6697A07B-537F-409A-B3A7-AF04E9B1CA82}" destId="{F8ECB8AF-A928-45E2-8D02-41E870E71BF3}" srcOrd="0" destOrd="1" presId="urn:microsoft.com/office/officeart/2008/layout/VerticalCurvedList"/>
    <dgm:cxn modelId="{66F20274-08F5-4A37-BF81-ED864CFCE730}" type="presOf" srcId="{5AA71E83-08EC-4BC0-80D8-9688572C14C9}" destId="{028E9422-AF90-4A4D-9424-86D31E90D07F}" srcOrd="0" destOrd="0" presId="urn:microsoft.com/office/officeart/2008/layout/VerticalCurvedList"/>
    <dgm:cxn modelId="{5DC17555-8B4E-460C-8251-AD3871C29EC4}" srcId="{2BA67631-96A1-4271-81C5-6DFB5565651C}" destId="{91A356AB-77C5-48A5-A9E4-A3DD15E3737C}" srcOrd="1" destOrd="0" parTransId="{2D5C82EC-C594-4ADF-ADE9-F780B7AE3BB5}" sibTransId="{40B12FAA-26D2-4B35-A79D-4F11F5803A38}"/>
    <dgm:cxn modelId="{5D001478-7860-4824-AF30-316528257513}" srcId="{4350BF7F-AA51-4DD7-99B6-F600C10F2A96}" destId="{4466FC09-61B2-4EC3-BB49-EDA6E3745B81}" srcOrd="0" destOrd="0" parTransId="{35011159-C061-4697-BEAB-69EED3317103}" sibTransId="{9F235AE8-4097-4ECD-875C-8E254228C697}"/>
    <dgm:cxn modelId="{C3DE3A81-89B9-439E-9B93-39439AFD3412}" type="presOf" srcId="{91A356AB-77C5-48A5-A9E4-A3DD15E3737C}" destId="{F8ECB8AF-A928-45E2-8D02-41E870E71BF3}" srcOrd="0" destOrd="2" presId="urn:microsoft.com/office/officeart/2008/layout/VerticalCurvedList"/>
    <dgm:cxn modelId="{CAFC4882-EBD9-40AE-9F58-8ED39DEA80B3}" type="presOf" srcId="{4466FC09-61B2-4EC3-BB49-EDA6E3745B81}" destId="{E76E98E9-2EFA-4718-AA3D-46CD005951D1}" srcOrd="0" destOrd="0" presId="urn:microsoft.com/office/officeart/2008/layout/VerticalCurvedList"/>
    <dgm:cxn modelId="{BD63E990-7BFD-456E-A92E-8A6E508D364D}" type="presOf" srcId="{4350BF7F-AA51-4DD7-99B6-F600C10F2A96}" destId="{9E0C1A29-B80E-4D46-8324-2B63EFB81963}" srcOrd="0" destOrd="0" presId="urn:microsoft.com/office/officeart/2008/layout/VerticalCurvedList"/>
    <dgm:cxn modelId="{4167EFB6-AEC9-4CA8-B67B-0D76DDB62C7C}" type="presOf" srcId="{974E5264-DAC4-4C9D-9608-5DA5621C8F19}" destId="{E76E98E9-2EFA-4718-AA3D-46CD005951D1}" srcOrd="0" destOrd="1" presId="urn:microsoft.com/office/officeart/2008/layout/VerticalCurvedList"/>
    <dgm:cxn modelId="{6BE453E2-31E5-496D-9132-8A1C6D6CE02D}" srcId="{4350BF7F-AA51-4DD7-99B6-F600C10F2A96}" destId="{2BA67631-96A1-4271-81C5-6DFB5565651C}" srcOrd="2" destOrd="0" parTransId="{3CB1DA1C-0D81-4FA8-9F34-E35ECD2A706F}" sibTransId="{97B9B1B5-4543-4B25-90FF-65B90C1EEB20}"/>
    <dgm:cxn modelId="{BD7E82FA-4E39-4914-A811-C168F530C7FF}" srcId="{4350BF7F-AA51-4DD7-99B6-F600C10F2A96}" destId="{D589463C-7233-45D5-8D5A-BD714AE725D5}" srcOrd="1" destOrd="0" parTransId="{1D6D2CC9-64EB-4C1E-AFAD-9D52B73DFEB2}" sibTransId="{18CE6937-2871-484D-9EC9-29EDB3AFDE74}"/>
    <dgm:cxn modelId="{515BBF7E-F1A9-47BF-87A2-DFF5AB49CC85}" type="presParOf" srcId="{9E0C1A29-B80E-4D46-8324-2B63EFB81963}" destId="{876001E5-8B7A-44BD-97E9-16A31EB08FFE}" srcOrd="0" destOrd="0" presId="urn:microsoft.com/office/officeart/2008/layout/VerticalCurvedList"/>
    <dgm:cxn modelId="{488AC6E1-6918-49C6-8DD6-5F3BCF2BB9FA}" type="presParOf" srcId="{876001E5-8B7A-44BD-97E9-16A31EB08FFE}" destId="{C1996085-BA66-48AF-BD30-AC62B6E5D6F9}" srcOrd="0" destOrd="0" presId="urn:microsoft.com/office/officeart/2008/layout/VerticalCurvedList"/>
    <dgm:cxn modelId="{3B53A15A-F3E6-4721-944B-AFA40AF8A3BA}" type="presParOf" srcId="{C1996085-BA66-48AF-BD30-AC62B6E5D6F9}" destId="{216E55DA-BF13-4B83-ACD9-CDA0A885F7D9}" srcOrd="0" destOrd="0" presId="urn:microsoft.com/office/officeart/2008/layout/VerticalCurvedList"/>
    <dgm:cxn modelId="{978A6D98-77AA-465F-97EF-77362C3A02F7}" type="presParOf" srcId="{C1996085-BA66-48AF-BD30-AC62B6E5D6F9}" destId="{028E9422-AF90-4A4D-9424-86D31E90D07F}" srcOrd="1" destOrd="0" presId="urn:microsoft.com/office/officeart/2008/layout/VerticalCurvedList"/>
    <dgm:cxn modelId="{F4CD9E52-4AD3-44DF-90C0-E2C5339A323E}" type="presParOf" srcId="{C1996085-BA66-48AF-BD30-AC62B6E5D6F9}" destId="{C327EDB7-372C-4545-9CCD-700920D7EA27}" srcOrd="2" destOrd="0" presId="urn:microsoft.com/office/officeart/2008/layout/VerticalCurvedList"/>
    <dgm:cxn modelId="{42D969C1-12D7-4E45-A70A-90AC87D9651F}" type="presParOf" srcId="{C1996085-BA66-48AF-BD30-AC62B6E5D6F9}" destId="{4485EA2B-ED91-4C29-9A94-6CD07C7420BB}" srcOrd="3" destOrd="0" presId="urn:microsoft.com/office/officeart/2008/layout/VerticalCurvedList"/>
    <dgm:cxn modelId="{490842F6-6CE1-4F31-97D1-73C3F41DD76A}" type="presParOf" srcId="{876001E5-8B7A-44BD-97E9-16A31EB08FFE}" destId="{E76E98E9-2EFA-4718-AA3D-46CD005951D1}" srcOrd="1" destOrd="0" presId="urn:microsoft.com/office/officeart/2008/layout/VerticalCurvedList"/>
    <dgm:cxn modelId="{31EBD6BF-2B3D-4734-A8B6-3DF9A5465698}" type="presParOf" srcId="{876001E5-8B7A-44BD-97E9-16A31EB08FFE}" destId="{5297A0F4-CFCE-483F-86AD-42E3C333A39E}" srcOrd="2" destOrd="0" presId="urn:microsoft.com/office/officeart/2008/layout/VerticalCurvedList"/>
    <dgm:cxn modelId="{81982179-52ED-48EE-8486-205726651C4F}" type="presParOf" srcId="{5297A0F4-CFCE-483F-86AD-42E3C333A39E}" destId="{26B497F9-FC13-4152-9079-17E8CCF223D0}" srcOrd="0" destOrd="0" presId="urn:microsoft.com/office/officeart/2008/layout/VerticalCurvedList"/>
    <dgm:cxn modelId="{974E8868-3E06-498C-B812-EA462CC8EA79}" type="presParOf" srcId="{876001E5-8B7A-44BD-97E9-16A31EB08FFE}" destId="{D24D57F2-6D45-4643-BE6F-C226D472664A}" srcOrd="3" destOrd="0" presId="urn:microsoft.com/office/officeart/2008/layout/VerticalCurvedList"/>
    <dgm:cxn modelId="{D742ABB0-5676-43D3-B4EF-D58E179707D3}" type="presParOf" srcId="{876001E5-8B7A-44BD-97E9-16A31EB08FFE}" destId="{EE5A8BB2-8BD6-44B0-BA74-836ACE181CBE}" srcOrd="4" destOrd="0" presId="urn:microsoft.com/office/officeart/2008/layout/VerticalCurvedList"/>
    <dgm:cxn modelId="{D6A23A1D-C035-4B3A-BAFF-FAA749959C85}" type="presParOf" srcId="{EE5A8BB2-8BD6-44B0-BA74-836ACE181CBE}" destId="{2F616A02-99C2-4DCB-88A9-37AAEDFF52E7}" srcOrd="0" destOrd="0" presId="urn:microsoft.com/office/officeart/2008/layout/VerticalCurvedList"/>
    <dgm:cxn modelId="{ABF83D90-8762-4D24-83D5-F9B95AE5C822}" type="presParOf" srcId="{876001E5-8B7A-44BD-97E9-16A31EB08FFE}" destId="{F8ECB8AF-A928-45E2-8D02-41E870E71BF3}" srcOrd="5" destOrd="0" presId="urn:microsoft.com/office/officeart/2008/layout/VerticalCurvedList"/>
    <dgm:cxn modelId="{3EC93082-510D-45A7-9287-F7DA5F01963C}" type="presParOf" srcId="{876001E5-8B7A-44BD-97E9-16A31EB08FFE}" destId="{48C7B81E-B026-42DF-92EA-98F52C3E0E58}" srcOrd="6" destOrd="0" presId="urn:microsoft.com/office/officeart/2008/layout/VerticalCurvedList"/>
    <dgm:cxn modelId="{FA448D82-252E-4236-B61C-423314E869B9}" type="presParOf" srcId="{48C7B81E-B026-42DF-92EA-98F52C3E0E58}" destId="{266A4DE7-1CB2-4677-BEAA-95E44BFC67E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350BF7F-AA51-4DD7-99B6-F600C10F2A96}" type="doc">
      <dgm:prSet loTypeId="urn:microsoft.com/office/officeart/2008/layout/VerticalCurvedList" loCatId="list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fr-FR"/>
        </a:p>
      </dgm:t>
    </dgm:pt>
    <dgm:pt modelId="{4466FC09-61B2-4EC3-BB49-EDA6E3745B81}">
      <dgm:prSet phldrT="[Texte]" custT="1"/>
      <dgm:spPr/>
      <dgm:t>
        <a:bodyPr/>
        <a:lstStyle/>
        <a:p>
          <a:r>
            <a:rPr lang="fr-FR" sz="1400" b="1" i="0" u="none" strike="noStrike" cap="none" dirty="0">
              <a:effectLst/>
              <a:latin typeface="+mj-lt"/>
              <a:ea typeface="Arial"/>
              <a:cs typeface="Arial"/>
              <a:sym typeface="Arial"/>
            </a:rPr>
            <a:t>Limites liées aux données :</a:t>
          </a:r>
          <a:endParaRPr lang="fr-FR" sz="1400" dirty="0">
            <a:latin typeface="+mj-lt"/>
          </a:endParaRPr>
        </a:p>
      </dgm:t>
    </dgm:pt>
    <dgm:pt modelId="{9F235AE8-4097-4ECD-875C-8E254228C697}" type="sibTrans" cxnId="{5D001478-7860-4824-AF30-316528257513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35011159-C061-4697-BEAB-69EED3317103}" type="parTrans" cxnId="{5D001478-7860-4824-AF30-316528257513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974E5264-DAC4-4C9D-9608-5DA5621C8F19}">
      <dgm:prSet phldrT="[Texte]" custT="1"/>
      <dgm:spPr/>
      <dgm:t>
        <a:bodyPr/>
        <a:lstStyle/>
        <a:p>
          <a:pPr>
            <a:buNone/>
          </a:pPr>
          <a:r>
            <a:rPr lang="fr-FR" sz="1200" b="0" i="0" dirty="0">
              <a:latin typeface="+mj-lt"/>
            </a:rPr>
            <a:t>La classification repose uniquement sur le prix au m²</a:t>
          </a:r>
          <a:endParaRPr lang="fr-FR" sz="1200" dirty="0">
            <a:latin typeface="+mj-lt"/>
          </a:endParaRPr>
        </a:p>
      </dgm:t>
    </dgm:pt>
    <dgm:pt modelId="{5AA71E83-08EC-4BC0-80D8-9688572C14C9}" type="sibTrans" cxnId="{33302A22-1F0D-4DED-B001-5B4E120B429A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FE589B10-CF74-46F7-82F8-98E7527DF13B}" type="parTrans" cxnId="{33302A22-1F0D-4DED-B001-5B4E120B429A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A3F9F91F-271E-4C6A-B71E-7B10020BE2E7}">
      <dgm:prSet phldrT="[Texte]" custT="1"/>
      <dgm:spPr/>
      <dgm:t>
        <a:bodyPr/>
        <a:lstStyle/>
        <a:p>
          <a:pPr>
            <a:buNone/>
          </a:pPr>
          <a:r>
            <a:rPr lang="fr-FR" sz="1200" b="0" i="0" dirty="0">
              <a:latin typeface="+mj-lt"/>
            </a:rPr>
            <a:t>spécifique au 19e arrondissement</a:t>
          </a:r>
          <a:endParaRPr lang="fr-FR" sz="1200" dirty="0">
            <a:latin typeface="+mj-lt"/>
          </a:endParaRPr>
        </a:p>
      </dgm:t>
    </dgm:pt>
    <dgm:pt modelId="{6D5B96EE-A47E-4F52-8ABA-BC0A7DBBC254}" type="sibTrans" cxnId="{0A7085D2-FC16-41E1-AF31-D0F95F43F801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EEF2500F-79C9-4C88-B991-E04CD0005753}" type="parTrans" cxnId="{0A7085D2-FC16-41E1-AF31-D0F95F43F801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D589463C-7233-45D5-8D5A-BD714AE725D5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400" b="1" i="0" u="none" strike="noStrike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Limite de l’algorithme K-</a:t>
          </a:r>
          <a:r>
            <a:rPr lang="fr-FR" sz="1400" b="1" i="0" u="none" strike="noStrike" cap="none" dirty="0" err="1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Means</a:t>
          </a:r>
          <a:r>
            <a:rPr lang="fr-FR" sz="1400" b="1" dirty="0">
              <a:latin typeface="+mj-lt"/>
            </a:rPr>
            <a:t>:</a:t>
          </a:r>
          <a:endParaRPr lang="fr-FR" sz="1400" dirty="0">
            <a:latin typeface="+mj-lt"/>
          </a:endParaRPr>
        </a:p>
        <a:p>
          <a:pPr>
            <a:buFont typeface="Arial" panose="020B0604020202020204" pitchFamily="34" charset="0"/>
            <a:buChar char="•"/>
          </a:pPr>
          <a:r>
            <a:rPr lang="fr-FR" sz="1200" b="0" i="0" u="none" strike="noStrike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Si les prix des deux types de biens se rapprochent à l’avenir, la séparation pourrait devenir moins nette</a:t>
          </a:r>
          <a:endParaRPr lang="fr-FR" sz="1200" dirty="0">
            <a:latin typeface="+mj-lt"/>
          </a:endParaRPr>
        </a:p>
      </dgm:t>
    </dgm:pt>
    <dgm:pt modelId="{18CE6937-2871-484D-9EC9-29EDB3AFDE74}" type="sibTrans" cxnId="{BD7E82FA-4E39-4914-A811-C168F530C7FF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1D6D2CC9-64EB-4C1E-AFAD-9D52B73DFEB2}" type="parTrans" cxnId="{BD7E82FA-4E39-4914-A811-C168F530C7FF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2BA67631-96A1-4271-81C5-6DFB5565651C}">
      <dgm:prSet phldrT="[Texte]" custT="1"/>
      <dgm:spPr/>
      <dgm:t>
        <a:bodyPr/>
        <a:lstStyle/>
        <a:p>
          <a:r>
            <a:rPr lang="fr-FR" sz="1400" b="1" i="0" u="none" strike="noStrike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Précautions à prendre </a:t>
          </a:r>
          <a:endParaRPr lang="fr-FR" sz="1400" dirty="0">
            <a:latin typeface="+mj-lt"/>
          </a:endParaRPr>
        </a:p>
      </dgm:t>
    </dgm:pt>
    <dgm:pt modelId="{97B9B1B5-4543-4B25-90FF-65B90C1EEB20}" type="sibTrans" cxnId="{6BE453E2-31E5-496D-9132-8A1C6D6CE02D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3CB1DA1C-0D81-4FA8-9F34-E35ECD2A706F}" type="parTrans" cxnId="{6BE453E2-31E5-496D-9132-8A1C6D6CE02D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6697A07B-537F-409A-B3A7-AF04E9B1CA82}">
      <dgm:prSet phldrT="[Texte]"/>
      <dgm:spPr/>
      <dgm:t>
        <a:bodyPr/>
        <a:lstStyle/>
        <a:p>
          <a:r>
            <a:rPr lang="fr-FR" sz="1200" dirty="0">
              <a:latin typeface="+mj-lt"/>
            </a:rPr>
            <a:t>Vérifier manuellement les cas douteux</a:t>
          </a:r>
        </a:p>
      </dgm:t>
    </dgm:pt>
    <dgm:pt modelId="{854233C5-A70E-41E7-9F5E-E6A6AEB50584}" type="sibTrans" cxnId="{3FDE0928-8510-4147-9F20-98CB85419647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F706470B-95F0-4CF9-B2A3-3BA353DF0C28}" type="parTrans" cxnId="{3FDE0928-8510-4147-9F20-98CB85419647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91A356AB-77C5-48A5-A9E4-A3DD15E3737C}">
      <dgm:prSet phldrT="[Texte]"/>
      <dgm:spPr/>
      <dgm:t>
        <a:bodyPr/>
        <a:lstStyle/>
        <a:p>
          <a:r>
            <a:rPr lang="fr-FR" sz="1200" dirty="0">
              <a:latin typeface="+mj-lt"/>
            </a:rPr>
            <a:t>Tester sur d’autres zones avant généralisation</a:t>
          </a:r>
        </a:p>
      </dgm:t>
    </dgm:pt>
    <dgm:pt modelId="{40B12FAA-26D2-4B35-A79D-4F11F5803A38}" type="sibTrans" cxnId="{5DC17555-8B4E-460C-8251-AD3871C29EC4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2D5C82EC-C594-4ADF-ADE9-F780B7AE3BB5}" type="parTrans" cxnId="{5DC17555-8B4E-460C-8251-AD3871C29EC4}">
      <dgm:prSet/>
      <dgm:spPr/>
      <dgm:t>
        <a:bodyPr/>
        <a:lstStyle/>
        <a:p>
          <a:endParaRPr lang="fr-FR">
            <a:latin typeface="+mj-lt"/>
          </a:endParaRPr>
        </a:p>
      </dgm:t>
    </dgm:pt>
    <dgm:pt modelId="{9E0C1A29-B80E-4D46-8324-2B63EFB81963}" type="pres">
      <dgm:prSet presAssocID="{4350BF7F-AA51-4DD7-99B6-F600C10F2A96}" presName="Name0" presStyleCnt="0">
        <dgm:presLayoutVars>
          <dgm:chMax val="7"/>
          <dgm:chPref val="7"/>
          <dgm:dir/>
        </dgm:presLayoutVars>
      </dgm:prSet>
      <dgm:spPr/>
    </dgm:pt>
    <dgm:pt modelId="{876001E5-8B7A-44BD-97E9-16A31EB08FFE}" type="pres">
      <dgm:prSet presAssocID="{4350BF7F-AA51-4DD7-99B6-F600C10F2A96}" presName="Name1" presStyleCnt="0"/>
      <dgm:spPr/>
    </dgm:pt>
    <dgm:pt modelId="{C1996085-BA66-48AF-BD30-AC62B6E5D6F9}" type="pres">
      <dgm:prSet presAssocID="{4350BF7F-AA51-4DD7-99B6-F600C10F2A96}" presName="cycle" presStyleCnt="0"/>
      <dgm:spPr/>
    </dgm:pt>
    <dgm:pt modelId="{216E55DA-BF13-4B83-ACD9-CDA0A885F7D9}" type="pres">
      <dgm:prSet presAssocID="{4350BF7F-AA51-4DD7-99B6-F600C10F2A96}" presName="srcNode" presStyleLbl="node1" presStyleIdx="0" presStyleCnt="3"/>
      <dgm:spPr/>
    </dgm:pt>
    <dgm:pt modelId="{028E9422-AF90-4A4D-9424-86D31E90D07F}" type="pres">
      <dgm:prSet presAssocID="{4350BF7F-AA51-4DD7-99B6-F600C10F2A96}" presName="conn" presStyleLbl="parChTrans1D2" presStyleIdx="0" presStyleCnt="1"/>
      <dgm:spPr/>
    </dgm:pt>
    <dgm:pt modelId="{C327EDB7-372C-4545-9CCD-700920D7EA27}" type="pres">
      <dgm:prSet presAssocID="{4350BF7F-AA51-4DD7-99B6-F600C10F2A96}" presName="extraNode" presStyleLbl="node1" presStyleIdx="0" presStyleCnt="3"/>
      <dgm:spPr/>
    </dgm:pt>
    <dgm:pt modelId="{4485EA2B-ED91-4C29-9A94-6CD07C7420BB}" type="pres">
      <dgm:prSet presAssocID="{4350BF7F-AA51-4DD7-99B6-F600C10F2A96}" presName="dstNode" presStyleLbl="node1" presStyleIdx="0" presStyleCnt="3"/>
      <dgm:spPr/>
    </dgm:pt>
    <dgm:pt modelId="{E76E98E9-2EFA-4718-AA3D-46CD005951D1}" type="pres">
      <dgm:prSet presAssocID="{4466FC09-61B2-4EC3-BB49-EDA6E3745B81}" presName="text_1" presStyleLbl="node1" presStyleIdx="0" presStyleCnt="3" custScaleY="108043">
        <dgm:presLayoutVars>
          <dgm:bulletEnabled val="1"/>
        </dgm:presLayoutVars>
      </dgm:prSet>
      <dgm:spPr/>
    </dgm:pt>
    <dgm:pt modelId="{5297A0F4-CFCE-483F-86AD-42E3C333A39E}" type="pres">
      <dgm:prSet presAssocID="{4466FC09-61B2-4EC3-BB49-EDA6E3745B81}" presName="accent_1" presStyleCnt="0"/>
      <dgm:spPr/>
    </dgm:pt>
    <dgm:pt modelId="{26B497F9-FC13-4152-9079-17E8CCF223D0}" type="pres">
      <dgm:prSet presAssocID="{4466FC09-61B2-4EC3-BB49-EDA6E3745B81}" presName="accentRepeatNode" presStyleLbl="solidFgAcc1" presStyleIdx="0" presStyleCnt="3"/>
      <dgm:spPr/>
    </dgm:pt>
    <dgm:pt modelId="{D24D57F2-6D45-4643-BE6F-C226D472664A}" type="pres">
      <dgm:prSet presAssocID="{D589463C-7233-45D5-8D5A-BD714AE725D5}" presName="text_2" presStyleLbl="node1" presStyleIdx="1" presStyleCnt="3">
        <dgm:presLayoutVars>
          <dgm:bulletEnabled val="1"/>
        </dgm:presLayoutVars>
      </dgm:prSet>
      <dgm:spPr/>
    </dgm:pt>
    <dgm:pt modelId="{EE5A8BB2-8BD6-44B0-BA74-836ACE181CBE}" type="pres">
      <dgm:prSet presAssocID="{D589463C-7233-45D5-8D5A-BD714AE725D5}" presName="accent_2" presStyleCnt="0"/>
      <dgm:spPr/>
    </dgm:pt>
    <dgm:pt modelId="{2F616A02-99C2-4DCB-88A9-37AAEDFF52E7}" type="pres">
      <dgm:prSet presAssocID="{D589463C-7233-45D5-8D5A-BD714AE725D5}" presName="accentRepeatNode" presStyleLbl="solidFgAcc1" presStyleIdx="1" presStyleCnt="3"/>
      <dgm:spPr/>
    </dgm:pt>
    <dgm:pt modelId="{F8ECB8AF-A928-45E2-8D02-41E870E71BF3}" type="pres">
      <dgm:prSet presAssocID="{2BA67631-96A1-4271-81C5-6DFB5565651C}" presName="text_3" presStyleLbl="node1" presStyleIdx="2" presStyleCnt="3">
        <dgm:presLayoutVars>
          <dgm:bulletEnabled val="1"/>
        </dgm:presLayoutVars>
      </dgm:prSet>
      <dgm:spPr/>
    </dgm:pt>
    <dgm:pt modelId="{48C7B81E-B026-42DF-92EA-98F52C3E0E58}" type="pres">
      <dgm:prSet presAssocID="{2BA67631-96A1-4271-81C5-6DFB5565651C}" presName="accent_3" presStyleCnt="0"/>
      <dgm:spPr/>
    </dgm:pt>
    <dgm:pt modelId="{266A4DE7-1CB2-4677-BEAA-95E44BFC67E0}" type="pres">
      <dgm:prSet presAssocID="{2BA67631-96A1-4271-81C5-6DFB5565651C}" presName="accentRepeatNode" presStyleLbl="solidFgAcc1" presStyleIdx="2" presStyleCnt="3"/>
      <dgm:spPr/>
    </dgm:pt>
  </dgm:ptLst>
  <dgm:cxnLst>
    <dgm:cxn modelId="{6AECCA00-D141-4F2C-97B4-C44CCE6C11BF}" type="presOf" srcId="{D589463C-7233-45D5-8D5A-BD714AE725D5}" destId="{D24D57F2-6D45-4643-BE6F-C226D472664A}" srcOrd="0" destOrd="0" presId="urn:microsoft.com/office/officeart/2008/layout/VerticalCurvedList"/>
    <dgm:cxn modelId="{33302A22-1F0D-4DED-B001-5B4E120B429A}" srcId="{4466FC09-61B2-4EC3-BB49-EDA6E3745B81}" destId="{974E5264-DAC4-4C9D-9608-5DA5621C8F19}" srcOrd="0" destOrd="0" parTransId="{FE589B10-CF74-46F7-82F8-98E7527DF13B}" sibTransId="{5AA71E83-08EC-4BC0-80D8-9688572C14C9}"/>
    <dgm:cxn modelId="{3FDE0928-8510-4147-9F20-98CB85419647}" srcId="{2BA67631-96A1-4271-81C5-6DFB5565651C}" destId="{6697A07B-537F-409A-B3A7-AF04E9B1CA82}" srcOrd="0" destOrd="0" parTransId="{F706470B-95F0-4CF9-B2A3-3BA353DF0C28}" sibTransId="{854233C5-A70E-41E7-9F5E-E6A6AEB50584}"/>
    <dgm:cxn modelId="{26F58830-DA8B-4898-9CE8-E3A73E35282B}" type="presOf" srcId="{2BA67631-96A1-4271-81C5-6DFB5565651C}" destId="{F8ECB8AF-A928-45E2-8D02-41E870E71BF3}" srcOrd="0" destOrd="0" presId="urn:microsoft.com/office/officeart/2008/layout/VerticalCurvedList"/>
    <dgm:cxn modelId="{CB482669-AF94-469A-8015-B598DA065455}" type="presOf" srcId="{6697A07B-537F-409A-B3A7-AF04E9B1CA82}" destId="{F8ECB8AF-A928-45E2-8D02-41E870E71BF3}" srcOrd="0" destOrd="1" presId="urn:microsoft.com/office/officeart/2008/layout/VerticalCurvedList"/>
    <dgm:cxn modelId="{2FA0BC73-2FFD-4800-9F4D-A215BF052FAE}" type="presOf" srcId="{A3F9F91F-271E-4C6A-B71E-7B10020BE2E7}" destId="{E76E98E9-2EFA-4718-AA3D-46CD005951D1}" srcOrd="0" destOrd="2" presId="urn:microsoft.com/office/officeart/2008/layout/VerticalCurvedList"/>
    <dgm:cxn modelId="{66F20274-08F5-4A37-BF81-ED864CFCE730}" type="presOf" srcId="{5AA71E83-08EC-4BC0-80D8-9688572C14C9}" destId="{028E9422-AF90-4A4D-9424-86D31E90D07F}" srcOrd="0" destOrd="0" presId="urn:microsoft.com/office/officeart/2008/layout/VerticalCurvedList"/>
    <dgm:cxn modelId="{5DC17555-8B4E-460C-8251-AD3871C29EC4}" srcId="{2BA67631-96A1-4271-81C5-6DFB5565651C}" destId="{91A356AB-77C5-48A5-A9E4-A3DD15E3737C}" srcOrd="1" destOrd="0" parTransId="{2D5C82EC-C594-4ADF-ADE9-F780B7AE3BB5}" sibTransId="{40B12FAA-26D2-4B35-A79D-4F11F5803A38}"/>
    <dgm:cxn modelId="{5D001478-7860-4824-AF30-316528257513}" srcId="{4350BF7F-AA51-4DD7-99B6-F600C10F2A96}" destId="{4466FC09-61B2-4EC3-BB49-EDA6E3745B81}" srcOrd="0" destOrd="0" parTransId="{35011159-C061-4697-BEAB-69EED3317103}" sibTransId="{9F235AE8-4097-4ECD-875C-8E254228C697}"/>
    <dgm:cxn modelId="{C3DE3A81-89B9-439E-9B93-39439AFD3412}" type="presOf" srcId="{91A356AB-77C5-48A5-A9E4-A3DD15E3737C}" destId="{F8ECB8AF-A928-45E2-8D02-41E870E71BF3}" srcOrd="0" destOrd="2" presId="urn:microsoft.com/office/officeart/2008/layout/VerticalCurvedList"/>
    <dgm:cxn modelId="{CAFC4882-EBD9-40AE-9F58-8ED39DEA80B3}" type="presOf" srcId="{4466FC09-61B2-4EC3-BB49-EDA6E3745B81}" destId="{E76E98E9-2EFA-4718-AA3D-46CD005951D1}" srcOrd="0" destOrd="0" presId="urn:microsoft.com/office/officeart/2008/layout/VerticalCurvedList"/>
    <dgm:cxn modelId="{BD63E990-7BFD-456E-A92E-8A6E508D364D}" type="presOf" srcId="{4350BF7F-AA51-4DD7-99B6-F600C10F2A96}" destId="{9E0C1A29-B80E-4D46-8324-2B63EFB81963}" srcOrd="0" destOrd="0" presId="urn:microsoft.com/office/officeart/2008/layout/VerticalCurvedList"/>
    <dgm:cxn modelId="{4167EFB6-AEC9-4CA8-B67B-0D76DDB62C7C}" type="presOf" srcId="{974E5264-DAC4-4C9D-9608-5DA5621C8F19}" destId="{E76E98E9-2EFA-4718-AA3D-46CD005951D1}" srcOrd="0" destOrd="1" presId="urn:microsoft.com/office/officeart/2008/layout/VerticalCurvedList"/>
    <dgm:cxn modelId="{0A7085D2-FC16-41E1-AF31-D0F95F43F801}" srcId="{4466FC09-61B2-4EC3-BB49-EDA6E3745B81}" destId="{A3F9F91F-271E-4C6A-B71E-7B10020BE2E7}" srcOrd="1" destOrd="0" parTransId="{EEF2500F-79C9-4C88-B991-E04CD0005753}" sibTransId="{6D5B96EE-A47E-4F52-8ABA-BC0A7DBBC254}"/>
    <dgm:cxn modelId="{6BE453E2-31E5-496D-9132-8A1C6D6CE02D}" srcId="{4350BF7F-AA51-4DD7-99B6-F600C10F2A96}" destId="{2BA67631-96A1-4271-81C5-6DFB5565651C}" srcOrd="2" destOrd="0" parTransId="{3CB1DA1C-0D81-4FA8-9F34-E35ECD2A706F}" sibTransId="{97B9B1B5-4543-4B25-90FF-65B90C1EEB20}"/>
    <dgm:cxn modelId="{BD7E82FA-4E39-4914-A811-C168F530C7FF}" srcId="{4350BF7F-AA51-4DD7-99B6-F600C10F2A96}" destId="{D589463C-7233-45D5-8D5A-BD714AE725D5}" srcOrd="1" destOrd="0" parTransId="{1D6D2CC9-64EB-4C1E-AFAD-9D52B73DFEB2}" sibTransId="{18CE6937-2871-484D-9EC9-29EDB3AFDE74}"/>
    <dgm:cxn modelId="{515BBF7E-F1A9-47BF-87A2-DFF5AB49CC85}" type="presParOf" srcId="{9E0C1A29-B80E-4D46-8324-2B63EFB81963}" destId="{876001E5-8B7A-44BD-97E9-16A31EB08FFE}" srcOrd="0" destOrd="0" presId="urn:microsoft.com/office/officeart/2008/layout/VerticalCurvedList"/>
    <dgm:cxn modelId="{488AC6E1-6918-49C6-8DD6-5F3BCF2BB9FA}" type="presParOf" srcId="{876001E5-8B7A-44BD-97E9-16A31EB08FFE}" destId="{C1996085-BA66-48AF-BD30-AC62B6E5D6F9}" srcOrd="0" destOrd="0" presId="urn:microsoft.com/office/officeart/2008/layout/VerticalCurvedList"/>
    <dgm:cxn modelId="{3B53A15A-F3E6-4721-944B-AFA40AF8A3BA}" type="presParOf" srcId="{C1996085-BA66-48AF-BD30-AC62B6E5D6F9}" destId="{216E55DA-BF13-4B83-ACD9-CDA0A885F7D9}" srcOrd="0" destOrd="0" presId="urn:microsoft.com/office/officeart/2008/layout/VerticalCurvedList"/>
    <dgm:cxn modelId="{978A6D98-77AA-465F-97EF-77362C3A02F7}" type="presParOf" srcId="{C1996085-BA66-48AF-BD30-AC62B6E5D6F9}" destId="{028E9422-AF90-4A4D-9424-86D31E90D07F}" srcOrd="1" destOrd="0" presId="urn:microsoft.com/office/officeart/2008/layout/VerticalCurvedList"/>
    <dgm:cxn modelId="{F4CD9E52-4AD3-44DF-90C0-E2C5339A323E}" type="presParOf" srcId="{C1996085-BA66-48AF-BD30-AC62B6E5D6F9}" destId="{C327EDB7-372C-4545-9CCD-700920D7EA27}" srcOrd="2" destOrd="0" presId="urn:microsoft.com/office/officeart/2008/layout/VerticalCurvedList"/>
    <dgm:cxn modelId="{42D969C1-12D7-4E45-A70A-90AC87D9651F}" type="presParOf" srcId="{C1996085-BA66-48AF-BD30-AC62B6E5D6F9}" destId="{4485EA2B-ED91-4C29-9A94-6CD07C7420BB}" srcOrd="3" destOrd="0" presId="urn:microsoft.com/office/officeart/2008/layout/VerticalCurvedList"/>
    <dgm:cxn modelId="{490842F6-6CE1-4F31-97D1-73C3F41DD76A}" type="presParOf" srcId="{876001E5-8B7A-44BD-97E9-16A31EB08FFE}" destId="{E76E98E9-2EFA-4718-AA3D-46CD005951D1}" srcOrd="1" destOrd="0" presId="urn:microsoft.com/office/officeart/2008/layout/VerticalCurvedList"/>
    <dgm:cxn modelId="{31EBD6BF-2B3D-4734-A8B6-3DF9A5465698}" type="presParOf" srcId="{876001E5-8B7A-44BD-97E9-16A31EB08FFE}" destId="{5297A0F4-CFCE-483F-86AD-42E3C333A39E}" srcOrd="2" destOrd="0" presId="urn:microsoft.com/office/officeart/2008/layout/VerticalCurvedList"/>
    <dgm:cxn modelId="{81982179-52ED-48EE-8486-205726651C4F}" type="presParOf" srcId="{5297A0F4-CFCE-483F-86AD-42E3C333A39E}" destId="{26B497F9-FC13-4152-9079-17E8CCF223D0}" srcOrd="0" destOrd="0" presId="urn:microsoft.com/office/officeart/2008/layout/VerticalCurvedList"/>
    <dgm:cxn modelId="{974E8868-3E06-498C-B812-EA462CC8EA79}" type="presParOf" srcId="{876001E5-8B7A-44BD-97E9-16A31EB08FFE}" destId="{D24D57F2-6D45-4643-BE6F-C226D472664A}" srcOrd="3" destOrd="0" presId="urn:microsoft.com/office/officeart/2008/layout/VerticalCurvedList"/>
    <dgm:cxn modelId="{D742ABB0-5676-43D3-B4EF-D58E179707D3}" type="presParOf" srcId="{876001E5-8B7A-44BD-97E9-16A31EB08FFE}" destId="{EE5A8BB2-8BD6-44B0-BA74-836ACE181CBE}" srcOrd="4" destOrd="0" presId="urn:microsoft.com/office/officeart/2008/layout/VerticalCurvedList"/>
    <dgm:cxn modelId="{D6A23A1D-C035-4B3A-BAFF-FAA749959C85}" type="presParOf" srcId="{EE5A8BB2-8BD6-44B0-BA74-836ACE181CBE}" destId="{2F616A02-99C2-4DCB-88A9-37AAEDFF52E7}" srcOrd="0" destOrd="0" presId="urn:microsoft.com/office/officeart/2008/layout/VerticalCurvedList"/>
    <dgm:cxn modelId="{ABF83D90-8762-4D24-83D5-F9B95AE5C822}" type="presParOf" srcId="{876001E5-8B7A-44BD-97E9-16A31EB08FFE}" destId="{F8ECB8AF-A928-45E2-8D02-41E870E71BF3}" srcOrd="5" destOrd="0" presId="urn:microsoft.com/office/officeart/2008/layout/VerticalCurvedList"/>
    <dgm:cxn modelId="{3EC93082-510D-45A7-9287-F7DA5F01963C}" type="presParOf" srcId="{876001E5-8B7A-44BD-97E9-16A31EB08FFE}" destId="{48C7B81E-B026-42DF-92EA-98F52C3E0E58}" srcOrd="6" destOrd="0" presId="urn:microsoft.com/office/officeart/2008/layout/VerticalCurvedList"/>
    <dgm:cxn modelId="{FA448D82-252E-4236-B61C-423314E869B9}" type="presParOf" srcId="{48C7B81E-B026-42DF-92EA-98F52C3E0E58}" destId="{266A4DE7-1CB2-4677-BEAA-95E44BFC67E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462F027-B90B-4CFD-9D70-26C06D557DB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A92E59D-B056-41A3-90C4-0EE9505FE417}">
      <dgm:prSet custT="1"/>
      <dgm:spPr/>
      <dgm:t>
        <a:bodyPr/>
        <a:lstStyle/>
        <a:p>
          <a:r>
            <a:rPr lang="fr-FR" sz="1600" b="0" i="0">
              <a:solidFill>
                <a:schemeClr val="bg2"/>
              </a:solidFill>
            </a:rPr>
            <a:t>Nous avons d’abord analysé l’évolution des prix de l’immobilier à Paris et construit un modèle de prédiction pour estimer la valeur du portefeuille. Cela nous a aidés à formuler une recommandation de vente.</a:t>
          </a:r>
          <a:endParaRPr lang="fr-FR" sz="1600">
            <a:solidFill>
              <a:schemeClr val="bg2"/>
            </a:solidFill>
          </a:endParaRPr>
        </a:p>
      </dgm:t>
    </dgm:pt>
    <dgm:pt modelId="{8653A729-EF9C-4A83-BECD-A1B6BEBEEAC6}" type="parTrans" cxnId="{03F9BE0C-656B-496E-B4E1-2C707E1F5963}">
      <dgm:prSet/>
      <dgm:spPr/>
      <dgm:t>
        <a:bodyPr/>
        <a:lstStyle/>
        <a:p>
          <a:endParaRPr lang="fr-FR" sz="1600">
            <a:solidFill>
              <a:schemeClr val="bg2"/>
            </a:solidFill>
          </a:endParaRPr>
        </a:p>
      </dgm:t>
    </dgm:pt>
    <dgm:pt modelId="{9074B677-06AD-4285-A0F3-63C60795E69C}" type="sibTrans" cxnId="{03F9BE0C-656B-496E-B4E1-2C707E1F5963}">
      <dgm:prSet/>
      <dgm:spPr/>
      <dgm:t>
        <a:bodyPr/>
        <a:lstStyle/>
        <a:p>
          <a:endParaRPr lang="fr-FR" sz="1600">
            <a:solidFill>
              <a:schemeClr val="bg2"/>
            </a:solidFill>
          </a:endParaRPr>
        </a:p>
      </dgm:t>
    </dgm:pt>
    <dgm:pt modelId="{831C4046-392F-4155-8FC9-F741A2F42FA0}">
      <dgm:prSet custT="1"/>
      <dgm:spPr/>
      <dgm:t>
        <a:bodyPr/>
        <a:lstStyle/>
        <a:p>
          <a:r>
            <a:rPr lang="fr-FR" sz="1600" b="0" i="0" dirty="0">
              <a:solidFill>
                <a:schemeClr val="bg2"/>
              </a:solidFill>
            </a:rPr>
            <a:t>Dans un second temps, nous avons utilisé le clustering pour classer automatiquement les biens, ce qui simplifie le travail des équipes.</a:t>
          </a:r>
          <a:endParaRPr lang="fr-FR" sz="1600" dirty="0">
            <a:solidFill>
              <a:schemeClr val="bg2"/>
            </a:solidFill>
          </a:endParaRPr>
        </a:p>
      </dgm:t>
    </dgm:pt>
    <dgm:pt modelId="{A1A0920E-1717-4693-B992-3BD833F7E132}" type="parTrans" cxnId="{C512B679-74C6-448C-B6EB-57E9142CBD53}">
      <dgm:prSet/>
      <dgm:spPr/>
      <dgm:t>
        <a:bodyPr/>
        <a:lstStyle/>
        <a:p>
          <a:endParaRPr lang="fr-FR" sz="1600">
            <a:solidFill>
              <a:schemeClr val="bg2"/>
            </a:solidFill>
          </a:endParaRPr>
        </a:p>
      </dgm:t>
    </dgm:pt>
    <dgm:pt modelId="{F8FB130A-A9CB-448B-B195-C3AC5823314B}" type="sibTrans" cxnId="{C512B679-74C6-448C-B6EB-57E9142CBD53}">
      <dgm:prSet/>
      <dgm:spPr/>
      <dgm:t>
        <a:bodyPr/>
        <a:lstStyle/>
        <a:p>
          <a:endParaRPr lang="fr-FR" sz="1600">
            <a:solidFill>
              <a:schemeClr val="bg2"/>
            </a:solidFill>
          </a:endParaRPr>
        </a:p>
      </dgm:t>
    </dgm:pt>
    <dgm:pt modelId="{31A4BBA9-B755-45DD-A380-D3C90FBF176D}">
      <dgm:prSet custT="1"/>
      <dgm:spPr/>
      <dgm:t>
        <a:bodyPr/>
        <a:lstStyle/>
        <a:p>
          <a:r>
            <a:rPr lang="fr-FR" sz="1600" b="0" i="0" dirty="0">
              <a:solidFill>
                <a:schemeClr val="bg2"/>
              </a:solidFill>
            </a:rPr>
            <a:t>Ces approches permettent ainsi d’améliorer à la fois la prise de décision stratégique et l’efficacité opérationnelle</a:t>
          </a:r>
          <a:endParaRPr lang="fr-FR" sz="1600" dirty="0">
            <a:solidFill>
              <a:schemeClr val="bg2"/>
            </a:solidFill>
          </a:endParaRPr>
        </a:p>
      </dgm:t>
    </dgm:pt>
    <dgm:pt modelId="{7CE0AE0B-1496-49F8-8539-A08BFF973766}" type="parTrans" cxnId="{260B218F-F9C3-41A7-9C52-7DED4CD8BD26}">
      <dgm:prSet/>
      <dgm:spPr/>
      <dgm:t>
        <a:bodyPr/>
        <a:lstStyle/>
        <a:p>
          <a:endParaRPr lang="fr-FR" sz="1600">
            <a:solidFill>
              <a:schemeClr val="bg2"/>
            </a:solidFill>
          </a:endParaRPr>
        </a:p>
      </dgm:t>
    </dgm:pt>
    <dgm:pt modelId="{50360735-BDAE-42F9-8432-C79799819807}" type="sibTrans" cxnId="{260B218F-F9C3-41A7-9C52-7DED4CD8BD26}">
      <dgm:prSet/>
      <dgm:spPr/>
      <dgm:t>
        <a:bodyPr/>
        <a:lstStyle/>
        <a:p>
          <a:endParaRPr lang="fr-FR" sz="1600">
            <a:solidFill>
              <a:schemeClr val="bg2"/>
            </a:solidFill>
          </a:endParaRPr>
        </a:p>
      </dgm:t>
    </dgm:pt>
    <dgm:pt modelId="{DB7DF9B2-F504-49C3-AA99-E80948ED5180}" type="pres">
      <dgm:prSet presAssocID="{4462F027-B90B-4CFD-9D70-26C06D557DBE}" presName="vert0" presStyleCnt="0">
        <dgm:presLayoutVars>
          <dgm:dir/>
          <dgm:animOne val="branch"/>
          <dgm:animLvl val="lvl"/>
        </dgm:presLayoutVars>
      </dgm:prSet>
      <dgm:spPr/>
    </dgm:pt>
    <dgm:pt modelId="{C4F58414-648B-48C5-BF8E-9F52A4ACC1CE}" type="pres">
      <dgm:prSet presAssocID="{DA92E59D-B056-41A3-90C4-0EE9505FE417}" presName="thickLine" presStyleLbl="alignNode1" presStyleIdx="0" presStyleCnt="3"/>
      <dgm:spPr/>
    </dgm:pt>
    <dgm:pt modelId="{70443FE6-B400-49FE-A5BF-00101584F8D7}" type="pres">
      <dgm:prSet presAssocID="{DA92E59D-B056-41A3-90C4-0EE9505FE417}" presName="horz1" presStyleCnt="0"/>
      <dgm:spPr/>
    </dgm:pt>
    <dgm:pt modelId="{387EA719-F808-4176-B9C7-B57487C29CF6}" type="pres">
      <dgm:prSet presAssocID="{DA92E59D-B056-41A3-90C4-0EE9505FE417}" presName="tx1" presStyleLbl="revTx" presStyleIdx="0" presStyleCnt="3"/>
      <dgm:spPr/>
    </dgm:pt>
    <dgm:pt modelId="{9D5F4012-2669-4ABA-AD17-C428008E2CE4}" type="pres">
      <dgm:prSet presAssocID="{DA92E59D-B056-41A3-90C4-0EE9505FE417}" presName="vert1" presStyleCnt="0"/>
      <dgm:spPr/>
    </dgm:pt>
    <dgm:pt modelId="{DCF36F4A-D9AA-4B67-BBF5-281B5D903C51}" type="pres">
      <dgm:prSet presAssocID="{831C4046-392F-4155-8FC9-F741A2F42FA0}" presName="thickLine" presStyleLbl="alignNode1" presStyleIdx="1" presStyleCnt="3"/>
      <dgm:spPr/>
    </dgm:pt>
    <dgm:pt modelId="{8C9EA89A-E98B-4A42-961B-66DB0C3BCCDE}" type="pres">
      <dgm:prSet presAssocID="{831C4046-392F-4155-8FC9-F741A2F42FA0}" presName="horz1" presStyleCnt="0"/>
      <dgm:spPr/>
    </dgm:pt>
    <dgm:pt modelId="{AEADF721-B49D-4777-A3D0-A071A25CC4BE}" type="pres">
      <dgm:prSet presAssocID="{831C4046-392F-4155-8FC9-F741A2F42FA0}" presName="tx1" presStyleLbl="revTx" presStyleIdx="1" presStyleCnt="3"/>
      <dgm:spPr/>
    </dgm:pt>
    <dgm:pt modelId="{013E9834-6A72-4E05-8887-EDC23C9AD878}" type="pres">
      <dgm:prSet presAssocID="{831C4046-392F-4155-8FC9-F741A2F42FA0}" presName="vert1" presStyleCnt="0"/>
      <dgm:spPr/>
    </dgm:pt>
    <dgm:pt modelId="{05876A9E-C97B-4E08-BAA2-419CCB8B79A5}" type="pres">
      <dgm:prSet presAssocID="{31A4BBA9-B755-45DD-A380-D3C90FBF176D}" presName="thickLine" presStyleLbl="alignNode1" presStyleIdx="2" presStyleCnt="3"/>
      <dgm:spPr/>
    </dgm:pt>
    <dgm:pt modelId="{3BC8811F-41F4-45EE-8B42-92B4926B96B2}" type="pres">
      <dgm:prSet presAssocID="{31A4BBA9-B755-45DD-A380-D3C90FBF176D}" presName="horz1" presStyleCnt="0"/>
      <dgm:spPr/>
    </dgm:pt>
    <dgm:pt modelId="{21DED70A-2925-4CD4-A344-C3D118886576}" type="pres">
      <dgm:prSet presAssocID="{31A4BBA9-B755-45DD-A380-D3C90FBF176D}" presName="tx1" presStyleLbl="revTx" presStyleIdx="2" presStyleCnt="3"/>
      <dgm:spPr/>
    </dgm:pt>
    <dgm:pt modelId="{BDFA4F32-6AB3-40BE-8046-B9475C1EEAA7}" type="pres">
      <dgm:prSet presAssocID="{31A4BBA9-B755-45DD-A380-D3C90FBF176D}" presName="vert1" presStyleCnt="0"/>
      <dgm:spPr/>
    </dgm:pt>
  </dgm:ptLst>
  <dgm:cxnLst>
    <dgm:cxn modelId="{03F9BE0C-656B-496E-B4E1-2C707E1F5963}" srcId="{4462F027-B90B-4CFD-9D70-26C06D557DBE}" destId="{DA92E59D-B056-41A3-90C4-0EE9505FE417}" srcOrd="0" destOrd="0" parTransId="{8653A729-EF9C-4A83-BECD-A1B6BEBEEAC6}" sibTransId="{9074B677-06AD-4285-A0F3-63C60795E69C}"/>
    <dgm:cxn modelId="{E1A56543-C6C0-4CF5-A021-744F8E495118}" type="presOf" srcId="{DA92E59D-B056-41A3-90C4-0EE9505FE417}" destId="{387EA719-F808-4176-B9C7-B57487C29CF6}" srcOrd="0" destOrd="0" presId="urn:microsoft.com/office/officeart/2008/layout/LinedList"/>
    <dgm:cxn modelId="{C512B679-74C6-448C-B6EB-57E9142CBD53}" srcId="{4462F027-B90B-4CFD-9D70-26C06D557DBE}" destId="{831C4046-392F-4155-8FC9-F741A2F42FA0}" srcOrd="1" destOrd="0" parTransId="{A1A0920E-1717-4693-B992-3BD833F7E132}" sibTransId="{F8FB130A-A9CB-448B-B195-C3AC5823314B}"/>
    <dgm:cxn modelId="{260B218F-F9C3-41A7-9C52-7DED4CD8BD26}" srcId="{4462F027-B90B-4CFD-9D70-26C06D557DBE}" destId="{31A4BBA9-B755-45DD-A380-D3C90FBF176D}" srcOrd="2" destOrd="0" parTransId="{7CE0AE0B-1496-49F8-8539-A08BFF973766}" sibTransId="{50360735-BDAE-42F9-8432-C79799819807}"/>
    <dgm:cxn modelId="{BFC09A92-F54F-49D0-B977-49C1E9CCDB32}" type="presOf" srcId="{4462F027-B90B-4CFD-9D70-26C06D557DBE}" destId="{DB7DF9B2-F504-49C3-AA99-E80948ED5180}" srcOrd="0" destOrd="0" presId="urn:microsoft.com/office/officeart/2008/layout/LinedList"/>
    <dgm:cxn modelId="{00F3D6C0-F9F4-4208-925F-7D7F1C068F26}" type="presOf" srcId="{831C4046-392F-4155-8FC9-F741A2F42FA0}" destId="{AEADF721-B49D-4777-A3D0-A071A25CC4BE}" srcOrd="0" destOrd="0" presId="urn:microsoft.com/office/officeart/2008/layout/LinedList"/>
    <dgm:cxn modelId="{12714DCD-F3A9-401F-91C0-A49F35B6812C}" type="presOf" srcId="{31A4BBA9-B755-45DD-A380-D3C90FBF176D}" destId="{21DED70A-2925-4CD4-A344-C3D118886576}" srcOrd="0" destOrd="0" presId="urn:microsoft.com/office/officeart/2008/layout/LinedList"/>
    <dgm:cxn modelId="{D5C698A4-329D-47DE-84A4-90B6B548D849}" type="presParOf" srcId="{DB7DF9B2-F504-49C3-AA99-E80948ED5180}" destId="{C4F58414-648B-48C5-BF8E-9F52A4ACC1CE}" srcOrd="0" destOrd="0" presId="urn:microsoft.com/office/officeart/2008/layout/LinedList"/>
    <dgm:cxn modelId="{CD43502A-5EDE-41A7-9B69-7650470F9E70}" type="presParOf" srcId="{DB7DF9B2-F504-49C3-AA99-E80948ED5180}" destId="{70443FE6-B400-49FE-A5BF-00101584F8D7}" srcOrd="1" destOrd="0" presId="urn:microsoft.com/office/officeart/2008/layout/LinedList"/>
    <dgm:cxn modelId="{004BFB2B-4AB4-4222-8689-E196E50F750A}" type="presParOf" srcId="{70443FE6-B400-49FE-A5BF-00101584F8D7}" destId="{387EA719-F808-4176-B9C7-B57487C29CF6}" srcOrd="0" destOrd="0" presId="urn:microsoft.com/office/officeart/2008/layout/LinedList"/>
    <dgm:cxn modelId="{0CF7A418-FB28-4352-8158-A01439D48DD3}" type="presParOf" srcId="{70443FE6-B400-49FE-A5BF-00101584F8D7}" destId="{9D5F4012-2669-4ABA-AD17-C428008E2CE4}" srcOrd="1" destOrd="0" presId="urn:microsoft.com/office/officeart/2008/layout/LinedList"/>
    <dgm:cxn modelId="{C5EC4F0F-200D-4865-8653-35ED6A42787A}" type="presParOf" srcId="{DB7DF9B2-F504-49C3-AA99-E80948ED5180}" destId="{DCF36F4A-D9AA-4B67-BBF5-281B5D903C51}" srcOrd="2" destOrd="0" presId="urn:microsoft.com/office/officeart/2008/layout/LinedList"/>
    <dgm:cxn modelId="{48F6E2A3-4898-422C-98AD-E9F5BC87C280}" type="presParOf" srcId="{DB7DF9B2-F504-49C3-AA99-E80948ED5180}" destId="{8C9EA89A-E98B-4A42-961B-66DB0C3BCCDE}" srcOrd="3" destOrd="0" presId="urn:microsoft.com/office/officeart/2008/layout/LinedList"/>
    <dgm:cxn modelId="{6B0C50AD-F91C-46C8-9C7D-0A5DCDCF13C0}" type="presParOf" srcId="{8C9EA89A-E98B-4A42-961B-66DB0C3BCCDE}" destId="{AEADF721-B49D-4777-A3D0-A071A25CC4BE}" srcOrd="0" destOrd="0" presId="urn:microsoft.com/office/officeart/2008/layout/LinedList"/>
    <dgm:cxn modelId="{F35FD5E2-7E93-48A1-9645-BAEE847431AA}" type="presParOf" srcId="{8C9EA89A-E98B-4A42-961B-66DB0C3BCCDE}" destId="{013E9834-6A72-4E05-8887-EDC23C9AD878}" srcOrd="1" destOrd="0" presId="urn:microsoft.com/office/officeart/2008/layout/LinedList"/>
    <dgm:cxn modelId="{16F2877C-1C53-41C3-9E58-55E6FC73E21E}" type="presParOf" srcId="{DB7DF9B2-F504-49C3-AA99-E80948ED5180}" destId="{05876A9E-C97B-4E08-BAA2-419CCB8B79A5}" srcOrd="4" destOrd="0" presId="urn:microsoft.com/office/officeart/2008/layout/LinedList"/>
    <dgm:cxn modelId="{D7839A20-ADD5-40F4-8EA3-365BEC58B564}" type="presParOf" srcId="{DB7DF9B2-F504-49C3-AA99-E80948ED5180}" destId="{3BC8811F-41F4-45EE-8B42-92B4926B96B2}" srcOrd="5" destOrd="0" presId="urn:microsoft.com/office/officeart/2008/layout/LinedList"/>
    <dgm:cxn modelId="{987937D0-41C6-49B4-9E16-EEB5CD15CE02}" type="presParOf" srcId="{3BC8811F-41F4-45EE-8B42-92B4926B96B2}" destId="{21DED70A-2925-4CD4-A344-C3D118886576}" srcOrd="0" destOrd="0" presId="urn:microsoft.com/office/officeart/2008/layout/LinedList"/>
    <dgm:cxn modelId="{5541FAF0-5263-4E7A-8712-E6C9284EB768}" type="presParOf" srcId="{3BC8811F-41F4-45EE-8B42-92B4926B96B2}" destId="{BDFA4F32-6AB3-40BE-8046-B9475C1EEA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1B33B3-1185-4453-B0CA-2F933B2CFB00}">
      <dsp:nvSpPr>
        <dsp:cNvPr id="0" name=""/>
        <dsp:cNvSpPr/>
      </dsp:nvSpPr>
      <dsp:spPr>
        <a:xfrm rot="10800000">
          <a:off x="5744708" y="3489"/>
          <a:ext cx="523220" cy="52322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13B27-47CC-42FD-A635-0BA22A2F333D}">
      <dsp:nvSpPr>
        <dsp:cNvPr id="0" name=""/>
        <dsp:cNvSpPr/>
      </dsp:nvSpPr>
      <dsp:spPr>
        <a:xfrm>
          <a:off x="0" y="0"/>
          <a:ext cx="5997246" cy="52322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chemeClr val="bg2"/>
              </a:solidFill>
            </a:rPr>
            <a:t>Importation des données 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>
              <a:solidFill>
                <a:schemeClr val="bg2"/>
              </a:solidFill>
            </a:rPr>
            <a:t>Chargement du fichier « portefeuille_actifs » qui contient </a:t>
          </a:r>
          <a:r>
            <a:rPr lang="fr-FR" sz="1200" b="1" kern="1200" dirty="0">
              <a:solidFill>
                <a:schemeClr val="bg2"/>
              </a:solidFill>
            </a:rPr>
            <a:t>275 biens </a:t>
          </a:r>
          <a:r>
            <a:rPr lang="fr-FR" sz="1200" b="1" i="0" kern="1200" dirty="0">
              <a:solidFill>
                <a:schemeClr val="bg2"/>
              </a:solidFill>
            </a:rPr>
            <a:t>immobiliers</a:t>
          </a:r>
          <a:r>
            <a:rPr lang="fr-FR" sz="1200" b="0" kern="1200" dirty="0">
              <a:solidFill>
                <a:schemeClr val="bg2"/>
              </a:solidFill>
            </a:rPr>
            <a:t>.</a:t>
          </a:r>
        </a:p>
      </dsp:txBody>
      <dsp:txXfrm>
        <a:off x="0" y="0"/>
        <a:ext cx="5997246" cy="5232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1718F8-E0F5-4F59-850A-142024960BD2}">
      <dsp:nvSpPr>
        <dsp:cNvPr id="0" name=""/>
        <dsp:cNvSpPr/>
      </dsp:nvSpPr>
      <dsp:spPr>
        <a:xfrm rot="10800000">
          <a:off x="5365934" y="-4081"/>
          <a:ext cx="523220" cy="52322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12F60-7056-4FF8-BD9C-264932766DCB}">
      <dsp:nvSpPr>
        <dsp:cNvPr id="0" name=""/>
        <dsp:cNvSpPr/>
      </dsp:nvSpPr>
      <dsp:spPr>
        <a:xfrm>
          <a:off x="0" y="0"/>
          <a:ext cx="5674902" cy="52322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chemeClr val="bg2"/>
              </a:solidFill>
            </a:rPr>
            <a:t>Sélection des informations nécessaires</a:t>
          </a:r>
          <a:r>
            <a:rPr lang="fr-FR" sz="1200" b="1" i="0" kern="1200" dirty="0">
              <a:solidFill>
                <a:schemeClr val="bg2"/>
              </a:solidFill>
            </a:rPr>
            <a:t>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chemeClr val="bg2"/>
              </a:solidFill>
            </a:rPr>
            <a:t>surface, localisation, type de bien , Date de prédiction 31/12/2022</a:t>
          </a:r>
          <a:endParaRPr lang="fr-FR" sz="1200" b="0" kern="1200" dirty="0">
            <a:solidFill>
              <a:schemeClr val="bg2"/>
            </a:solidFill>
          </a:endParaRPr>
        </a:p>
      </dsp:txBody>
      <dsp:txXfrm>
        <a:off x="0" y="0"/>
        <a:ext cx="5674902" cy="5232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AB77F-42D7-41C7-B9A9-DE8161B87567}">
      <dsp:nvSpPr>
        <dsp:cNvPr id="0" name=""/>
        <dsp:cNvSpPr/>
      </dsp:nvSpPr>
      <dsp:spPr>
        <a:xfrm rot="10800000">
          <a:off x="5689602" y="-7936"/>
          <a:ext cx="572794" cy="48362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F5783-9804-40C6-8DA3-31F4054F12E7}">
      <dsp:nvSpPr>
        <dsp:cNvPr id="0" name=""/>
        <dsp:cNvSpPr/>
      </dsp:nvSpPr>
      <dsp:spPr>
        <a:xfrm>
          <a:off x="89154" y="0"/>
          <a:ext cx="5967454" cy="4836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chemeClr val="bg2"/>
              </a:solidFill>
              <a:latin typeface="+mn-lt"/>
            </a:rPr>
            <a:t>Mise en format exploitable:</a:t>
          </a:r>
          <a:endParaRPr lang="fr-FR" sz="1200" b="1" i="0" kern="1200" dirty="0">
            <a:solidFill>
              <a:schemeClr val="bg2"/>
            </a:solidFill>
            <a:latin typeface="+mn-lt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chemeClr val="bg2"/>
              </a:solidFill>
              <a:latin typeface="+mn-lt"/>
            </a:rPr>
            <a:t>Dates → </a:t>
          </a:r>
          <a:r>
            <a:rPr lang="fr-FR" sz="1200" kern="1200" dirty="0">
              <a:solidFill>
                <a:schemeClr val="bg2"/>
              </a:solidFill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rPr>
            <a:t>format numérique (timestamp</a:t>
          </a:r>
          <a:r>
            <a:rPr lang="fr-FR" sz="1200" kern="1200" dirty="0"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rPr>
            <a:t>)</a:t>
          </a:r>
          <a:r>
            <a:rPr lang="fr-FR" sz="1200" b="0" i="0" kern="1200" dirty="0">
              <a:solidFill>
                <a:schemeClr val="bg2"/>
              </a:solidFill>
              <a:latin typeface="+mn-lt"/>
            </a:rPr>
            <a:t>; Code postal et type de bien → codage binaire</a:t>
          </a:r>
          <a:endParaRPr lang="fr-FR" sz="1200" b="0" kern="1200" dirty="0">
            <a:solidFill>
              <a:schemeClr val="bg2"/>
            </a:solidFill>
            <a:latin typeface="+mn-lt"/>
          </a:endParaRPr>
        </a:p>
      </dsp:txBody>
      <dsp:txXfrm>
        <a:off x="89154" y="0"/>
        <a:ext cx="5967454" cy="4836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4B3461-7B51-4526-83CC-5DA9BD818D6E}">
      <dsp:nvSpPr>
        <dsp:cNvPr id="0" name=""/>
        <dsp:cNvSpPr/>
      </dsp:nvSpPr>
      <dsp:spPr>
        <a:xfrm flipH="1" flipV="1">
          <a:off x="6235146" y="-297"/>
          <a:ext cx="515309" cy="47407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69E58-C67B-4F87-A125-B2834C426DF2}">
      <dsp:nvSpPr>
        <dsp:cNvPr id="0" name=""/>
        <dsp:cNvSpPr/>
      </dsp:nvSpPr>
      <dsp:spPr>
        <a:xfrm>
          <a:off x="0" y="0"/>
          <a:ext cx="6524992" cy="5133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chemeClr val="bg2"/>
              </a:solidFill>
            </a:rPr>
            <a:t>Application de la prédiction: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chemeClr val="bg2"/>
              </a:solidFill>
            </a:rPr>
            <a:t>Le modèle de régression linéaire est appliqué sur ce jeu de données préparées</a:t>
          </a:r>
        </a:p>
      </dsp:txBody>
      <dsp:txXfrm>
        <a:off x="0" y="0"/>
        <a:ext cx="6524992" cy="5133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4B3461-7B51-4526-83CC-5DA9BD818D6E}">
      <dsp:nvSpPr>
        <dsp:cNvPr id="0" name=""/>
        <dsp:cNvSpPr/>
      </dsp:nvSpPr>
      <dsp:spPr>
        <a:xfrm flipH="1" flipV="1">
          <a:off x="6116028" y="20969"/>
          <a:ext cx="709942" cy="50552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69E58-C67B-4F87-A125-B2834C426DF2}">
      <dsp:nvSpPr>
        <dsp:cNvPr id="0" name=""/>
        <dsp:cNvSpPr/>
      </dsp:nvSpPr>
      <dsp:spPr>
        <a:xfrm>
          <a:off x="-24214" y="0"/>
          <a:ext cx="6680935" cy="55312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chemeClr val="bg2"/>
              </a:solidFill>
            </a:rPr>
            <a:t>Chaque bien se voit attribuer une valeur foncière estimée =&gt;Les valeurs prédites sont sommées pour chaque segment</a:t>
          </a:r>
          <a:r>
            <a:rPr lang="fr-FR" sz="1400" b="0" i="0" kern="1200" dirty="0">
              <a:solidFill>
                <a:schemeClr val="bg2"/>
              </a:solidFill>
            </a:rPr>
            <a:t>.</a:t>
          </a:r>
        </a:p>
      </dsp:txBody>
      <dsp:txXfrm>
        <a:off x="-24214" y="0"/>
        <a:ext cx="6680935" cy="5531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E9422-AF90-4A4D-9424-86D31E90D07F}">
      <dsp:nvSpPr>
        <dsp:cNvPr id="0" name=""/>
        <dsp:cNvSpPr/>
      </dsp:nvSpPr>
      <dsp:spPr>
        <a:xfrm>
          <a:off x="-4143163" y="-635817"/>
          <a:ext cx="4936855" cy="4936855"/>
        </a:xfrm>
        <a:prstGeom prst="blockArc">
          <a:avLst>
            <a:gd name="adj1" fmla="val 18900000"/>
            <a:gd name="adj2" fmla="val 2700000"/>
            <a:gd name="adj3" fmla="val 438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6E98E9-2EFA-4718-AA3D-46CD005951D1}">
      <dsp:nvSpPr>
        <dsp:cNvPr id="0" name=""/>
        <dsp:cNvSpPr/>
      </dsp:nvSpPr>
      <dsp:spPr>
        <a:xfrm>
          <a:off x="510424" y="337042"/>
          <a:ext cx="7194097" cy="7920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81854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i="0" u="none" strike="noStrike" kern="1200" cap="none" dirty="0">
              <a:effectLst/>
              <a:latin typeface="+mj-lt"/>
              <a:ea typeface="Arial"/>
              <a:cs typeface="Arial"/>
              <a:sym typeface="Arial"/>
            </a:rPr>
            <a:t>Limites liées aux données :</a:t>
          </a:r>
          <a:endParaRPr lang="fr-FR" sz="1400" kern="1200" dirty="0">
            <a:latin typeface="+mj-lt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200" kern="1200" dirty="0">
              <a:latin typeface="+mj-lt"/>
            </a:rPr>
            <a:t>Éléments non pris en compte :</a:t>
          </a:r>
          <a:r>
            <a:rPr lang="fr-FR" sz="1200" b="0" i="0" u="none" strike="noStrike" kern="1200" cap="none" dirty="0">
              <a:effectLst/>
              <a:latin typeface="+mj-lt"/>
              <a:ea typeface="Arial"/>
              <a:cs typeface="Arial"/>
              <a:sym typeface="Arial"/>
            </a:rPr>
            <a:t>que l’étage, l’état du bien, la vue, la proximité des transports, le standing, la luminosité ou le calme.</a:t>
          </a:r>
          <a:br>
            <a:rPr lang="fr-FR" sz="1200" b="0" i="0" u="none" strike="noStrike" kern="1200" cap="none" dirty="0">
              <a:effectLst/>
              <a:latin typeface="+mj-lt"/>
              <a:ea typeface="Arial"/>
              <a:cs typeface="Arial"/>
              <a:sym typeface="Arial"/>
            </a:rPr>
          </a:br>
          <a:endParaRPr lang="fr-FR" sz="1200" kern="1200" dirty="0">
            <a:latin typeface="+mj-lt"/>
          </a:endParaRPr>
        </a:p>
      </dsp:txBody>
      <dsp:txXfrm>
        <a:off x="510424" y="337042"/>
        <a:ext cx="7194097" cy="792002"/>
      </dsp:txXfrm>
    </dsp:sp>
    <dsp:sp modelId="{26B497F9-FC13-4152-9079-17E8CCF223D0}">
      <dsp:nvSpPr>
        <dsp:cNvPr id="0" name=""/>
        <dsp:cNvSpPr/>
      </dsp:nvSpPr>
      <dsp:spPr>
        <a:xfrm>
          <a:off x="52271" y="274891"/>
          <a:ext cx="916305" cy="9163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D57F2-6D45-4643-BE6F-C226D472664A}">
      <dsp:nvSpPr>
        <dsp:cNvPr id="0" name=""/>
        <dsp:cNvSpPr/>
      </dsp:nvSpPr>
      <dsp:spPr>
        <a:xfrm>
          <a:off x="776885" y="1466088"/>
          <a:ext cx="6927635" cy="733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81854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400" b="1" kern="1200" dirty="0"/>
            <a:t>Limites du modèle :</a:t>
          </a:r>
          <a:endParaRPr lang="fr-FR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200" kern="1200" dirty="0"/>
            <a:t>Le modelé ne capte pas les variations non linéaires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200" kern="1200" dirty="0"/>
            <a:t>Des modèles plus avancés (Gradient </a:t>
          </a:r>
          <a:r>
            <a:rPr lang="fr-FR" sz="1200" kern="1200" dirty="0" err="1"/>
            <a:t>Boosting</a:t>
          </a:r>
          <a:r>
            <a:rPr lang="fr-FR" sz="1200" kern="1200" dirty="0"/>
            <a:t>, LSTM) plus précis sur le long terme </a:t>
          </a:r>
        </a:p>
      </dsp:txBody>
      <dsp:txXfrm>
        <a:off x="776885" y="1466088"/>
        <a:ext cx="6927635" cy="733044"/>
      </dsp:txXfrm>
    </dsp:sp>
    <dsp:sp modelId="{2F616A02-99C2-4DCB-88A9-37AAEDFF52E7}">
      <dsp:nvSpPr>
        <dsp:cNvPr id="0" name=""/>
        <dsp:cNvSpPr/>
      </dsp:nvSpPr>
      <dsp:spPr>
        <a:xfrm>
          <a:off x="318733" y="1374457"/>
          <a:ext cx="916305" cy="9163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CB8AF-A928-45E2-8D02-41E870E71BF3}">
      <dsp:nvSpPr>
        <dsp:cNvPr id="0" name=""/>
        <dsp:cNvSpPr/>
      </dsp:nvSpPr>
      <dsp:spPr>
        <a:xfrm>
          <a:off x="510424" y="2565654"/>
          <a:ext cx="7194097" cy="733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81854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i="0" u="none" strike="noStrike" kern="1200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Précautions à prendre </a:t>
          </a:r>
          <a:endParaRPr lang="fr-FR" sz="1400" kern="1200" dirty="0">
            <a:latin typeface="+mj-lt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0" i="0" u="none" strike="noStrike" kern="1200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Utiliser les résultats comme tendance et non comme certitude </a:t>
          </a:r>
          <a:endParaRPr lang="fr-FR" sz="1200" kern="1200" dirty="0">
            <a:latin typeface="+mj-lt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0" i="0" u="none" strike="noStrike" kern="1200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Ne pas généraliser ce modèle à d’autres contextes</a:t>
          </a:r>
          <a:endParaRPr lang="fr-FR" sz="1200" kern="1200" dirty="0">
            <a:latin typeface="+mj-lt"/>
          </a:endParaRPr>
        </a:p>
      </dsp:txBody>
      <dsp:txXfrm>
        <a:off x="510424" y="2565654"/>
        <a:ext cx="7194097" cy="733044"/>
      </dsp:txXfrm>
    </dsp:sp>
    <dsp:sp modelId="{266A4DE7-1CB2-4677-BEAA-95E44BFC67E0}">
      <dsp:nvSpPr>
        <dsp:cNvPr id="0" name=""/>
        <dsp:cNvSpPr/>
      </dsp:nvSpPr>
      <dsp:spPr>
        <a:xfrm>
          <a:off x="52271" y="2474023"/>
          <a:ext cx="916305" cy="9163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E9422-AF90-4A4D-9424-86D31E90D07F}">
      <dsp:nvSpPr>
        <dsp:cNvPr id="0" name=""/>
        <dsp:cNvSpPr/>
      </dsp:nvSpPr>
      <dsp:spPr>
        <a:xfrm>
          <a:off x="-3837455" y="-589342"/>
          <a:ext cx="4573697" cy="4573697"/>
        </a:xfrm>
        <a:prstGeom prst="blockArc">
          <a:avLst>
            <a:gd name="adj1" fmla="val 18900000"/>
            <a:gd name="adj2" fmla="val 2700000"/>
            <a:gd name="adj3" fmla="val 472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6E98E9-2EFA-4718-AA3D-46CD005951D1}">
      <dsp:nvSpPr>
        <dsp:cNvPr id="0" name=""/>
        <dsp:cNvSpPr/>
      </dsp:nvSpPr>
      <dsp:spPr>
        <a:xfrm>
          <a:off x="473458" y="312195"/>
          <a:ext cx="7235331" cy="7336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8958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i="0" u="none" strike="noStrike" kern="1200" cap="none" dirty="0">
              <a:effectLst/>
              <a:latin typeface="+mj-lt"/>
              <a:ea typeface="Arial"/>
              <a:cs typeface="Arial"/>
              <a:sym typeface="Arial"/>
            </a:rPr>
            <a:t>Limites liées aux données :</a:t>
          </a:r>
          <a:endParaRPr lang="fr-FR" sz="1400" kern="1200" dirty="0">
            <a:latin typeface="+mj-lt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200" b="0" i="0" kern="1200" dirty="0">
              <a:latin typeface="+mj-lt"/>
            </a:rPr>
            <a:t>La classification repose uniquement sur le prix au m²</a:t>
          </a:r>
          <a:endParaRPr lang="fr-FR" sz="1200" kern="1200" dirty="0">
            <a:latin typeface="+mj-lt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200" b="0" i="0" kern="1200" dirty="0">
              <a:latin typeface="+mj-lt"/>
            </a:rPr>
            <a:t>spécifique au 19e arrondissement</a:t>
          </a:r>
          <a:endParaRPr lang="fr-FR" sz="1200" kern="1200" dirty="0">
            <a:latin typeface="+mj-lt"/>
          </a:endParaRPr>
        </a:p>
      </dsp:txBody>
      <dsp:txXfrm>
        <a:off x="473458" y="312195"/>
        <a:ext cx="7235331" cy="733614"/>
      </dsp:txXfrm>
    </dsp:sp>
    <dsp:sp modelId="{26B497F9-FC13-4152-9079-17E8CCF223D0}">
      <dsp:nvSpPr>
        <dsp:cNvPr id="0" name=""/>
        <dsp:cNvSpPr/>
      </dsp:nvSpPr>
      <dsp:spPr>
        <a:xfrm>
          <a:off x="49081" y="254625"/>
          <a:ext cx="848753" cy="8487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D57F2-6D45-4643-BE6F-C226D472664A}">
      <dsp:nvSpPr>
        <dsp:cNvPr id="0" name=""/>
        <dsp:cNvSpPr/>
      </dsp:nvSpPr>
      <dsp:spPr>
        <a:xfrm>
          <a:off x="720275" y="1358005"/>
          <a:ext cx="6988513" cy="6790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8958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400" b="1" i="0" u="none" strike="noStrike" kern="1200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Limite de l’algorithme K-</a:t>
          </a:r>
          <a:r>
            <a:rPr lang="fr-FR" sz="1400" b="1" i="0" u="none" strike="noStrike" kern="1200" cap="none" dirty="0" err="1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Means</a:t>
          </a:r>
          <a:r>
            <a:rPr lang="fr-FR" sz="1400" b="1" kern="1200" dirty="0">
              <a:latin typeface="+mj-lt"/>
            </a:rPr>
            <a:t>:</a:t>
          </a:r>
          <a:endParaRPr lang="fr-FR" sz="1400" kern="1200" dirty="0">
            <a:latin typeface="+mj-lt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200" b="0" i="0" u="none" strike="noStrike" kern="1200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Si les prix des deux types de biens se rapprochent à l’avenir, la séparation pourrait devenir moins nette</a:t>
          </a:r>
          <a:endParaRPr lang="fr-FR" sz="1200" kern="1200" dirty="0">
            <a:latin typeface="+mj-lt"/>
          </a:endParaRPr>
        </a:p>
      </dsp:txBody>
      <dsp:txXfrm>
        <a:off x="720275" y="1358005"/>
        <a:ext cx="6988513" cy="679002"/>
      </dsp:txXfrm>
    </dsp:sp>
    <dsp:sp modelId="{2F616A02-99C2-4DCB-88A9-37AAEDFF52E7}">
      <dsp:nvSpPr>
        <dsp:cNvPr id="0" name=""/>
        <dsp:cNvSpPr/>
      </dsp:nvSpPr>
      <dsp:spPr>
        <a:xfrm>
          <a:off x="295899" y="1273129"/>
          <a:ext cx="848753" cy="8487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CB8AF-A928-45E2-8D02-41E870E71BF3}">
      <dsp:nvSpPr>
        <dsp:cNvPr id="0" name=""/>
        <dsp:cNvSpPr/>
      </dsp:nvSpPr>
      <dsp:spPr>
        <a:xfrm>
          <a:off x="473458" y="2376509"/>
          <a:ext cx="7235331" cy="6790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8958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i="0" u="none" strike="noStrike" kern="1200" cap="none" dirty="0">
              <a:solidFill>
                <a:srgbClr val="000000"/>
              </a:solidFill>
              <a:effectLst/>
              <a:latin typeface="+mj-lt"/>
              <a:ea typeface="Arial"/>
              <a:cs typeface="Arial"/>
              <a:sym typeface="Arial"/>
            </a:rPr>
            <a:t>Précautions à prendre </a:t>
          </a:r>
          <a:endParaRPr lang="fr-FR" sz="1400" kern="1200" dirty="0">
            <a:latin typeface="+mj-lt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>
              <a:latin typeface="+mj-lt"/>
            </a:rPr>
            <a:t>Vérifier manuellement les cas douteux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>
              <a:latin typeface="+mj-lt"/>
            </a:rPr>
            <a:t>Tester sur d’autres zones avant généralisation</a:t>
          </a:r>
        </a:p>
      </dsp:txBody>
      <dsp:txXfrm>
        <a:off x="473458" y="2376509"/>
        <a:ext cx="7235331" cy="679002"/>
      </dsp:txXfrm>
    </dsp:sp>
    <dsp:sp modelId="{266A4DE7-1CB2-4677-BEAA-95E44BFC67E0}">
      <dsp:nvSpPr>
        <dsp:cNvPr id="0" name=""/>
        <dsp:cNvSpPr/>
      </dsp:nvSpPr>
      <dsp:spPr>
        <a:xfrm>
          <a:off x="49081" y="2291633"/>
          <a:ext cx="848753" cy="8487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58414-648B-48C5-BF8E-9F52A4ACC1CE}">
      <dsp:nvSpPr>
        <dsp:cNvPr id="0" name=""/>
        <dsp:cNvSpPr/>
      </dsp:nvSpPr>
      <dsp:spPr>
        <a:xfrm>
          <a:off x="0" y="1338"/>
          <a:ext cx="82723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EA719-F808-4176-B9C7-B57487C29CF6}">
      <dsp:nvSpPr>
        <dsp:cNvPr id="0" name=""/>
        <dsp:cNvSpPr/>
      </dsp:nvSpPr>
      <dsp:spPr>
        <a:xfrm>
          <a:off x="0" y="1338"/>
          <a:ext cx="8272353" cy="912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>
              <a:solidFill>
                <a:schemeClr val="bg2"/>
              </a:solidFill>
            </a:rPr>
            <a:t>Nous avons d’abord analysé l’évolution des prix de l’immobilier à Paris et construit un modèle de prédiction pour estimer la valeur du portefeuille. Cela nous a aidés à formuler une recommandation de vente.</a:t>
          </a:r>
          <a:endParaRPr lang="fr-FR" sz="1600" kern="1200">
            <a:solidFill>
              <a:schemeClr val="bg2"/>
            </a:solidFill>
          </a:endParaRPr>
        </a:p>
      </dsp:txBody>
      <dsp:txXfrm>
        <a:off x="0" y="1338"/>
        <a:ext cx="8272353" cy="912957"/>
      </dsp:txXfrm>
    </dsp:sp>
    <dsp:sp modelId="{DCF36F4A-D9AA-4B67-BBF5-281B5D903C51}">
      <dsp:nvSpPr>
        <dsp:cNvPr id="0" name=""/>
        <dsp:cNvSpPr/>
      </dsp:nvSpPr>
      <dsp:spPr>
        <a:xfrm>
          <a:off x="0" y="914296"/>
          <a:ext cx="82723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ADF721-B49D-4777-A3D0-A071A25CC4BE}">
      <dsp:nvSpPr>
        <dsp:cNvPr id="0" name=""/>
        <dsp:cNvSpPr/>
      </dsp:nvSpPr>
      <dsp:spPr>
        <a:xfrm>
          <a:off x="0" y="914296"/>
          <a:ext cx="8272353" cy="912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chemeClr val="bg2"/>
              </a:solidFill>
            </a:rPr>
            <a:t>Dans un second temps, nous avons utilisé le clustering pour classer automatiquement les biens, ce qui simplifie le travail des équipes.</a:t>
          </a:r>
          <a:endParaRPr lang="fr-FR" sz="1600" kern="1200" dirty="0">
            <a:solidFill>
              <a:schemeClr val="bg2"/>
            </a:solidFill>
          </a:endParaRPr>
        </a:p>
      </dsp:txBody>
      <dsp:txXfrm>
        <a:off x="0" y="914296"/>
        <a:ext cx="8272353" cy="912957"/>
      </dsp:txXfrm>
    </dsp:sp>
    <dsp:sp modelId="{05876A9E-C97B-4E08-BAA2-419CCB8B79A5}">
      <dsp:nvSpPr>
        <dsp:cNvPr id="0" name=""/>
        <dsp:cNvSpPr/>
      </dsp:nvSpPr>
      <dsp:spPr>
        <a:xfrm>
          <a:off x="0" y="1827253"/>
          <a:ext cx="82723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ED70A-2925-4CD4-A344-C3D118886576}">
      <dsp:nvSpPr>
        <dsp:cNvPr id="0" name=""/>
        <dsp:cNvSpPr/>
      </dsp:nvSpPr>
      <dsp:spPr>
        <a:xfrm>
          <a:off x="0" y="1827253"/>
          <a:ext cx="8272353" cy="912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chemeClr val="bg2"/>
              </a:solidFill>
            </a:rPr>
            <a:t>Ces approches permettent ainsi d’améliorer à la fois la prise de décision stratégique et l’efficacité opérationnelle</a:t>
          </a:r>
          <a:endParaRPr lang="fr-FR" sz="1600" kern="1200" dirty="0">
            <a:solidFill>
              <a:schemeClr val="bg2"/>
            </a:solidFill>
          </a:endParaRPr>
        </a:p>
      </dsp:txBody>
      <dsp:txXfrm>
        <a:off x="0" y="1827253"/>
        <a:ext cx="8272353" cy="912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6c227a4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84" name="Google Shape;84;g136c227a4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6251e9b6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89" name="Google Shape;89;g136251e9b6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" name="Google Shape;96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7E3703E-1956-B818-32B5-BAE96191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>
            <a:extLst>
              <a:ext uri="{FF2B5EF4-FFF2-40B4-BE49-F238E27FC236}">
                <a16:creationId xmlns:a16="http://schemas.microsoft.com/office/drawing/2014/main" id="{EC10B4C7-C591-5414-461A-275842A6E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" name="Google Shape;96;g136251e9b62_0_26:notes">
            <a:extLst>
              <a:ext uri="{FF2B5EF4-FFF2-40B4-BE49-F238E27FC236}">
                <a16:creationId xmlns:a16="http://schemas.microsoft.com/office/drawing/2014/main" id="{1C6188AD-01E8-6634-DBB3-6A930DD6B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0242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BB6A2E3-DB42-5AD1-B590-124A9916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>
            <a:extLst>
              <a:ext uri="{FF2B5EF4-FFF2-40B4-BE49-F238E27FC236}">
                <a16:creationId xmlns:a16="http://schemas.microsoft.com/office/drawing/2014/main" id="{33B48834-4E5F-916A-4772-F95C6DB6F7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" name="Google Shape;96;g136251e9b62_0_26:notes">
            <a:extLst>
              <a:ext uri="{FF2B5EF4-FFF2-40B4-BE49-F238E27FC236}">
                <a16:creationId xmlns:a16="http://schemas.microsoft.com/office/drawing/2014/main" id="{F454665D-573C-4B0F-1C1D-F914A1670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4896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602FE07-476B-740C-B0DE-63177A0E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>
            <a:extLst>
              <a:ext uri="{FF2B5EF4-FFF2-40B4-BE49-F238E27FC236}">
                <a16:creationId xmlns:a16="http://schemas.microsoft.com/office/drawing/2014/main" id="{E8B32EA7-B9CC-7B1E-7AFC-EEA39D7C4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" name="Google Shape;96;g136251e9b62_0_26:notes">
            <a:extLst>
              <a:ext uri="{FF2B5EF4-FFF2-40B4-BE49-F238E27FC236}">
                <a16:creationId xmlns:a16="http://schemas.microsoft.com/office/drawing/2014/main" id="{ABEF6473-3604-0B0F-CB6A-1E097414C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1411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8375159-CDDC-68EA-9222-D5A542A8C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>
            <a:extLst>
              <a:ext uri="{FF2B5EF4-FFF2-40B4-BE49-F238E27FC236}">
                <a16:creationId xmlns:a16="http://schemas.microsoft.com/office/drawing/2014/main" id="{2D4E2409-FC79-E88E-C653-2048BD31A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" name="Google Shape;96;g136251e9b62_0_26:notes">
            <a:extLst>
              <a:ext uri="{FF2B5EF4-FFF2-40B4-BE49-F238E27FC236}">
                <a16:creationId xmlns:a16="http://schemas.microsoft.com/office/drawing/2014/main" id="{F125AD4C-5DC8-6A1A-D027-881A40A04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2017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4753A88-688A-D2B9-3BCF-10FE2CC0C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>
            <a:extLst>
              <a:ext uri="{FF2B5EF4-FFF2-40B4-BE49-F238E27FC236}">
                <a16:creationId xmlns:a16="http://schemas.microsoft.com/office/drawing/2014/main" id="{8F5B46A2-5332-3594-E40A-DD42D4BBD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" name="Google Shape;96;g136251e9b62_0_26:notes">
            <a:extLst>
              <a:ext uri="{FF2B5EF4-FFF2-40B4-BE49-F238E27FC236}">
                <a16:creationId xmlns:a16="http://schemas.microsoft.com/office/drawing/2014/main" id="{413F49DD-4E6D-B912-262A-AAA1D24D5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+mn-lt"/>
              </a:rPr>
              <a:t> </a:t>
            </a:r>
            <a:endParaRPr lang="fr-FR" sz="1100" b="0" i="0" u="none" strike="noStrike" cap="none" dirty="0">
              <a:solidFill>
                <a:srgbClr val="000000"/>
              </a:solidFill>
              <a:effectLst/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4635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190C431-C8F9-56CC-4098-B40718D8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>
            <a:extLst>
              <a:ext uri="{FF2B5EF4-FFF2-40B4-BE49-F238E27FC236}">
                <a16:creationId xmlns:a16="http://schemas.microsoft.com/office/drawing/2014/main" id="{08422CCF-68D6-1C0C-DDAD-5D5734C1C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" name="Google Shape;96;g136251e9b62_0_26:notes">
            <a:extLst>
              <a:ext uri="{FF2B5EF4-FFF2-40B4-BE49-F238E27FC236}">
                <a16:creationId xmlns:a16="http://schemas.microsoft.com/office/drawing/2014/main" id="{38FE65E2-FEC2-1077-8517-15AA8205D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4246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093CDEC-5B76-8ED7-62E2-82FC98E5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>
            <a:extLst>
              <a:ext uri="{FF2B5EF4-FFF2-40B4-BE49-F238E27FC236}">
                <a16:creationId xmlns:a16="http://schemas.microsoft.com/office/drawing/2014/main" id="{32BCA347-9396-34BA-AC0A-8CEB150276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02" name="Google Shape;102;g136251e9b62_0_32:notes">
            <a:extLst>
              <a:ext uri="{FF2B5EF4-FFF2-40B4-BE49-F238E27FC236}">
                <a16:creationId xmlns:a16="http://schemas.microsoft.com/office/drawing/2014/main" id="{D1438DC2-A3F2-9D4E-9013-16F698F80A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fr-FR" sz="1100" b="0" i="0" u="none" strike="noStrike" cap="none" dirty="0">
              <a:solidFill>
                <a:srgbClr val="000000"/>
              </a:solidFill>
              <a:effectLst/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0294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9F8A315-D30A-A8C2-F53E-38D9E92E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>
            <a:extLst>
              <a:ext uri="{FF2B5EF4-FFF2-40B4-BE49-F238E27FC236}">
                <a16:creationId xmlns:a16="http://schemas.microsoft.com/office/drawing/2014/main" id="{CDDEFA93-19BC-B854-51CB-451DD41AAE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02" name="Google Shape;102;g136251e9b62_0_32:notes">
            <a:extLst>
              <a:ext uri="{FF2B5EF4-FFF2-40B4-BE49-F238E27FC236}">
                <a16:creationId xmlns:a16="http://schemas.microsoft.com/office/drawing/2014/main" id="{2C1FFBB3-F18C-D61A-F655-F417BCA6C0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fr-FR" sz="1100" b="0" i="0" u="none" strike="noStrike" cap="none" dirty="0">
              <a:solidFill>
                <a:srgbClr val="000000"/>
              </a:solidFill>
              <a:effectLst/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2465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6251e9b6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08" name="Google Shape;108;g136251e9b6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F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0719D9C-7858-9B06-7CD6-DEAC6624D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6251e9b62_0_38:notes">
            <a:extLst>
              <a:ext uri="{FF2B5EF4-FFF2-40B4-BE49-F238E27FC236}">
                <a16:creationId xmlns:a16="http://schemas.microsoft.com/office/drawing/2014/main" id="{10E9E1D9-0910-713E-3030-FB8D19704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08" name="Google Shape;108;g136251e9b62_0_38:notes">
            <a:extLst>
              <a:ext uri="{FF2B5EF4-FFF2-40B4-BE49-F238E27FC236}">
                <a16:creationId xmlns:a16="http://schemas.microsoft.com/office/drawing/2014/main" id="{DF252075-01B8-4C4C-6B1B-00EB39A426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5039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6c227a4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14" name="Google Shape;114;g136c227a4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6c227a4f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19" name="Google Shape;119;g136c227a4f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6c227a4f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25" name="Google Shape;125;g136c227a4f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fr-FR" sz="1100" b="0" i="0" u="none" strike="noStrike" cap="none" dirty="0">
              <a:solidFill>
                <a:srgbClr val="000000"/>
              </a:solidFill>
              <a:effectLst/>
              <a:latin typeface="+mn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6c227a4f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31" name="Google Shape;131;g136c227a4f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29BD3C6-38D6-456B-B7DF-5E4F8910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6251e9b62_0_38:notes">
            <a:extLst>
              <a:ext uri="{FF2B5EF4-FFF2-40B4-BE49-F238E27FC236}">
                <a16:creationId xmlns:a16="http://schemas.microsoft.com/office/drawing/2014/main" id="{A9AF09FF-8F99-A372-E953-70C039DD2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08" name="Google Shape;108;g136251e9b62_0_38:notes">
            <a:extLst>
              <a:ext uri="{FF2B5EF4-FFF2-40B4-BE49-F238E27FC236}">
                <a16:creationId xmlns:a16="http://schemas.microsoft.com/office/drawing/2014/main" id="{71B40811-D2F5-9DE9-990A-7A64265771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32665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031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6" r:id="rId6"/>
    <p:sldLayoutId id="2147483657" r:id="rId7"/>
    <p:sldLayoutId id="2147483658" r:id="rId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26" Type="http://schemas.openxmlformats.org/officeDocument/2006/relationships/diagramColors" Target="../diagrams/colors5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diagramQuickStyle" Target="../diagrams/quickStyle5.xml"/><Relationship Id="rId2" Type="http://schemas.openxmlformats.org/officeDocument/2006/relationships/notesSlide" Target="../notesSlides/notesSlide11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24" Type="http://schemas.openxmlformats.org/officeDocument/2006/relationships/diagramLayout" Target="../diagrams/layout5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diagramData" Target="../diagrams/data5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Relationship Id="rId27" Type="http://schemas.microsoft.com/office/2007/relationships/diagramDrawing" Target="../diagrams/drawin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E4614-7A5B-D35F-0C8A-909415E098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9231" y="2311822"/>
            <a:ext cx="8745537" cy="812800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fr-FR" sz="3200" dirty="0">
                <a:solidFill>
                  <a:schemeClr val="bg2"/>
                </a:solidFill>
                <a:latin typeface="+mj-lt"/>
              </a:rPr>
              <a:t>Réaliser une analyse de données en Python</a:t>
            </a:r>
          </a:p>
        </p:txBody>
      </p:sp>
      <p:pic>
        <p:nvPicPr>
          <p:cNvPr id="20" name="Google Shape;92;p14">
            <a:extLst>
              <a:ext uri="{FF2B5EF4-FFF2-40B4-BE49-F238E27FC236}">
                <a16:creationId xmlns:a16="http://schemas.microsoft.com/office/drawing/2014/main" id="{6B4E950C-2472-6AC5-E5F7-A689DBD9896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3669750" cy="133759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0051ED1-1EC1-E278-3182-BE880A8C73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1</a:t>
            </a:fld>
            <a:endParaRPr lang="fr-FR" sz="1400" b="1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5104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latin typeface="+mj-lt"/>
              </a:rPr>
              <a:t>Les Plus Beaux Logis de Paris</a:t>
            </a:r>
            <a:endParaRPr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latin typeface="+mj-lt"/>
              </a:rPr>
              <a:t>Partie 1</a:t>
            </a:r>
            <a:endParaRPr dirty="0">
              <a:latin typeface="+mj-l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E93C0C6-7CB8-528A-CE6A-D35DABB8073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2</a:t>
            </a:fld>
            <a:endParaRPr lang="fr-FR" sz="1400" b="1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699600" y="2612200"/>
            <a:ext cx="8520600" cy="14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" sz="2200" i="1" dirty="0">
                <a:solidFill>
                  <a:schemeClr val="dk1"/>
                </a:solidFill>
                <a:latin typeface="+mn-lt"/>
                <a:ea typeface="Montserrat"/>
                <a:cs typeface="Montserrat"/>
                <a:sym typeface="Montserrat"/>
              </a:rPr>
              <a:t>Titre du projet: Analyse de l’évolution des prix de l’immobilier avec python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" sz="2200" i="1" dirty="0">
                <a:solidFill>
                  <a:schemeClr val="dk1"/>
                </a:solidFill>
                <a:latin typeface="+mn-lt"/>
                <a:ea typeface="Montserrat"/>
                <a:cs typeface="Montserrat"/>
                <a:sym typeface="Montserrat"/>
              </a:rPr>
              <a:t>Prénom : Amel</a:t>
            </a:r>
            <a:endParaRPr sz="2200" i="1" dirty="0">
              <a:solidFill>
                <a:schemeClr val="dk1"/>
              </a:solidFill>
              <a:latin typeface="+mn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" sz="2200" i="1" dirty="0">
                <a:solidFill>
                  <a:schemeClr val="dk1"/>
                </a:solidFill>
                <a:latin typeface="+mn-lt"/>
                <a:ea typeface="Montserrat"/>
                <a:cs typeface="Montserrat"/>
                <a:sym typeface="Montserrat"/>
              </a:rPr>
              <a:t>Nom: Amarache </a:t>
            </a:r>
            <a:endParaRPr sz="2200" i="1" dirty="0">
              <a:solidFill>
                <a:schemeClr val="dk1"/>
              </a:solidFill>
              <a:latin typeface="+mn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" sz="2200" i="1" dirty="0">
                <a:solidFill>
                  <a:schemeClr val="dk1"/>
                </a:solidFill>
                <a:latin typeface="+mn-lt"/>
                <a:ea typeface="Montserrat"/>
                <a:cs typeface="Montserrat"/>
                <a:sym typeface="Montserrat"/>
              </a:rPr>
              <a:t>Date:</a:t>
            </a:r>
            <a:endParaRPr sz="2200" i="1" dirty="0">
              <a:solidFill>
                <a:schemeClr val="dk1"/>
              </a:solidFill>
              <a:latin typeface="+mn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00" y="0"/>
            <a:ext cx="3669750" cy="164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522277" y="4743300"/>
            <a:ext cx="682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B4A7D6"/>
                </a:solidFill>
                <a:latin typeface="+mn-lt"/>
                <a:ea typeface="Lato"/>
                <a:cs typeface="Lato"/>
                <a:sym typeface="Lato"/>
              </a:rPr>
              <a:t>Optez toujours pour des slides allégées  : 6 éléments par page maximum.</a:t>
            </a:r>
            <a:endParaRPr dirty="0">
              <a:solidFill>
                <a:srgbClr val="B4A7D6"/>
              </a:solidFill>
              <a:latin typeface="+mn-lt"/>
              <a:ea typeface="Lato"/>
              <a:cs typeface="Lato"/>
              <a:sym typeface="Lato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4125F49-9F83-66DD-C7C6-00C22ECE3E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3</a:t>
            </a:fld>
            <a:endParaRPr lang="fr-FR" sz="1400" b="1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811470" y="517732"/>
            <a:ext cx="7688700" cy="531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-FR" sz="2940" noProof="0" dirty="0">
                <a:latin typeface="+mn-lt"/>
                <a:ea typeface="Montserrat"/>
                <a:cs typeface="Montserrat"/>
                <a:sym typeface="Montserrat"/>
              </a:rPr>
              <a:t>Analyse du marché de l’immobilier</a:t>
            </a:r>
            <a:endParaRPr lang="fr-FR" sz="2520" noProof="0" dirty="0">
              <a:latin typeface="+mn-lt"/>
            </a:endParaRP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AD4D0AFB-F14C-ABA7-1B66-CF2E5C47D310}"/>
              </a:ext>
            </a:extLst>
          </p:cNvPr>
          <p:cNvGrpSpPr/>
          <p:nvPr/>
        </p:nvGrpSpPr>
        <p:grpSpPr>
          <a:xfrm>
            <a:off x="185535" y="3305609"/>
            <a:ext cx="4857746" cy="1748991"/>
            <a:chOff x="1977366" y="3934150"/>
            <a:chExt cx="4857746" cy="1059903"/>
          </a:xfrm>
        </p:grpSpPr>
        <p:sp>
          <p:nvSpPr>
            <p:cNvPr id="4" name="Shape 18">
              <a:extLst>
                <a:ext uri="{FF2B5EF4-FFF2-40B4-BE49-F238E27FC236}">
                  <a16:creationId xmlns:a16="http://schemas.microsoft.com/office/drawing/2014/main" id="{0DCE6B0B-2521-1232-D270-EFCB55102026}"/>
                </a:ext>
              </a:extLst>
            </p:cNvPr>
            <p:cNvSpPr/>
            <p:nvPr/>
          </p:nvSpPr>
          <p:spPr>
            <a:xfrm>
              <a:off x="1983634" y="3934150"/>
              <a:ext cx="4851478" cy="105990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r>
                <a:rPr lang="fr-FR" dirty="0">
                  <a:solidFill>
                    <a:schemeClr val="tx1">
                      <a:lumMod val="75000"/>
                    </a:schemeClr>
                  </a:solidFill>
                  <a:latin typeface="+mn-lt"/>
                </a:rPr>
                <a:t>Types de biens immobiliers:</a:t>
              </a:r>
              <a:br>
                <a:rPr lang="fr-FR" dirty="0">
                  <a:latin typeface="+mn-lt"/>
                </a:rPr>
              </a:br>
              <a:r>
                <a:rPr lang="fr-FR" dirty="0">
                  <a:latin typeface="+mn-lt"/>
                </a:rPr>
                <a:t>      </a:t>
              </a:r>
              <a:r>
                <a:rPr lang="fr-FR" sz="1200" dirty="0">
                  <a:latin typeface="+mn-lt"/>
                </a:rPr>
                <a:t>Appartements (code 2)</a:t>
              </a:r>
              <a:br>
                <a:rPr lang="fr-FR" sz="1200" dirty="0">
                  <a:latin typeface="+mn-lt"/>
                </a:rPr>
              </a:br>
              <a:r>
                <a:rPr lang="fr-FR" sz="1200" dirty="0">
                  <a:latin typeface="+mn-lt"/>
                </a:rPr>
                <a:t>       Locaux industriels, commerciaux ou assimilés (code 4)</a:t>
              </a:r>
              <a:br>
                <a:rPr lang="fr-FR" sz="1200" dirty="0">
                  <a:latin typeface="+mn-lt"/>
                </a:rPr>
              </a:br>
              <a:endParaRPr lang="fr-FR" sz="1200" dirty="0">
                <a:latin typeface="+mn-lt"/>
              </a:endParaRPr>
            </a:p>
            <a:p>
              <a:r>
                <a:rPr lang="fr-FR" dirty="0">
                  <a:solidFill>
                    <a:schemeClr val="tx1">
                      <a:lumMod val="75000"/>
                    </a:schemeClr>
                  </a:solidFill>
                  <a:latin typeface="+mn-lt"/>
                </a:rPr>
                <a:t>Intervalle historique:</a:t>
              </a:r>
              <a:br>
                <a:rPr lang="fr-FR" dirty="0">
                  <a:latin typeface="+mn-lt"/>
                </a:rPr>
              </a:br>
              <a:r>
                <a:rPr lang="fr-FR" dirty="0">
                  <a:latin typeface="+mn-lt"/>
                </a:rPr>
                <a:t>  </a:t>
              </a:r>
              <a:r>
                <a:rPr lang="fr-FR" sz="1200" dirty="0">
                  <a:latin typeface="+mn-lt"/>
                </a:rPr>
                <a:t>- Période : 5 ans</a:t>
              </a:r>
              <a:br>
                <a:rPr lang="fr-FR" sz="1200" dirty="0">
                  <a:latin typeface="+mn-lt"/>
                </a:rPr>
              </a:br>
              <a:r>
                <a:rPr lang="fr-FR" sz="1200" dirty="0">
                  <a:latin typeface="+mn-lt"/>
                </a:rPr>
                <a:t>  - Première date : 02/01/2017</a:t>
              </a:r>
              <a:br>
                <a:rPr lang="fr-FR" sz="1200" dirty="0">
                  <a:latin typeface="+mn-lt"/>
                </a:rPr>
              </a:br>
              <a:r>
                <a:rPr lang="fr-FR" sz="1200" dirty="0">
                  <a:latin typeface="+mn-lt"/>
                </a:rPr>
                <a:t>  - Dernière date : 31/12/2021</a:t>
              </a:r>
              <a:endParaRPr lang="fr-FR" sz="1200" b="1" noProof="0" dirty="0">
                <a:solidFill>
                  <a:srgbClr val="1A3A5C"/>
                </a:solidFill>
                <a:latin typeface="+mn-lt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endParaRPr lang="fr-FR" noProof="0" dirty="0">
                <a:latin typeface="+mn-lt"/>
              </a:endParaRPr>
            </a:p>
          </p:txBody>
        </p:sp>
        <p:sp>
          <p:nvSpPr>
            <p:cNvPr id="5" name="Text 21">
              <a:extLst>
                <a:ext uri="{FF2B5EF4-FFF2-40B4-BE49-F238E27FC236}">
                  <a16:creationId xmlns:a16="http://schemas.microsoft.com/office/drawing/2014/main" id="{46941834-0656-CF1C-AC9C-26C98CFB1E3E}"/>
                </a:ext>
              </a:extLst>
            </p:cNvPr>
            <p:cNvSpPr/>
            <p:nvPr/>
          </p:nvSpPr>
          <p:spPr>
            <a:xfrm>
              <a:off x="1977366" y="4003433"/>
              <a:ext cx="443116" cy="3077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fr-FR" sz="1200" noProof="0" dirty="0">
                  <a:solidFill>
                    <a:srgbClr val="000000"/>
                  </a:solidFill>
                </a:rPr>
                <a:t> 🏠</a:t>
              </a:r>
              <a:endParaRPr lang="fr-FR" sz="1200" noProof="0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AC7C0FF3-FFA2-2AB9-6B59-762F5B8B3927}"/>
                </a:ext>
              </a:extLst>
            </p:cNvPr>
            <p:cNvSpPr txBox="1"/>
            <p:nvPr/>
          </p:nvSpPr>
          <p:spPr>
            <a:xfrm flipH="1">
              <a:off x="2114050" y="4186340"/>
              <a:ext cx="225606" cy="167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fr-FR" sz="1200" noProof="0" dirty="0">
                  <a:solidFill>
                    <a:srgbClr val="000000"/>
                  </a:solidFill>
                  <a:latin typeface="+mn-lt"/>
                </a:rPr>
                <a:t>🏢</a:t>
              </a:r>
              <a:endParaRPr lang="fr-FR" sz="1200" noProof="0" dirty="0">
                <a:latin typeface="+mn-lt"/>
              </a:endParaRP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AD5DD4BE-39D5-31AF-FD74-1BB8CB9556DD}"/>
              </a:ext>
            </a:extLst>
          </p:cNvPr>
          <p:cNvGrpSpPr/>
          <p:nvPr/>
        </p:nvGrpSpPr>
        <p:grpSpPr>
          <a:xfrm>
            <a:off x="191803" y="1745724"/>
            <a:ext cx="4851478" cy="1521353"/>
            <a:chOff x="-77378" y="4635972"/>
            <a:chExt cx="4699273" cy="2500473"/>
          </a:xfrm>
        </p:grpSpPr>
        <p:sp>
          <p:nvSpPr>
            <p:cNvPr id="15" name="Shape 28">
              <a:extLst>
                <a:ext uri="{FF2B5EF4-FFF2-40B4-BE49-F238E27FC236}">
                  <a16:creationId xmlns:a16="http://schemas.microsoft.com/office/drawing/2014/main" id="{FCEF2AAD-B93B-9F9D-7F12-DD1741ED0DA2}"/>
                </a:ext>
              </a:extLst>
            </p:cNvPr>
            <p:cNvSpPr/>
            <p:nvPr/>
          </p:nvSpPr>
          <p:spPr>
            <a:xfrm>
              <a:off x="-71227" y="4635972"/>
              <a:ext cx="4693122" cy="250047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>
                <a:latin typeface="+mn-lt"/>
              </a:endParaRPr>
            </a:p>
          </p:txBody>
        </p:sp>
        <p:sp>
          <p:nvSpPr>
            <p:cNvPr id="16" name="Text 29">
              <a:extLst>
                <a:ext uri="{FF2B5EF4-FFF2-40B4-BE49-F238E27FC236}">
                  <a16:creationId xmlns:a16="http://schemas.microsoft.com/office/drawing/2014/main" id="{67A3007D-DDB4-A22B-0787-7A26CACA915B}"/>
                </a:ext>
              </a:extLst>
            </p:cNvPr>
            <p:cNvSpPr/>
            <p:nvPr/>
          </p:nvSpPr>
          <p:spPr>
            <a:xfrm>
              <a:off x="-77378" y="4729859"/>
              <a:ext cx="4458301" cy="236477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400" noProof="0" dirty="0">
                  <a:solidFill>
                    <a:schemeClr val="tx1">
                      <a:lumMod val="75000"/>
                    </a:schemeClr>
                  </a:solidFill>
                </a:rPr>
                <a:t>Le fichier historique de données immobilières contient:</a:t>
              </a:r>
            </a:p>
            <a:p>
              <a:endParaRPr lang="fr-FR" sz="800" noProof="0" dirty="0">
                <a:solidFill>
                  <a:schemeClr val="bg2"/>
                </a:solidFill>
              </a:endParaRPr>
            </a:p>
            <a:p>
              <a:r>
                <a:rPr lang="fr-FR" sz="1200" noProof="0" dirty="0">
                  <a:solidFill>
                    <a:schemeClr val="bg2"/>
                  </a:solidFill>
                  <a:ea typeface="Calibri" pitchFamily="34" charset="-122"/>
                  <a:cs typeface="Calibri" pitchFamily="34" charset="-120"/>
                </a:rPr>
                <a:t> 📅  Date de mutation </a:t>
              </a:r>
            </a:p>
            <a:p>
              <a:r>
                <a:rPr lang="fr-FR" sz="1200" noProof="0" dirty="0">
                  <a:solidFill>
                    <a:schemeClr val="bg2"/>
                  </a:solidFill>
                  <a:ea typeface="Calibri" pitchFamily="34" charset="-122"/>
                  <a:cs typeface="Calibri" pitchFamily="34" charset="-120"/>
                </a:rPr>
                <a:t> 💶  Valeur foncière (€)</a:t>
              </a:r>
            </a:p>
            <a:p>
              <a:r>
                <a:rPr lang="fr-FR" sz="1200" noProof="0" dirty="0">
                  <a:solidFill>
                    <a:schemeClr val="bg2"/>
                  </a:solidFill>
                  <a:ea typeface="Calibri" pitchFamily="34" charset="-122"/>
                  <a:cs typeface="Calibri" pitchFamily="34" charset="-120"/>
                </a:rPr>
                <a:t> 📐  Surface réelle (m²)</a:t>
              </a:r>
              <a:endParaRPr lang="fr-FR" sz="1200" noProof="0" dirty="0">
                <a:solidFill>
                  <a:schemeClr val="bg2"/>
                </a:solidFill>
              </a:endParaRPr>
            </a:p>
            <a:p>
              <a:r>
                <a:rPr lang="fr-FR" sz="1200" noProof="0" dirty="0">
                  <a:solidFill>
                    <a:schemeClr val="bg2"/>
                  </a:solidFill>
                  <a:ea typeface="Calibri" pitchFamily="34" charset="-122"/>
                  <a:cs typeface="Calibri" pitchFamily="34" charset="-120"/>
                </a:rPr>
                <a:t> 🏷️  Type de bien , </a:t>
              </a:r>
              <a:r>
                <a:rPr lang="fr-FR" sz="1200" noProof="0" dirty="0">
                  <a:solidFill>
                    <a:schemeClr val="bg2"/>
                  </a:solidFill>
                </a:rPr>
                <a:t>Code du type de local</a:t>
              </a:r>
            </a:p>
            <a:p>
              <a:r>
                <a:rPr lang="fr-FR" sz="1200" noProof="0" dirty="0">
                  <a:solidFill>
                    <a:schemeClr val="bg2"/>
                  </a:solidFill>
                  <a:ea typeface="Calibri" pitchFamily="34" charset="-122"/>
                  <a:cs typeface="Calibri" pitchFamily="34" charset="-120"/>
                </a:rPr>
                <a:t> 📍  Code postal,</a:t>
              </a:r>
              <a:r>
                <a:rPr lang="fr-FR" sz="1200" noProof="0" dirty="0">
                  <a:solidFill>
                    <a:schemeClr val="bg2"/>
                  </a:solidFill>
                </a:rPr>
                <a:t> Numéro, Nom de la voie, Nom de la commune</a:t>
              </a:r>
            </a:p>
          </p:txBody>
        </p:sp>
      </p:grpSp>
      <p:sp>
        <p:nvSpPr>
          <p:cNvPr id="27" name="Shape 18">
            <a:extLst>
              <a:ext uri="{FF2B5EF4-FFF2-40B4-BE49-F238E27FC236}">
                <a16:creationId xmlns:a16="http://schemas.microsoft.com/office/drawing/2014/main" id="{3DD98B6C-031A-5722-DFFF-674CF2139626}"/>
              </a:ext>
            </a:extLst>
          </p:cNvPr>
          <p:cNvSpPr/>
          <p:nvPr/>
        </p:nvSpPr>
        <p:spPr>
          <a:xfrm>
            <a:off x="5213350" y="1745724"/>
            <a:ext cx="3738847" cy="3308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Volume des transactions étudiées:</a:t>
            </a:r>
          </a:p>
          <a:p>
            <a:endParaRPr lang="fr-FR" sz="800" dirty="0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fr-FR" sz="1200" noProof="0" dirty="0">
                <a:latin typeface="+mn-lt"/>
              </a:rPr>
              <a:t> Total :</a:t>
            </a:r>
            <a:r>
              <a:rPr lang="fr-FR" sz="1200" b="1" noProof="0" dirty="0">
                <a:latin typeface="+mn-lt"/>
              </a:rPr>
              <a:t>26196 </a:t>
            </a:r>
            <a:r>
              <a:rPr lang="fr-FR" sz="1200" dirty="0">
                <a:latin typeface="+mn-lt"/>
              </a:rPr>
              <a:t>transactions</a:t>
            </a:r>
            <a:endParaRPr lang="fr-FR" sz="1200" b="1" noProof="0" dirty="0">
              <a:latin typeface="+mn-lt"/>
            </a:endParaRPr>
          </a:p>
          <a:p>
            <a:r>
              <a:rPr lang="fr-FR" sz="1200" dirty="0">
                <a:solidFill>
                  <a:schemeClr val="bg2"/>
                </a:solidFill>
                <a:latin typeface="+mn-lt"/>
                <a:ea typeface="Calibri" pitchFamily="34" charset="-122"/>
                <a:cs typeface="Calibri" pitchFamily="34" charset="-120"/>
              </a:rPr>
              <a:t> Appartements :</a:t>
            </a:r>
            <a:r>
              <a:rPr lang="fr-FR" sz="1200" b="1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24353</a:t>
            </a:r>
            <a:endParaRPr lang="fr-FR" sz="1200" b="1" noProof="0" dirty="0">
              <a:solidFill>
                <a:schemeClr val="accent3">
                  <a:lumMod val="75000"/>
                </a:schemeClr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r>
              <a:rPr lang="fr-FR" sz="1200" dirty="0">
                <a:solidFill>
                  <a:schemeClr val="bg2"/>
                </a:solidFill>
                <a:latin typeface="+mn-lt"/>
                <a:ea typeface="Calibri" pitchFamily="34" charset="-122"/>
                <a:cs typeface="Calibri" pitchFamily="34" charset="-120"/>
              </a:rPr>
              <a:t> Locaux commerciaux : </a:t>
            </a:r>
            <a:r>
              <a:rPr lang="fr-FR" sz="1200" b="1" dirty="0">
                <a:solidFill>
                  <a:schemeClr val="tx1"/>
                </a:solidFill>
                <a:latin typeface="+mn-lt"/>
              </a:rPr>
              <a:t>1843</a:t>
            </a:r>
          </a:p>
          <a:p>
            <a:endParaRPr lang="fr-FR" b="1" noProof="0" dirty="0">
              <a:solidFill>
                <a:srgbClr val="1A3A5C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noProof="0" dirty="0">
              <a:latin typeface="+mn-lt"/>
            </a:endParaRPr>
          </a:p>
        </p:txBody>
      </p:sp>
      <p:graphicFrame>
        <p:nvGraphicFramePr>
          <p:cNvPr id="26" name="Graphique 25">
            <a:extLst>
              <a:ext uri="{FF2B5EF4-FFF2-40B4-BE49-F238E27FC236}">
                <a16:creationId xmlns:a16="http://schemas.microsoft.com/office/drawing/2014/main" id="{E3D25444-0AC2-274F-BE07-9933E0613F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1090308"/>
              </p:ext>
            </p:extLst>
          </p:nvPr>
        </p:nvGraphicFramePr>
        <p:xfrm>
          <a:off x="5368273" y="2628900"/>
          <a:ext cx="3428999" cy="2425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ZoneTexte 29">
            <a:extLst>
              <a:ext uri="{FF2B5EF4-FFF2-40B4-BE49-F238E27FC236}">
                <a16:creationId xmlns:a16="http://schemas.microsoft.com/office/drawing/2014/main" id="{108299FF-C2E1-9EA1-3A7F-5C2BDC975A43}"/>
              </a:ext>
            </a:extLst>
          </p:cNvPr>
          <p:cNvSpPr txBox="1"/>
          <p:nvPr/>
        </p:nvSpPr>
        <p:spPr>
          <a:xfrm>
            <a:off x="2832100" y="1224907"/>
            <a:ext cx="3790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Analyse du Dataset Immobilier </a:t>
            </a:r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67507FFD-F470-75DD-E546-0D2250536B83}"/>
              </a:ext>
            </a:extLst>
          </p:cNvPr>
          <p:cNvSpPr/>
          <p:nvPr/>
        </p:nvSpPr>
        <p:spPr>
          <a:xfrm>
            <a:off x="5213348" y="1745724"/>
            <a:ext cx="36000" cy="3312000"/>
          </a:xfrm>
          <a:prstGeom prst="rect">
            <a:avLst/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r>
              <a:rPr lang="fr-FR" dirty="0">
                <a:latin typeface="+mn-lt"/>
              </a:rPr>
              <a:t>  </a:t>
            </a: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5400ADC5-C8BB-E9EB-29DC-DF620846C525}"/>
              </a:ext>
            </a:extLst>
          </p:cNvPr>
          <p:cNvSpPr/>
          <p:nvPr/>
        </p:nvSpPr>
        <p:spPr>
          <a:xfrm>
            <a:off x="198153" y="1745724"/>
            <a:ext cx="36000" cy="1512000"/>
          </a:xfrm>
          <a:prstGeom prst="rect">
            <a:avLst/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r>
              <a:rPr lang="fr-FR" dirty="0">
                <a:latin typeface="+mn-lt"/>
              </a:rPr>
              <a:t>  </a:t>
            </a:r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3240338E-0609-55F4-4E87-5C2A841E56F3}"/>
              </a:ext>
            </a:extLst>
          </p:cNvPr>
          <p:cNvSpPr/>
          <p:nvPr/>
        </p:nvSpPr>
        <p:spPr>
          <a:xfrm>
            <a:off x="191803" y="3314847"/>
            <a:ext cx="36000" cy="1728000"/>
          </a:xfrm>
          <a:prstGeom prst="rect">
            <a:avLst/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r>
              <a:rPr lang="fr-FR" dirty="0">
                <a:latin typeface="+mn-lt"/>
              </a:rPr>
              <a:t> 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0651A86-9989-25F5-A68D-D9DB2A2604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41847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4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2179F79-72A4-1C48-4260-7E25CB31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DC3CA94B-01E0-4E7F-3EC0-50CAC51DC7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950" y="4832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-FR" sz="2940" noProof="0" dirty="0">
                <a:latin typeface="+mn-lt"/>
                <a:ea typeface="Montserrat"/>
                <a:cs typeface="Montserrat"/>
                <a:sym typeface="Montserrat"/>
              </a:rPr>
              <a:t>Analyse du marché de l’immobilier</a:t>
            </a:r>
            <a:endParaRPr lang="fr-FR" sz="2520" noProof="0" dirty="0">
              <a:latin typeface="+mn-lt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A066B40-07A7-CC24-0A22-33D21AC5C454}"/>
              </a:ext>
            </a:extLst>
          </p:cNvPr>
          <p:cNvSpPr/>
          <p:nvPr/>
        </p:nvSpPr>
        <p:spPr>
          <a:xfrm>
            <a:off x="7530954" y="1655534"/>
            <a:ext cx="1574800" cy="3182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2000" b="1" noProof="0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Points clés</a:t>
            </a:r>
            <a:endParaRPr lang="fr-FR" sz="2000" noProof="0" dirty="0">
              <a:solidFill>
                <a:schemeClr val="tx1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noProof="0" dirty="0">
                <a:solidFill>
                  <a:schemeClr val="bg2"/>
                </a:solidFill>
                <a:latin typeface="+mn-lt"/>
              </a:rPr>
              <a:t>🔼 </a:t>
            </a:r>
            <a:r>
              <a:rPr lang="fr-FR" sz="1200" dirty="0">
                <a:latin typeface="+mn-lt"/>
              </a:rPr>
              <a:t>Forte hausse entre 2017 et 2019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noProof="0" dirty="0">
                <a:solidFill>
                  <a:schemeClr val="bg2"/>
                </a:solidFill>
                <a:latin typeface="+mn-lt"/>
              </a:rPr>
              <a:t>📈 Pic en </a:t>
            </a:r>
            <a:r>
              <a:rPr lang="fr-FR" sz="1200" b="1" noProof="0" dirty="0">
                <a:solidFill>
                  <a:schemeClr val="bg2"/>
                </a:solidFill>
                <a:latin typeface="+mn-lt"/>
              </a:rPr>
              <a:t>2020 </a:t>
            </a:r>
            <a:r>
              <a:rPr lang="fr-FR" sz="1200" noProof="0" dirty="0">
                <a:solidFill>
                  <a:schemeClr val="bg2"/>
                </a:solidFill>
                <a:latin typeface="+mn-lt"/>
              </a:rPr>
              <a:t>autour de </a:t>
            </a:r>
            <a:r>
              <a:rPr lang="fr-FR" sz="1200" b="1" noProof="0" dirty="0">
                <a:solidFill>
                  <a:schemeClr val="bg2"/>
                </a:solidFill>
                <a:latin typeface="+mn-lt"/>
              </a:rPr>
              <a:t>10 600</a:t>
            </a:r>
            <a:r>
              <a:rPr lang="fr-FR" sz="1200" noProof="0" dirty="0">
                <a:solidFill>
                  <a:schemeClr val="bg2"/>
                </a:solidFill>
                <a:latin typeface="+mn-lt"/>
              </a:rPr>
              <a:t> </a:t>
            </a:r>
            <a:r>
              <a:rPr lang="fr-FR" sz="1200" b="1" noProof="0" dirty="0">
                <a:solidFill>
                  <a:schemeClr val="bg2"/>
                </a:solidFill>
                <a:latin typeface="+mn-lt"/>
              </a:rPr>
              <a:t>€/m²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noProof="0" dirty="0">
                <a:solidFill>
                  <a:schemeClr val="bg2"/>
                </a:solidFill>
                <a:latin typeface="+mn-lt"/>
              </a:rPr>
              <a:t>📉 Légère baisse en </a:t>
            </a:r>
            <a:r>
              <a:rPr lang="fr-FR" sz="1200" b="1" noProof="0" dirty="0">
                <a:solidFill>
                  <a:schemeClr val="bg2"/>
                </a:solidFill>
                <a:latin typeface="+mn-lt"/>
              </a:rPr>
              <a:t>2021</a:t>
            </a:r>
            <a:r>
              <a:rPr lang="fr-FR" sz="1200" noProof="0" dirty="0">
                <a:solidFill>
                  <a:schemeClr val="bg2"/>
                </a:solidFill>
                <a:latin typeface="+mn-lt"/>
              </a:rPr>
              <a:t> autour de </a:t>
            </a:r>
            <a:r>
              <a:rPr lang="fr-FR" sz="1200" b="1" noProof="0" dirty="0">
                <a:solidFill>
                  <a:schemeClr val="bg2"/>
                </a:solidFill>
                <a:latin typeface="+mn-lt"/>
              </a:rPr>
              <a:t>10 400 € / m²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noProof="0" dirty="0">
                <a:solidFill>
                  <a:schemeClr val="bg2"/>
                </a:solidFill>
                <a:latin typeface="+mn-lt"/>
              </a:rPr>
              <a:t>🏙️ </a:t>
            </a:r>
            <a:r>
              <a:rPr lang="fr-FR" sz="1200" dirty="0">
                <a:latin typeface="+mn-lt"/>
              </a:rPr>
              <a:t>Marché parisien globalement dynamique</a:t>
            </a: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646D4F2-C471-09DC-C9D4-8116FA1DA05B}"/>
              </a:ext>
            </a:extLst>
          </p:cNvPr>
          <p:cNvSpPr txBox="1"/>
          <p:nvPr/>
        </p:nvSpPr>
        <p:spPr>
          <a:xfrm>
            <a:off x="556358" y="1324686"/>
            <a:ext cx="782955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1800" noProof="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</a:rPr>
              <a:t>Évolution du prix moyen au m² des appartements à Paris (2017-2021)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FEF2520-9121-B1A4-6AF1-6E3E96277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6" y="1604250"/>
            <a:ext cx="7492708" cy="3539250"/>
          </a:xfrm>
          <a:prstGeom prst="rect">
            <a:avLst/>
          </a:prstGeom>
        </p:spPr>
      </p:pic>
      <p:sp>
        <p:nvSpPr>
          <p:cNvPr id="16" name="Shape 15">
            <a:extLst>
              <a:ext uri="{FF2B5EF4-FFF2-40B4-BE49-F238E27FC236}">
                <a16:creationId xmlns:a16="http://schemas.microsoft.com/office/drawing/2014/main" id="{6038017D-A1C6-53BE-7D21-BE06D6301CD0}"/>
              </a:ext>
            </a:extLst>
          </p:cNvPr>
          <p:cNvSpPr/>
          <p:nvPr/>
        </p:nvSpPr>
        <p:spPr>
          <a:xfrm>
            <a:off x="7530954" y="1662698"/>
            <a:ext cx="36000" cy="3168000"/>
          </a:xfrm>
          <a:prstGeom prst="rect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tx1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FAB7866-F444-657A-AB9C-A311A8E73F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817401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j-lt"/>
              </a:rPr>
              <a:t>5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8980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61FEB4F-3B89-80C7-4575-44FA8BE90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5CCCF99A-0217-7729-F3CC-ED59C42B8C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470" y="465796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+mn-l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>
              <a:latin typeface="+mn-l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B0EB82C-4BBD-487C-C56D-AAC045A4F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82" y="1610693"/>
            <a:ext cx="7178118" cy="3532758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9D416299-9389-2E44-B8C6-9BC610E89E2E}"/>
              </a:ext>
            </a:extLst>
          </p:cNvPr>
          <p:cNvSpPr/>
          <p:nvPr/>
        </p:nvSpPr>
        <p:spPr>
          <a:xfrm>
            <a:off x="7510202" y="1674046"/>
            <a:ext cx="1574800" cy="31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2000" b="1" noProof="0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Points clés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1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noProof="0" dirty="0">
                <a:solidFill>
                  <a:schemeClr val="bg2"/>
                </a:solidFill>
                <a:latin typeface="+mn-lt"/>
              </a:rPr>
              <a:t>🔼 </a:t>
            </a:r>
            <a:r>
              <a:rPr lang="fr-FR" sz="1200" dirty="0">
                <a:latin typeface="+mn-lt"/>
              </a:rPr>
              <a:t>Forte hausse entre 2017 et 2019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noProof="0" dirty="0">
                <a:solidFill>
                  <a:schemeClr val="bg2"/>
                </a:solidFill>
                <a:latin typeface="+mn-lt"/>
              </a:rPr>
              <a:t>📈 Pic en </a:t>
            </a:r>
            <a:r>
              <a:rPr lang="fr-FR" sz="1200" b="1" noProof="0" dirty="0">
                <a:solidFill>
                  <a:schemeClr val="bg2"/>
                </a:solidFill>
                <a:latin typeface="+mn-lt"/>
              </a:rPr>
              <a:t>2020 </a:t>
            </a:r>
            <a:r>
              <a:rPr lang="fr-FR" sz="1200" noProof="0" dirty="0">
                <a:solidFill>
                  <a:schemeClr val="bg2"/>
                </a:solidFill>
                <a:latin typeface="+mn-lt"/>
              </a:rPr>
              <a:t>autour de </a:t>
            </a:r>
            <a:r>
              <a:rPr lang="fr-FR" sz="1200" b="1" noProof="0" dirty="0">
                <a:solidFill>
                  <a:schemeClr val="bg2"/>
                </a:solidFill>
                <a:latin typeface="+mn-lt"/>
              </a:rPr>
              <a:t>13 </a:t>
            </a:r>
            <a:r>
              <a:rPr lang="fr-FR" sz="1200" b="1" dirty="0">
                <a:solidFill>
                  <a:schemeClr val="bg2"/>
                </a:solidFill>
                <a:latin typeface="+mn-lt"/>
              </a:rPr>
              <a:t>4</a:t>
            </a:r>
            <a:r>
              <a:rPr lang="fr-FR" sz="1200" b="1" noProof="0" dirty="0">
                <a:solidFill>
                  <a:schemeClr val="bg2"/>
                </a:solidFill>
                <a:latin typeface="+mn-lt"/>
              </a:rPr>
              <a:t>00 €/m²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noProof="0" dirty="0">
                <a:solidFill>
                  <a:schemeClr val="bg2"/>
                </a:solidFill>
                <a:latin typeface="+mn-lt"/>
              </a:rPr>
              <a:t>📉 Légère baisse en </a:t>
            </a:r>
            <a:r>
              <a:rPr lang="fr-FR" sz="1200" b="1" noProof="0" dirty="0">
                <a:solidFill>
                  <a:schemeClr val="bg2"/>
                </a:solidFill>
                <a:latin typeface="+mn-lt"/>
              </a:rPr>
              <a:t>2021</a:t>
            </a:r>
            <a:r>
              <a:rPr lang="fr-FR" sz="1200" noProof="0" dirty="0">
                <a:solidFill>
                  <a:schemeClr val="bg2"/>
                </a:solidFill>
                <a:latin typeface="+mn-lt"/>
              </a:rPr>
              <a:t> autour de </a:t>
            </a:r>
            <a:r>
              <a:rPr lang="fr-FR" sz="1200" b="1" noProof="0" dirty="0">
                <a:solidFill>
                  <a:schemeClr val="bg2"/>
                </a:solidFill>
                <a:latin typeface="+mn-lt"/>
              </a:rPr>
              <a:t>13 300 €/m²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dirty="0">
                <a:latin typeface="+mn-lt"/>
              </a:rPr>
              <a:t>👉 Zone parmi les plus chères de Paris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F7EB5A1C-54E8-F1F4-043B-70F2FCB351F8}"/>
              </a:ext>
            </a:extLst>
          </p:cNvPr>
          <p:cNvSpPr/>
          <p:nvPr/>
        </p:nvSpPr>
        <p:spPr>
          <a:xfrm>
            <a:off x="7506742" y="1674047"/>
            <a:ext cx="36000" cy="3132000"/>
          </a:xfrm>
          <a:prstGeom prst="rect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tx1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0A078D4-12A8-0C56-25ED-12A126EA1537}"/>
              </a:ext>
            </a:extLst>
          </p:cNvPr>
          <p:cNvSpPr txBox="1"/>
          <p:nvPr/>
        </p:nvSpPr>
        <p:spPr>
          <a:xfrm>
            <a:off x="572192" y="1241361"/>
            <a:ext cx="8512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Évolution du prix au m² des appartements dans le 1er arrondissement (75001)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A2D52BD-AD34-0B00-B2DA-5B1D312C14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844081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6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910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FB5D0C2-9D96-A4A3-A5B0-8C7DD6E47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76177517-21E9-7218-AAFA-91E9994CFD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9570" y="47603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+mn-l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>
              <a:latin typeface="+mn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74F3BF9-DB23-19B3-7C9A-CA8018A01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684297"/>
            <a:ext cx="7531247" cy="345920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A14A8A9-4EFF-A2C5-B4FC-2F48159AED4A}"/>
              </a:ext>
            </a:extLst>
          </p:cNvPr>
          <p:cNvSpPr txBox="1"/>
          <p:nvPr/>
        </p:nvSpPr>
        <p:spPr>
          <a:xfrm>
            <a:off x="632460" y="1404732"/>
            <a:ext cx="798786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1800" b="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</a:rPr>
              <a:t>Évolution du prix moyen au m² des appartements par arrondissement à Paris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1747A63-CCD7-E35F-ACF6-5983616C1FEA}"/>
              </a:ext>
            </a:extLst>
          </p:cNvPr>
          <p:cNvSpPr/>
          <p:nvPr/>
        </p:nvSpPr>
        <p:spPr>
          <a:xfrm>
            <a:off x="7531246" y="1804054"/>
            <a:ext cx="1573200" cy="30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2000" b="1" noProof="0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Points clés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b="1" noProof="0" dirty="0">
              <a:solidFill>
                <a:schemeClr val="tx1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dirty="0">
                <a:latin typeface="+mn-lt"/>
              </a:rPr>
              <a:t>📍Dans </a:t>
            </a:r>
            <a:r>
              <a:rPr lang="fr-FR" sz="1200" b="1" dirty="0">
                <a:latin typeface="+mn-lt"/>
              </a:rPr>
              <a:t>les 20 </a:t>
            </a:r>
            <a:r>
              <a:rPr lang="fr-FR" sz="1200" dirty="0">
                <a:latin typeface="+mn-lt"/>
              </a:rPr>
              <a:t>arrondissements</a:t>
            </a:r>
            <a:endParaRPr lang="fr-FR" sz="1200" noProof="0" dirty="0">
              <a:solidFill>
                <a:schemeClr val="tx1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100" noProof="0" dirty="0">
              <a:solidFill>
                <a:schemeClr val="bg2"/>
              </a:solidFill>
              <a:latin typeface="+mn-lt"/>
            </a:endParaRPr>
          </a:p>
          <a:p>
            <a:r>
              <a:rPr lang="fr-FR" sz="1200" b="1" dirty="0">
                <a:latin typeface="+mn-lt"/>
              </a:rPr>
              <a:t>💰</a:t>
            </a:r>
            <a:r>
              <a:rPr lang="fr-FR" sz="1200" dirty="0">
                <a:latin typeface="+mn-lt"/>
              </a:rPr>
              <a:t>Arrondissements les </a:t>
            </a:r>
            <a:r>
              <a:rPr lang="fr-FR" sz="1200" b="1" dirty="0">
                <a:latin typeface="+mn-lt"/>
              </a:rPr>
              <a:t>plus chers </a:t>
            </a:r>
            <a:r>
              <a:rPr lang="fr-FR" sz="1200" dirty="0">
                <a:latin typeface="+mn-lt"/>
              </a:rPr>
              <a:t>(&gt; 12 000 €/m²) :</a:t>
            </a:r>
            <a:r>
              <a:rPr lang="fr-FR" sz="1200" b="1" dirty="0">
                <a:latin typeface="+mn-lt"/>
              </a:rPr>
              <a:t> 6e,</a:t>
            </a:r>
            <a:r>
              <a:rPr lang="fr-FR" sz="1200" dirty="0">
                <a:latin typeface="+mn-lt"/>
              </a:rPr>
              <a:t> </a:t>
            </a:r>
            <a:r>
              <a:rPr lang="fr-FR" sz="1200" b="1" dirty="0">
                <a:latin typeface="+mn-lt"/>
              </a:rPr>
              <a:t>4e, 1er, 7e</a:t>
            </a:r>
          </a:p>
          <a:p>
            <a:endParaRPr lang="fr-FR" sz="1200" b="1" dirty="0">
              <a:latin typeface="+mn-lt"/>
            </a:endParaRPr>
          </a:p>
          <a:p>
            <a:r>
              <a:rPr lang="fr-FR" sz="1200" b="1" dirty="0">
                <a:latin typeface="+mn-lt"/>
              </a:rPr>
              <a:t>💸 </a:t>
            </a:r>
            <a:r>
              <a:rPr lang="fr-FR" sz="1200" dirty="0">
                <a:latin typeface="+mn-lt"/>
              </a:rPr>
              <a:t>Arrondissements les </a:t>
            </a:r>
            <a:r>
              <a:rPr lang="fr-FR" sz="1200" b="1" dirty="0">
                <a:latin typeface="+mn-lt"/>
              </a:rPr>
              <a:t>moins chers </a:t>
            </a:r>
            <a:r>
              <a:rPr lang="fr-FR" sz="1200" dirty="0">
                <a:latin typeface="+mn-lt"/>
              </a:rPr>
              <a:t>(&lt; 9 500 €/m²) : </a:t>
            </a:r>
            <a:r>
              <a:rPr lang="fr-FR" sz="1200" b="1" dirty="0">
                <a:latin typeface="+mn-lt"/>
              </a:rPr>
              <a:t>18e, 19e, 20e</a:t>
            </a:r>
            <a:endParaRPr lang="fr-FR" sz="1200" b="1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DB7DD818-90A8-0DC0-0898-6956D339CA80}"/>
              </a:ext>
            </a:extLst>
          </p:cNvPr>
          <p:cNvSpPr/>
          <p:nvPr/>
        </p:nvSpPr>
        <p:spPr>
          <a:xfrm>
            <a:off x="7509533" y="1804053"/>
            <a:ext cx="36000" cy="3024000"/>
          </a:xfrm>
          <a:prstGeom prst="rect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tx1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79B4740-87E6-83D9-A773-98A3E9CF048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20320" y="4828054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7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7902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00F7F4C-49D8-D77B-A8F4-9A946227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F413BEF6-3E19-3B39-2BB8-199CDCE317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950" y="47603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+mn-l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>
              <a:latin typeface="+mn-l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8C9782-4B52-438C-D96B-9B560DCD5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6169"/>
            <a:ext cx="7399020" cy="350733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B924E2F-33F9-95C8-6136-0852123A0B75}"/>
              </a:ext>
            </a:extLst>
          </p:cNvPr>
          <p:cNvSpPr txBox="1"/>
          <p:nvPr/>
        </p:nvSpPr>
        <p:spPr>
          <a:xfrm>
            <a:off x="99060" y="1342542"/>
            <a:ext cx="760476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1800" dirty="0">
                <a:latin typeface="+mn-lt"/>
              </a:rPr>
              <a:t>Historique des transactions des appartements dans le 6ᵉ arrondissement</a:t>
            </a:r>
            <a:endParaRPr lang="fr-FR" sz="1800" b="0" dirty="0">
              <a:solidFill>
                <a:schemeClr val="tx1">
                  <a:lumMod val="50000"/>
                </a:schemeClr>
              </a:solidFill>
              <a:effectLst/>
              <a:latin typeface="+mn-lt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35F84A6-D7CC-B4F5-75CE-7496000BB600}"/>
              </a:ext>
            </a:extLst>
          </p:cNvPr>
          <p:cNvSpPr/>
          <p:nvPr/>
        </p:nvSpPr>
        <p:spPr>
          <a:xfrm>
            <a:off x="7471740" y="1738692"/>
            <a:ext cx="1573200" cy="3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500" b="1" noProof="0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Points clés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000" b="1" noProof="0" dirty="0">
              <a:solidFill>
                <a:schemeClr val="tx1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dirty="0">
                <a:latin typeface="+mn-lt"/>
              </a:rPr>
              <a:t>📍le 6ᵉ</a:t>
            </a:r>
            <a:r>
              <a:rPr lang="fr-FR" sz="1200" b="1" dirty="0">
                <a:latin typeface="+mn-lt"/>
              </a:rPr>
              <a:t> </a:t>
            </a:r>
            <a:r>
              <a:rPr lang="fr-FR" sz="1200" dirty="0">
                <a:latin typeface="+mn-lt"/>
              </a:rPr>
              <a:t>arrondissements</a:t>
            </a:r>
            <a:endParaRPr lang="fr-FR" sz="1200" dirty="0">
              <a:solidFill>
                <a:schemeClr val="tx1"/>
              </a:solidFill>
              <a:latin typeface="+mn-lt"/>
            </a:endParaRPr>
          </a:p>
          <a:p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r>
              <a:rPr lang="fr-FR" sz="1200" dirty="0">
                <a:latin typeface="+mn-lt"/>
              </a:rPr>
              <a:t>📈 Hausse 2017–2020 : </a:t>
            </a:r>
            <a:r>
              <a:rPr lang="fr-FR" sz="1200" b="1" dirty="0">
                <a:latin typeface="+mn-lt"/>
              </a:rPr>
              <a:t>~12 000 → ~14 000 €/m²</a:t>
            </a:r>
            <a:endParaRPr lang="fr-FR" sz="1200" b="1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dirty="0">
                <a:latin typeface="+mn-lt"/>
              </a:rPr>
              <a:t>⚖️Stabilisation à partir de 2020 : entre </a:t>
            </a:r>
            <a:r>
              <a:rPr lang="fr-FR" sz="1200" b="1" dirty="0">
                <a:latin typeface="+mn-lt"/>
              </a:rPr>
              <a:t>~13 000 et ~14 000 €/m²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200" dirty="0">
                <a:latin typeface="+mn-lt"/>
              </a:rPr>
              <a:t>📉 </a:t>
            </a:r>
            <a:r>
              <a:rPr lang="fr-FR" sz="1200" b="1" dirty="0">
                <a:latin typeface="+mn-lt"/>
              </a:rPr>
              <a:t>Légère baisse fin 2021</a:t>
            </a:r>
            <a:endParaRPr lang="fr-FR" sz="1200" noProof="0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8A145FEA-EB69-74A8-5815-00E868428CCD}"/>
              </a:ext>
            </a:extLst>
          </p:cNvPr>
          <p:cNvSpPr/>
          <p:nvPr/>
        </p:nvSpPr>
        <p:spPr>
          <a:xfrm>
            <a:off x="7476711" y="1738692"/>
            <a:ext cx="36000" cy="3096000"/>
          </a:xfrm>
          <a:prstGeom prst="rect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tx1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DEBF811-1D5F-4FE1-1F9D-A66D425F25F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828592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8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0727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35BB039-DD7D-3E0A-E03F-483449E20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32F15486-533D-2E2B-C6F0-4D106327FB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950" y="47603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+mn-l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>
              <a:latin typeface="+mn-lt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6E0FB3EB-5A45-48EA-C929-D50D55E08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767008"/>
            <a:ext cx="4149090" cy="3376491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09697A85-B26C-60EE-0389-6958D9BEF45C}"/>
              </a:ext>
            </a:extLst>
          </p:cNvPr>
          <p:cNvSpPr txBox="1"/>
          <p:nvPr/>
        </p:nvSpPr>
        <p:spPr>
          <a:xfrm>
            <a:off x="5871150" y="1844040"/>
            <a:ext cx="2369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+mn-lt"/>
              </a:rPr>
              <a:t>Coeff de corrélation = </a:t>
            </a:r>
            <a:r>
              <a:rPr lang="fr-FR" sz="1200" b="1" dirty="0">
                <a:latin typeface="+mn-lt"/>
              </a:rPr>
              <a:t>0.98</a:t>
            </a:r>
          </a:p>
          <a:p>
            <a:r>
              <a:rPr lang="fr-FR" sz="1200" dirty="0">
                <a:solidFill>
                  <a:schemeClr val="bg2"/>
                </a:solidFill>
                <a:latin typeface="+mn-lt"/>
              </a:rPr>
              <a:t> P</a:t>
            </a:r>
            <a:r>
              <a:rPr lang="fr-FR" sz="1200" dirty="0">
                <a:latin typeface="+mn-lt"/>
              </a:rPr>
              <a:t>-value </a:t>
            </a:r>
            <a:r>
              <a:rPr lang="fr-FR" sz="1200" b="1" dirty="0">
                <a:latin typeface="+mn-lt"/>
              </a:rPr>
              <a:t>= 0.00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58B11651-1CC4-1444-117C-EBF3C6B09A77}"/>
              </a:ext>
            </a:extLst>
          </p:cNvPr>
          <p:cNvCxnSpPr/>
          <p:nvPr/>
        </p:nvCxnSpPr>
        <p:spPr>
          <a:xfrm>
            <a:off x="5391090" y="1970424"/>
            <a:ext cx="48006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85378F07-5B1E-8932-D839-712FECCDFE85}"/>
              </a:ext>
            </a:extLst>
          </p:cNvPr>
          <p:cNvSpPr txBox="1"/>
          <p:nvPr/>
        </p:nvSpPr>
        <p:spPr>
          <a:xfrm>
            <a:off x="5215890" y="1233888"/>
            <a:ext cx="3848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Corrélation entre la valeur foncière et la surface des appartements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028A2AC-FBDB-384D-4FF0-FB66449CF0EA}"/>
              </a:ext>
            </a:extLst>
          </p:cNvPr>
          <p:cNvSpPr txBox="1"/>
          <p:nvPr/>
        </p:nvSpPr>
        <p:spPr>
          <a:xfrm>
            <a:off x="243930" y="1251967"/>
            <a:ext cx="48214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Corrélation entre le prix au m² et la date pour les appartements situés dans le 6ᵉ arrondissement.</a:t>
            </a:r>
            <a:endParaRPr lang="fr-FR" sz="1600" b="0" i="0" u="none" strike="noStrike" cap="none" dirty="0">
              <a:solidFill>
                <a:schemeClr val="tx1">
                  <a:lumMod val="50000"/>
                </a:schemeClr>
              </a:solidFill>
              <a:effectLst/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3329BC0-014F-D544-CAA1-249A93BA30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40336" y="4843636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9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D7712CA-4A63-EBDC-EC98-F5523FA97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8663"/>
            <a:ext cx="4704430" cy="3324837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5925783C-BD6B-D708-3444-F7E2050316C6}"/>
              </a:ext>
            </a:extLst>
          </p:cNvPr>
          <p:cNvSpPr txBox="1"/>
          <p:nvPr/>
        </p:nvSpPr>
        <p:spPr>
          <a:xfrm>
            <a:off x="773430" y="1851660"/>
            <a:ext cx="2369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+mn-lt"/>
              </a:rPr>
              <a:t>Coeff de corrélation = </a:t>
            </a:r>
            <a:r>
              <a:rPr lang="fr-FR" sz="1200" b="1" dirty="0">
                <a:latin typeface="+mn-lt"/>
              </a:rPr>
              <a:t>0.90</a:t>
            </a:r>
          </a:p>
          <a:p>
            <a:r>
              <a:rPr lang="fr-FR" sz="1200" dirty="0">
                <a:solidFill>
                  <a:schemeClr val="bg2"/>
                </a:solidFill>
                <a:latin typeface="+mn-lt"/>
              </a:rPr>
              <a:t> P</a:t>
            </a:r>
            <a:r>
              <a:rPr lang="fr-FR" sz="1200" dirty="0">
                <a:latin typeface="+mn-lt"/>
              </a:rPr>
              <a:t>-value </a:t>
            </a:r>
            <a:r>
              <a:rPr lang="fr-FR" sz="1200" b="1" dirty="0">
                <a:latin typeface="+mn-lt"/>
              </a:rPr>
              <a:t>~ 0.00</a:t>
            </a:r>
          </a:p>
        </p:txBody>
      </p:sp>
    </p:spTree>
    <p:extLst>
      <p:ext uri="{BB962C8B-B14F-4D97-AF65-F5344CB8AC3E}">
        <p14:creationId xmlns:p14="http://schemas.microsoft.com/office/powerpoint/2010/main" val="3206917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678C314-4580-2461-F655-C5D4FCC1E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BFF23D3D-AA8F-4D0C-7601-E8CFA2A871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46841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+mn-l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>
              <a:latin typeface="+mn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B9ECB1-6D24-AF72-DA74-C9FE09EBAA19}"/>
              </a:ext>
            </a:extLst>
          </p:cNvPr>
          <p:cNvSpPr txBox="1"/>
          <p:nvPr/>
        </p:nvSpPr>
        <p:spPr>
          <a:xfrm>
            <a:off x="727650" y="1362050"/>
            <a:ext cx="7581764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fr-FR" sz="18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Évolution des prix au mètre carré selon le type de bien (2017–2021)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FB1EBC8-031E-716E-9CD7-EB59F5F09DAC}"/>
              </a:ext>
            </a:extLst>
          </p:cNvPr>
          <p:cNvSpPr/>
          <p:nvPr/>
        </p:nvSpPr>
        <p:spPr>
          <a:xfrm>
            <a:off x="7526414" y="1726982"/>
            <a:ext cx="1573200" cy="31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2000" b="1" noProof="0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Points clés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800" b="1" noProof="0" dirty="0">
              <a:solidFill>
                <a:schemeClr val="tx1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100" dirty="0">
                <a:latin typeface="+mn-lt"/>
              </a:rPr>
              <a:t>📈 Hausse continue des locaux commerciaux : </a:t>
            </a:r>
          </a:p>
          <a:p>
            <a:pPr lvl="0"/>
            <a:r>
              <a:rPr lang="fr-FR" sz="1100" dirty="0">
                <a:latin typeface="+mn-lt"/>
              </a:rPr>
              <a:t>de </a:t>
            </a:r>
            <a:r>
              <a:rPr lang="fr-FR" sz="1100" b="1" dirty="0">
                <a:latin typeface="+mn-lt"/>
              </a:rPr>
              <a:t>~10 900 €/m² à ~12 000 €/m²</a:t>
            </a:r>
          </a:p>
          <a:p>
            <a:pPr lvl="0"/>
            <a:endParaRPr lang="fr-FR" sz="1200" dirty="0">
              <a:latin typeface="+mn-lt"/>
            </a:endParaRPr>
          </a:p>
          <a:p>
            <a:r>
              <a:rPr lang="fr-FR" sz="1200" dirty="0">
                <a:latin typeface="+mn-lt"/>
              </a:rPr>
              <a:t>⏸️ Ralentissement en 2020 </a:t>
            </a:r>
          </a:p>
          <a:p>
            <a:r>
              <a:rPr lang="fr-FR" sz="1200" dirty="0">
                <a:latin typeface="+mn-lt"/>
              </a:rPr>
              <a:t>Reprise modérée ensuite </a:t>
            </a:r>
          </a:p>
          <a:p>
            <a:endParaRPr lang="fr-FR" sz="1200" dirty="0">
              <a:latin typeface="+mn-lt"/>
            </a:endParaRPr>
          </a:p>
          <a:p>
            <a:r>
              <a:rPr lang="fr-FR" sz="1200" dirty="0">
                <a:latin typeface="+mn-lt"/>
              </a:rPr>
              <a:t>💼 Les locaux commerciaux sont globalement plus chers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200" noProof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003C767D-B18E-0945-C591-8C486879E21F}"/>
              </a:ext>
            </a:extLst>
          </p:cNvPr>
          <p:cNvSpPr/>
          <p:nvPr/>
        </p:nvSpPr>
        <p:spPr>
          <a:xfrm>
            <a:off x="7526414" y="1726982"/>
            <a:ext cx="36000" cy="3132000"/>
          </a:xfrm>
          <a:prstGeom prst="rect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tx1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5AA4F9C2-3BAE-4AAE-6BA7-1F04E5386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339" y="1658998"/>
            <a:ext cx="8009402" cy="3397556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D348C98-8DB7-0F1A-7426-108C8434AD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842182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10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492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CD21C03-749E-C371-6BDA-03B12652D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E81E8529-EA31-46A6-CAF1-CCFB6CD44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8270" y="497870"/>
            <a:ext cx="577475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fr-FR" sz="3300" noProof="0" dirty="0">
                <a:latin typeface="+mn-lt"/>
                <a:ea typeface="Montserrat"/>
                <a:cs typeface="Montserrat"/>
                <a:sym typeface="Montserrat"/>
              </a:rPr>
              <a:t>II. Méthodologie suivie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lang="fr-FR" sz="3600" noProof="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lang="fr-FR" sz="3600" noProof="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 dirty="0">
              <a:latin typeface="+mn-lt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88FB229-625D-62A2-66E1-99A8D7864F23}"/>
              </a:ext>
            </a:extLst>
          </p:cNvPr>
          <p:cNvSpPr/>
          <p:nvPr/>
        </p:nvSpPr>
        <p:spPr>
          <a:xfrm>
            <a:off x="7556500" y="4260850"/>
            <a:ext cx="1244600" cy="227258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E808B191-75AD-F69B-8737-A2C0F45B4973}"/>
              </a:ext>
            </a:extLst>
          </p:cNvPr>
          <p:cNvSpPr txBox="1"/>
          <p:nvPr/>
        </p:nvSpPr>
        <p:spPr>
          <a:xfrm>
            <a:off x="2081490" y="1330374"/>
            <a:ext cx="4981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1) Construction du modèle de prédiction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44EED64-5C3D-E0B0-CDA1-A4D841F7FBB0}"/>
              </a:ext>
            </a:extLst>
          </p:cNvPr>
          <p:cNvSpPr txBox="1"/>
          <p:nvPr/>
        </p:nvSpPr>
        <p:spPr>
          <a:xfrm>
            <a:off x="3687646" y="4835723"/>
            <a:ext cx="2155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4">
                    <a:lumMod val="25000"/>
                  </a:schemeClr>
                </a:solidFill>
                <a:latin typeface="+mn-lt"/>
              </a:rPr>
              <a:t>Régression linéaire</a:t>
            </a:r>
            <a:endParaRPr lang="fr-FR" dirty="0">
              <a:solidFill>
                <a:schemeClr val="accent4">
                  <a:lumMod val="25000"/>
                </a:schemeClr>
              </a:solidFill>
              <a:latin typeface="+mn-l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CBA64-5CD1-9DDF-F658-84E71DFD303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92811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11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80774C8-7828-4289-E9FD-9764E14F1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0340"/>
            <a:ext cx="9144000" cy="323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35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65BA965-FE32-0E05-28FD-A9451DACA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E9CEF3E7-1E5C-C0F3-5A0B-F8CAB50C3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8270" y="497870"/>
            <a:ext cx="577475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fr-FR" sz="3300" noProof="0" dirty="0">
                <a:latin typeface="+mn-lt"/>
                <a:ea typeface="Montserrat"/>
                <a:cs typeface="Montserrat"/>
                <a:sym typeface="Montserrat"/>
              </a:rPr>
              <a:t>II. Méthodologie suivie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lang="fr-FR" sz="3600" noProof="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lang="fr-FR" sz="3600" noProof="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 dirty="0">
              <a:latin typeface="+mn-lt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12ABCBC-97CD-42FD-0DA2-E67DB8ABC65E}"/>
              </a:ext>
            </a:extLst>
          </p:cNvPr>
          <p:cNvSpPr/>
          <p:nvPr/>
        </p:nvSpPr>
        <p:spPr>
          <a:xfrm>
            <a:off x="7556500" y="4260850"/>
            <a:ext cx="1244600" cy="227258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AA4C4A4E-41FD-C1C6-BBA8-73698F574C12}"/>
              </a:ext>
            </a:extLst>
          </p:cNvPr>
          <p:cNvSpPr txBox="1"/>
          <p:nvPr/>
        </p:nvSpPr>
        <p:spPr>
          <a:xfrm>
            <a:off x="1114670" y="1321662"/>
            <a:ext cx="6441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chemeClr val="accent4">
                    <a:lumMod val="25000"/>
                  </a:schemeClr>
                </a:solidFill>
                <a:latin typeface="+mn-lt"/>
              </a:rPr>
              <a:t>2) Application du modèle sur le portefeuille de données.</a:t>
            </a:r>
          </a:p>
        </p:txBody>
      </p:sp>
      <p:graphicFrame>
        <p:nvGraphicFramePr>
          <p:cNvPr id="19" name="Diagramme 18">
            <a:extLst>
              <a:ext uri="{FF2B5EF4-FFF2-40B4-BE49-F238E27FC236}">
                <a16:creationId xmlns:a16="http://schemas.microsoft.com/office/drawing/2014/main" id="{6E882DC0-1210-B3C3-5769-56C13BA9BD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669509"/>
              </p:ext>
            </p:extLst>
          </p:nvPr>
        </p:nvGraphicFramePr>
        <p:xfrm>
          <a:off x="236351" y="1835615"/>
          <a:ext cx="6006319" cy="523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0" name="Diagramme 19">
            <a:extLst>
              <a:ext uri="{FF2B5EF4-FFF2-40B4-BE49-F238E27FC236}">
                <a16:creationId xmlns:a16="http://schemas.microsoft.com/office/drawing/2014/main" id="{73AA521B-203B-6BF2-7449-A096F960E9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9832764"/>
              </p:ext>
            </p:extLst>
          </p:nvPr>
        </p:nvGraphicFramePr>
        <p:xfrm>
          <a:off x="1114670" y="2503456"/>
          <a:ext cx="5776739" cy="523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21" name="Diagramme 20">
            <a:extLst>
              <a:ext uri="{FF2B5EF4-FFF2-40B4-BE49-F238E27FC236}">
                <a16:creationId xmlns:a16="http://schemas.microsoft.com/office/drawing/2014/main" id="{0C22FB33-248E-3D1E-F02D-B3FC0F7F2D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15104"/>
              </p:ext>
            </p:extLst>
          </p:nvPr>
        </p:nvGraphicFramePr>
        <p:xfrm>
          <a:off x="1114669" y="3191095"/>
          <a:ext cx="5976000" cy="483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22" name="Diagramme 21">
            <a:extLst>
              <a:ext uri="{FF2B5EF4-FFF2-40B4-BE49-F238E27FC236}">
                <a16:creationId xmlns:a16="http://schemas.microsoft.com/office/drawing/2014/main" id="{B7276435-AC3C-18D2-0F32-93644B8341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3341513"/>
              </p:ext>
            </p:extLst>
          </p:nvPr>
        </p:nvGraphicFramePr>
        <p:xfrm>
          <a:off x="1596052" y="3787372"/>
          <a:ext cx="6504190" cy="513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7DA8A674-D25D-4B7D-449D-73BECA21E2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6459475"/>
              </p:ext>
            </p:extLst>
          </p:nvPr>
        </p:nvGraphicFramePr>
        <p:xfrm>
          <a:off x="2109340" y="4445296"/>
          <a:ext cx="6504190" cy="553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1AD9C7B-EFD4-0CA1-013C-05FCB86330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69164" y="4866596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12</a:t>
            </a:fld>
            <a:endParaRPr lang="fr-FR" sz="1400" b="1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074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7650" y="4501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dirty="0">
                <a:latin typeface="+mn-lt"/>
                <a:ea typeface="Montserrat"/>
                <a:cs typeface="Montserrat"/>
                <a:sym typeface="Montserrat"/>
              </a:rPr>
              <a:t>III. Résultat des prédictions</a:t>
            </a:r>
            <a:endParaRPr sz="3300" dirty="0">
              <a:latin typeface="+mn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732C062-2BC9-59A7-357E-DEDC8F6B21EF}"/>
              </a:ext>
            </a:extLst>
          </p:cNvPr>
          <p:cNvSpPr txBox="1"/>
          <p:nvPr/>
        </p:nvSpPr>
        <p:spPr>
          <a:xfrm>
            <a:off x="305557" y="1276782"/>
            <a:ext cx="5287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bg2"/>
                </a:solidFill>
                <a:latin typeface="+mn-lt"/>
              </a:rPr>
              <a:t>Valorisation prédite du portefeuille au 31/12/2022</a:t>
            </a: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8A7CB47B-25EC-941A-C7C0-6FD79B7964D2}"/>
              </a:ext>
            </a:extLst>
          </p:cNvPr>
          <p:cNvSpPr/>
          <p:nvPr/>
        </p:nvSpPr>
        <p:spPr>
          <a:xfrm>
            <a:off x="5851823" y="1646114"/>
            <a:ext cx="3245612" cy="9256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fr-FR" sz="1600" dirty="0">
                <a:latin typeface="+mn-lt"/>
              </a:rPr>
              <a:t>🏘️ </a:t>
            </a:r>
            <a:r>
              <a:rPr lang="fr-FR" b="1" dirty="0">
                <a:latin typeface="+mn-lt"/>
              </a:rPr>
              <a:t>Segment Particuliers –Maxence</a:t>
            </a:r>
            <a:endParaRPr lang="fr-FR" sz="1600" b="1" dirty="0">
              <a:latin typeface="+mn-lt"/>
            </a:endParaRPr>
          </a:p>
          <a:p>
            <a:r>
              <a:rPr lang="fr-FR" sz="1600" b="1" dirty="0">
                <a:latin typeface="+mn-lt"/>
              </a:rPr>
              <a:t> </a:t>
            </a:r>
          </a:p>
          <a:p>
            <a:r>
              <a:rPr lang="fr-FR" sz="1600" b="1" dirty="0">
                <a:latin typeface="+mn-lt"/>
              </a:rPr>
              <a:t>                 </a:t>
            </a:r>
            <a:r>
              <a:rPr lang="fr-FR" sz="1600" b="1" dirty="0">
                <a:solidFill>
                  <a:schemeClr val="accent3"/>
                </a:solidFill>
                <a:latin typeface="+mn-lt"/>
              </a:rPr>
              <a:t>71,05 M€</a:t>
            </a:r>
            <a:br>
              <a:rPr lang="fr-FR" sz="1600" dirty="0">
                <a:latin typeface="+mn-lt"/>
              </a:rPr>
            </a:br>
            <a:endParaRPr lang="fr-FR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66B88B8-BD66-81F9-BB6C-4E2FE8661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4" y="1646114"/>
            <a:ext cx="6056207" cy="3325698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CB05FB91-E51A-0600-A064-E6F23F5C1BF3}"/>
              </a:ext>
            </a:extLst>
          </p:cNvPr>
          <p:cNvSpPr/>
          <p:nvPr/>
        </p:nvSpPr>
        <p:spPr>
          <a:xfrm>
            <a:off x="5851824" y="2732838"/>
            <a:ext cx="3245612" cy="9256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fr-FR" sz="1600" dirty="0">
                <a:latin typeface="+mn-lt"/>
              </a:rPr>
              <a:t>🏢 </a:t>
            </a:r>
            <a:r>
              <a:rPr lang="fr-FR" b="1" dirty="0">
                <a:latin typeface="+mn-lt"/>
              </a:rPr>
              <a:t>Segment Corporate – Luise   </a:t>
            </a:r>
          </a:p>
          <a:p>
            <a:endParaRPr lang="fr-FR" b="1" dirty="0">
              <a:latin typeface="+mn-lt"/>
            </a:endParaRPr>
          </a:p>
          <a:p>
            <a:r>
              <a:rPr lang="fr-FR" b="1" dirty="0">
                <a:latin typeface="+mn-lt"/>
              </a:rPr>
              <a:t>                     </a:t>
            </a:r>
            <a:r>
              <a:rPr lang="fr-FR" sz="1600" b="1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97,5 M€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1E21A67-46DC-47C8-A137-652A93EF5D3A}"/>
              </a:ext>
            </a:extLst>
          </p:cNvPr>
          <p:cNvSpPr/>
          <p:nvPr/>
        </p:nvSpPr>
        <p:spPr>
          <a:xfrm>
            <a:off x="5862391" y="3809198"/>
            <a:ext cx="3235044" cy="9256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fr-FR" sz="1200" dirty="0">
                <a:latin typeface="+mn-lt"/>
              </a:rPr>
              <a:t> </a:t>
            </a:r>
            <a:r>
              <a:rPr lang="fr-FR" sz="1200" b="1" dirty="0">
                <a:solidFill>
                  <a:schemeClr val="bg2"/>
                </a:solidFill>
                <a:latin typeface="+mn-lt"/>
              </a:rPr>
              <a:t>Recommandation stratégique: </a:t>
            </a:r>
          </a:p>
          <a:p>
            <a:br>
              <a:rPr lang="fr-FR" sz="1200" dirty="0">
                <a:latin typeface="+mn-lt"/>
              </a:rPr>
            </a:br>
            <a:r>
              <a:rPr lang="fr-FR" sz="1200" dirty="0">
                <a:latin typeface="+mn-lt"/>
              </a:rPr>
              <a:t>→ Prioriser la vente d’une partie des actifs Corporate (locaux commerciaux)</a:t>
            </a:r>
            <a:br>
              <a:rPr lang="fr-FR" sz="1200" dirty="0">
                <a:latin typeface="+mn-lt"/>
              </a:rPr>
            </a:br>
            <a:r>
              <a:rPr lang="fr-FR" sz="1200" dirty="0">
                <a:latin typeface="+mn-lt"/>
              </a:rPr>
              <a:t> </a:t>
            </a:r>
            <a:endParaRPr lang="fr-FR" sz="1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7D7CE4F9-3E05-C041-42AF-9467FB0AE15C}"/>
              </a:ext>
            </a:extLst>
          </p:cNvPr>
          <p:cNvSpPr/>
          <p:nvPr/>
        </p:nvSpPr>
        <p:spPr>
          <a:xfrm>
            <a:off x="5862391" y="2745656"/>
            <a:ext cx="36000" cy="900000"/>
          </a:xfrm>
          <a:prstGeom prst="rect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tx1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739DA570-0B81-9D77-913E-9283AAAAB96B}"/>
              </a:ext>
            </a:extLst>
          </p:cNvPr>
          <p:cNvSpPr/>
          <p:nvPr/>
        </p:nvSpPr>
        <p:spPr>
          <a:xfrm>
            <a:off x="5862391" y="1646114"/>
            <a:ext cx="36000" cy="936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FB3608AF-F2B9-CEEF-C5D7-B92EF6490CFA}"/>
              </a:ext>
            </a:extLst>
          </p:cNvPr>
          <p:cNvSpPr/>
          <p:nvPr/>
        </p:nvSpPr>
        <p:spPr>
          <a:xfrm>
            <a:off x="5862391" y="3819562"/>
            <a:ext cx="36000" cy="900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bg2"/>
                </a:solidFill>
                <a:latin typeface="+mn-lt"/>
              </a:rPr>
              <a:t> 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EB46629-A5E3-B1DD-4387-9B2506E56EE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50008" y="4845192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13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D7BD780-671A-C4C5-16E1-AA6C731B8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3C9109A3-0619-E331-37E6-A23A0F676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4501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dirty="0">
                <a:latin typeface="+mn-lt"/>
                <a:ea typeface="Montserrat"/>
                <a:cs typeface="Montserrat"/>
                <a:sym typeface="Montserrat"/>
              </a:rPr>
              <a:t>III. Résultat des prédictions</a:t>
            </a:r>
            <a:endParaRPr sz="3300" dirty="0">
              <a:latin typeface="+mn-l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712D6DC-7D3A-1059-6CF2-7C77903B2341}"/>
              </a:ext>
            </a:extLst>
          </p:cNvPr>
          <p:cNvSpPr txBox="1"/>
          <p:nvPr/>
        </p:nvSpPr>
        <p:spPr>
          <a:xfrm>
            <a:off x="2686050" y="1335827"/>
            <a:ext cx="3771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Limites et Précautions </a:t>
            </a:r>
            <a:endParaRPr lang="fr-FR" sz="1800" dirty="0">
              <a:solidFill>
                <a:schemeClr val="tx1">
                  <a:lumMod val="50000"/>
                </a:schemeClr>
              </a:solidFill>
              <a:latin typeface="+mn-lt"/>
            </a:endParaRPr>
          </a:p>
        </p:txBody>
      </p:sp>
      <p:graphicFrame>
        <p:nvGraphicFramePr>
          <p:cNvPr id="16" name="Diagramme 15">
            <a:extLst>
              <a:ext uri="{FF2B5EF4-FFF2-40B4-BE49-F238E27FC236}">
                <a16:creationId xmlns:a16="http://schemas.microsoft.com/office/drawing/2014/main" id="{4AF7DAA5-D3D2-9259-20B6-B20F7F55D8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0056062"/>
              </p:ext>
            </p:extLst>
          </p:nvPr>
        </p:nvGraphicFramePr>
        <p:xfrm>
          <a:off x="662940" y="1520493"/>
          <a:ext cx="7753410" cy="3665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0AACD5E-7BE9-B1F9-50F0-D9BFF8539A4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92113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14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07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latin typeface="+mj-lt"/>
              </a:rPr>
              <a:t>Les Plus Beaux Logis de Paris</a:t>
            </a:r>
            <a:endParaRPr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latin typeface="+mj-lt"/>
              </a:rPr>
              <a:t>Partie 2</a:t>
            </a:r>
            <a:endParaRPr dirty="0">
              <a:latin typeface="+mj-l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3505B6D-04F5-259C-3FFF-D89A2A60CD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15</a:t>
            </a:fld>
            <a:endParaRPr lang="fr-FR" sz="1400" b="1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subTitle" idx="1"/>
          </p:nvPr>
        </p:nvSpPr>
        <p:spPr>
          <a:xfrm>
            <a:off x="623400" y="2612200"/>
            <a:ext cx="8520600" cy="14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Titre du projet : </a:t>
            </a:r>
            <a:r>
              <a:rPr lang="fr-FR" sz="2400" dirty="0">
                <a:solidFill>
                  <a:schemeClr val="tx1"/>
                </a:solidFill>
                <a:latin typeface="+mj-lt"/>
              </a:rPr>
              <a:t> Classification automatique des biens immobiliers </a:t>
            </a:r>
            <a:endParaRPr sz="2200" i="1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Prénom : Amel</a:t>
            </a:r>
            <a:endParaRPr sz="2200" i="1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Nom : Amarache </a:t>
            </a:r>
            <a:endParaRPr sz="2200" i="1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Date</a:t>
            </a:r>
            <a:endParaRPr sz="2200" i="1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00" y="89925"/>
            <a:ext cx="3669750" cy="164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9C49C7F-9A70-1662-4AC9-4E19CC7E3BB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16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727650" y="617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fr" sz="3300" dirty="0">
                <a:latin typeface="+mn-lt"/>
                <a:ea typeface="Montserrat"/>
                <a:cs typeface="Montserrat"/>
                <a:sym typeface="Montserrat"/>
              </a:rPr>
              <a:t>I. Méthodologie suivie </a:t>
            </a:r>
            <a:endParaRPr sz="3300" dirty="0">
              <a:latin typeface="+mn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9EFEAF3-3041-89A3-B49B-7EDDB8BEB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930" y="1814213"/>
            <a:ext cx="4704070" cy="2693992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EC4DCEF1-EEF4-6B1C-AECA-1FD8FD4006E5}"/>
              </a:ext>
            </a:extLst>
          </p:cNvPr>
          <p:cNvSpPr/>
          <p:nvPr/>
        </p:nvSpPr>
        <p:spPr>
          <a:xfrm>
            <a:off x="695838" y="1463443"/>
            <a:ext cx="3716154" cy="11332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fr-FR" sz="1600" b="1" dirty="0">
                <a:latin typeface="+mn-lt"/>
              </a:rPr>
              <a:t>Préparation des données</a:t>
            </a:r>
          </a:p>
          <a:p>
            <a:endParaRPr lang="fr-FR" sz="8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Calcul du prix au m²</a:t>
            </a:r>
            <a:endParaRPr lang="fr-FR" sz="12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+mn-lt"/>
              </a:rPr>
              <a:t> Suppression des colonnes inutiles</a:t>
            </a:r>
            <a:br>
              <a:rPr lang="fr-FR" sz="1200" dirty="0">
                <a:latin typeface="+mn-lt"/>
              </a:rPr>
            </a:br>
            <a:r>
              <a:rPr lang="fr-FR" sz="1200" dirty="0">
                <a:latin typeface="+mn-lt"/>
              </a:rPr>
              <a:t>    </a:t>
            </a:r>
            <a:r>
              <a:rPr lang="fr-FR" sz="1100" dirty="0">
                <a:latin typeface="+mn-lt"/>
              </a:rPr>
              <a:t>(valeur foncière et surface réelle)</a:t>
            </a:r>
          </a:p>
          <a:p>
            <a:endParaRPr lang="fr-FR"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0FF992A-90CD-092E-61DF-9582DAA97BFD}"/>
              </a:ext>
            </a:extLst>
          </p:cNvPr>
          <p:cNvSpPr/>
          <p:nvPr/>
        </p:nvSpPr>
        <p:spPr>
          <a:xfrm>
            <a:off x="660194" y="2730489"/>
            <a:ext cx="3751798" cy="11188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buNone/>
            </a:pPr>
            <a:r>
              <a:rPr lang="fr-FR" b="1" dirty="0">
                <a:latin typeface="+mn-lt"/>
              </a:rPr>
              <a:t>Utilisation de l’algorithme K-</a:t>
            </a:r>
            <a:r>
              <a:rPr lang="fr-FR" b="1" dirty="0" err="1">
                <a:latin typeface="+mn-lt"/>
              </a:rPr>
              <a:t>Means</a:t>
            </a:r>
            <a:endParaRPr lang="fr-FR" b="1" dirty="0">
              <a:latin typeface="+mn-lt"/>
            </a:endParaRPr>
          </a:p>
          <a:p>
            <a:pPr>
              <a:buNone/>
            </a:pPr>
            <a:endParaRPr lang="fr-FR" sz="800" b="1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+mn-lt"/>
              </a:rPr>
              <a:t> Création de 2 groupes (clusters)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0F1115"/>
                </a:solidFill>
                <a:latin typeface="+mn-lt"/>
              </a:rPr>
              <a:t> </a:t>
            </a:r>
            <a:r>
              <a:rPr lang="fr-FR" sz="1200" dirty="0">
                <a:solidFill>
                  <a:srgbClr val="0F1115"/>
                </a:solidFill>
                <a:latin typeface="+mn-lt"/>
              </a:rPr>
              <a:t>Regrouper les biens selon leur prix au m²</a:t>
            </a:r>
          </a:p>
          <a:p>
            <a:r>
              <a:rPr lang="fr-FR" sz="1200" dirty="0">
                <a:latin typeface="+mn-lt"/>
              </a:rPr>
              <a:t>             0 : biens à prix élevé</a:t>
            </a:r>
          </a:p>
          <a:p>
            <a:r>
              <a:rPr lang="fr-FR" sz="1200" dirty="0">
                <a:latin typeface="+mn-lt"/>
              </a:rPr>
              <a:t>             1 : biens à prix plus faible</a:t>
            </a:r>
          </a:p>
          <a:p>
            <a:endParaRPr lang="fr-FR" sz="1600" dirty="0">
              <a:solidFill>
                <a:srgbClr val="0F1115"/>
              </a:solidFill>
              <a:latin typeface="+mn-lt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4426691D-01E2-2C9F-4FF9-75D71FC8EA21}"/>
              </a:ext>
            </a:extLst>
          </p:cNvPr>
          <p:cNvSpPr/>
          <p:nvPr/>
        </p:nvSpPr>
        <p:spPr>
          <a:xfrm>
            <a:off x="668254" y="4004205"/>
            <a:ext cx="3751798" cy="1013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fr-FR" b="1" dirty="0">
                <a:latin typeface="+mn-lt"/>
              </a:rPr>
              <a:t>Attribution des labels  </a:t>
            </a:r>
          </a:p>
          <a:p>
            <a:endParaRPr lang="fr-FR" sz="800" b="1" dirty="0">
              <a:latin typeface="+mn-lt"/>
            </a:endParaRPr>
          </a:p>
          <a:p>
            <a:r>
              <a:rPr lang="fr-FR" sz="1200" dirty="0">
                <a:latin typeface="+mn-lt"/>
              </a:rPr>
              <a:t> locaux commerciaux =&gt; Les biens les plus chers</a:t>
            </a:r>
          </a:p>
          <a:p>
            <a:endParaRPr lang="fr-FR" sz="800" dirty="0">
              <a:latin typeface="+mn-lt"/>
            </a:endParaRPr>
          </a:p>
          <a:p>
            <a:r>
              <a:rPr lang="fr-FR" sz="1200" dirty="0">
                <a:latin typeface="+mn-lt"/>
              </a:rPr>
              <a:t> Appartements =&gt;Les biens moins chers</a:t>
            </a:r>
            <a:endParaRPr lang="fr-FR" sz="1600" dirty="0">
              <a:solidFill>
                <a:srgbClr val="0F1115"/>
              </a:solidFill>
              <a:latin typeface="+mn-lt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BA475876-CD03-AFA0-B109-E94B51A43354}"/>
              </a:ext>
            </a:extLst>
          </p:cNvPr>
          <p:cNvGrpSpPr/>
          <p:nvPr/>
        </p:nvGrpSpPr>
        <p:grpSpPr>
          <a:xfrm>
            <a:off x="35998" y="1705409"/>
            <a:ext cx="597132" cy="524631"/>
            <a:chOff x="33674" y="1576713"/>
            <a:chExt cx="647700" cy="624840"/>
          </a:xfrm>
        </p:grpSpPr>
        <p:sp>
          <p:nvSpPr>
            <p:cNvPr id="20" name="Organigramme : Connecteur 19">
              <a:extLst>
                <a:ext uri="{FF2B5EF4-FFF2-40B4-BE49-F238E27FC236}">
                  <a16:creationId xmlns:a16="http://schemas.microsoft.com/office/drawing/2014/main" id="{848FC4FE-BC0F-A404-59BD-BB6E1F366EC0}"/>
                </a:ext>
              </a:extLst>
            </p:cNvPr>
            <p:cNvSpPr/>
            <p:nvPr/>
          </p:nvSpPr>
          <p:spPr>
            <a:xfrm>
              <a:off x="33674" y="1576713"/>
              <a:ext cx="647700" cy="624840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BEDB712E-FB17-AA58-C76B-D23AE046A2E5}"/>
                </a:ext>
              </a:extLst>
            </p:cNvPr>
            <p:cNvSpPr txBox="1"/>
            <p:nvPr/>
          </p:nvSpPr>
          <p:spPr>
            <a:xfrm>
              <a:off x="151784" y="1576713"/>
              <a:ext cx="411480" cy="623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tx1"/>
                  </a:solidFill>
                  <a:latin typeface="+mn-lt"/>
                </a:rPr>
                <a:t>1</a:t>
              </a:r>
            </a:p>
          </p:txBody>
        </p:sp>
      </p:grpSp>
      <p:sp>
        <p:nvSpPr>
          <p:cNvPr id="32" name="Shape 15">
            <a:extLst>
              <a:ext uri="{FF2B5EF4-FFF2-40B4-BE49-F238E27FC236}">
                <a16:creationId xmlns:a16="http://schemas.microsoft.com/office/drawing/2014/main" id="{D1DD3C80-C3B0-F66E-CB3E-DDB0F728C560}"/>
              </a:ext>
            </a:extLst>
          </p:cNvPr>
          <p:cNvSpPr/>
          <p:nvPr/>
        </p:nvSpPr>
        <p:spPr>
          <a:xfrm>
            <a:off x="684103" y="1463443"/>
            <a:ext cx="36000" cy="111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C6EE6F5F-4B9E-809E-5667-7116978A8613}"/>
              </a:ext>
            </a:extLst>
          </p:cNvPr>
          <p:cNvSpPr/>
          <p:nvPr/>
        </p:nvSpPr>
        <p:spPr>
          <a:xfrm>
            <a:off x="677838" y="2733824"/>
            <a:ext cx="36000" cy="111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307E22B8-6314-8DCF-AD2B-45E6B0EE1100}"/>
              </a:ext>
            </a:extLst>
          </p:cNvPr>
          <p:cNvSpPr/>
          <p:nvPr/>
        </p:nvSpPr>
        <p:spPr>
          <a:xfrm flipH="1">
            <a:off x="677838" y="4004205"/>
            <a:ext cx="36000" cy="1008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E5830ACB-F5B0-B6DB-2744-BC2BA0AEC9DB}"/>
              </a:ext>
            </a:extLst>
          </p:cNvPr>
          <p:cNvGrpSpPr/>
          <p:nvPr/>
        </p:nvGrpSpPr>
        <p:grpSpPr>
          <a:xfrm>
            <a:off x="26599" y="4172368"/>
            <a:ext cx="597132" cy="524631"/>
            <a:chOff x="33674" y="1576713"/>
            <a:chExt cx="647700" cy="624840"/>
          </a:xfrm>
        </p:grpSpPr>
        <p:sp>
          <p:nvSpPr>
            <p:cNvPr id="38" name="Organigramme : Connecteur 37">
              <a:extLst>
                <a:ext uri="{FF2B5EF4-FFF2-40B4-BE49-F238E27FC236}">
                  <a16:creationId xmlns:a16="http://schemas.microsoft.com/office/drawing/2014/main" id="{3244CB21-5407-1720-22BE-97236B2E8CCE}"/>
                </a:ext>
              </a:extLst>
            </p:cNvPr>
            <p:cNvSpPr/>
            <p:nvPr/>
          </p:nvSpPr>
          <p:spPr>
            <a:xfrm>
              <a:off x="33674" y="1576713"/>
              <a:ext cx="647700" cy="624840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EC6E889F-4343-3E41-6CCB-523132473F01}"/>
                </a:ext>
              </a:extLst>
            </p:cNvPr>
            <p:cNvSpPr txBox="1"/>
            <p:nvPr/>
          </p:nvSpPr>
          <p:spPr>
            <a:xfrm>
              <a:off x="151784" y="1576713"/>
              <a:ext cx="411480" cy="623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tx1"/>
                  </a:solidFill>
                  <a:latin typeface="+mn-lt"/>
                </a:rPr>
                <a:t>3</a:t>
              </a: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539C7F9D-252A-56CF-0520-7006F9F349D1}"/>
              </a:ext>
            </a:extLst>
          </p:cNvPr>
          <p:cNvGrpSpPr/>
          <p:nvPr/>
        </p:nvGrpSpPr>
        <p:grpSpPr>
          <a:xfrm>
            <a:off x="11541" y="2949460"/>
            <a:ext cx="597132" cy="524631"/>
            <a:chOff x="33674" y="1576713"/>
            <a:chExt cx="647700" cy="624840"/>
          </a:xfrm>
        </p:grpSpPr>
        <p:sp>
          <p:nvSpPr>
            <p:cNvPr id="41" name="Organigramme : Connecteur 40">
              <a:extLst>
                <a:ext uri="{FF2B5EF4-FFF2-40B4-BE49-F238E27FC236}">
                  <a16:creationId xmlns:a16="http://schemas.microsoft.com/office/drawing/2014/main" id="{2A483D11-7B69-877C-DF8B-F7DE0FE8C7F5}"/>
                </a:ext>
              </a:extLst>
            </p:cNvPr>
            <p:cNvSpPr/>
            <p:nvPr/>
          </p:nvSpPr>
          <p:spPr>
            <a:xfrm>
              <a:off x="33674" y="1576713"/>
              <a:ext cx="647700" cy="624840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28510117-D263-5DE3-C833-6D02907F5F8D}"/>
                </a:ext>
              </a:extLst>
            </p:cNvPr>
            <p:cNvSpPr txBox="1"/>
            <p:nvPr/>
          </p:nvSpPr>
          <p:spPr>
            <a:xfrm>
              <a:off x="151784" y="1576713"/>
              <a:ext cx="411480" cy="623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tx1"/>
                  </a:solidFill>
                  <a:latin typeface="+mn-lt"/>
                </a:rPr>
                <a:t>2</a:t>
              </a:r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66990D2-A1F8-07D7-B8CC-B8F2E670BA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17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300" noProof="0" dirty="0">
                <a:latin typeface="+mn-lt"/>
                <a:ea typeface="Montserrat"/>
                <a:cs typeface="Montserrat"/>
                <a:sym typeface="Montserrat"/>
              </a:rPr>
              <a:t>II. Résultat de la classification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3600" noProof="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3600" noProof="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 dirty="0">
              <a:latin typeface="+mn-lt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F8AE21DF-633C-48A7-F12D-EC3072141344}"/>
              </a:ext>
            </a:extLst>
          </p:cNvPr>
          <p:cNvSpPr/>
          <p:nvPr/>
        </p:nvSpPr>
        <p:spPr>
          <a:xfrm>
            <a:off x="6329349" y="1332667"/>
            <a:ext cx="2651761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fr-FR" b="1" dirty="0">
                <a:latin typeface="+mn-lt"/>
              </a:rPr>
              <a:t> </a:t>
            </a:r>
            <a:r>
              <a:rPr lang="fr-FR" sz="1200" dirty="0">
                <a:latin typeface="+mn-lt"/>
              </a:rPr>
              <a:t>🏢 locaux commerciaux </a:t>
            </a:r>
            <a:r>
              <a:rPr lang="fr-FR" sz="1200" dirty="0">
                <a:solidFill>
                  <a:schemeClr val="tx1"/>
                </a:solidFill>
                <a:latin typeface="+mn-lt"/>
              </a:rPr>
              <a:t>: </a:t>
            </a:r>
            <a:r>
              <a:rPr lang="fr-FR" sz="1200" b="1" dirty="0">
                <a:solidFill>
                  <a:schemeClr val="tx1"/>
                </a:solidFill>
                <a:latin typeface="+mn-lt"/>
              </a:rPr>
              <a:t>20 biens        </a:t>
            </a:r>
            <a:endParaRPr lang="fr-FR"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4E62FF5B-7546-D7F2-56B6-7E74E5D3045B}"/>
              </a:ext>
            </a:extLst>
          </p:cNvPr>
          <p:cNvSpPr/>
          <p:nvPr/>
        </p:nvSpPr>
        <p:spPr>
          <a:xfrm>
            <a:off x="6329345" y="1341667"/>
            <a:ext cx="36000" cy="342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2D7FDE2-2267-2710-EC9F-0BBFF3A2FB4A}"/>
              </a:ext>
            </a:extLst>
          </p:cNvPr>
          <p:cNvSpPr txBox="1"/>
          <p:nvPr/>
        </p:nvSpPr>
        <p:spPr>
          <a:xfrm>
            <a:off x="559540" y="4870800"/>
            <a:ext cx="8310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1"/>
                </a:solidFill>
                <a:latin typeface="+mn-lt"/>
              </a:rPr>
              <a:t>Capture d’écran du résultat final type_prédit pour chaque bien dans le fichier </a:t>
            </a:r>
            <a:r>
              <a:rPr lang="fr-FR" b="1" dirty="0" err="1">
                <a:solidFill>
                  <a:schemeClr val="accent1"/>
                </a:solidFill>
                <a:latin typeface="+mn-lt"/>
              </a:rPr>
              <a:t>df_échantillon</a:t>
            </a:r>
            <a:endParaRPr lang="fr-FR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8BD546-ED5F-9A0B-0FDB-0710EE9C9E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845762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rPr>
              <a:t>18</a:t>
            </a:fld>
            <a:endParaRPr lang="fr-FR" sz="1400" b="1" dirty="0">
              <a:solidFill>
                <a:schemeClr val="bg2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6E7A736-2AD6-401A-F846-721EBD3D3E4F}"/>
              </a:ext>
            </a:extLst>
          </p:cNvPr>
          <p:cNvSpPr/>
          <p:nvPr/>
        </p:nvSpPr>
        <p:spPr>
          <a:xfrm>
            <a:off x="3246117" y="1332667"/>
            <a:ext cx="2651761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fr-FR" b="1" dirty="0">
                <a:latin typeface="+mn-lt"/>
              </a:rPr>
              <a:t> </a:t>
            </a:r>
            <a:r>
              <a:rPr lang="fr-FR" sz="1200" dirty="0"/>
              <a:t>🏘️ </a:t>
            </a:r>
            <a:r>
              <a:rPr lang="fr-FR" sz="1200" dirty="0">
                <a:latin typeface="+mn-lt"/>
              </a:rPr>
              <a:t> </a:t>
            </a:r>
            <a:r>
              <a:rPr lang="fr-FR" sz="1200" dirty="0"/>
              <a:t>Appartements </a:t>
            </a:r>
            <a:r>
              <a:rPr lang="fr-FR" sz="1200" dirty="0">
                <a:solidFill>
                  <a:schemeClr val="tx1"/>
                </a:solidFill>
                <a:latin typeface="+mn-lt"/>
              </a:rPr>
              <a:t>: </a:t>
            </a:r>
            <a:r>
              <a:rPr lang="fr-FR" sz="1200" b="1" dirty="0">
                <a:solidFill>
                  <a:schemeClr val="accent3"/>
                </a:solidFill>
                <a:latin typeface="+mn-lt"/>
              </a:rPr>
              <a:t>20 biens        </a:t>
            </a:r>
            <a:endParaRPr lang="fr-FR" sz="1600" b="1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EDE90BCC-7666-256A-1DEA-9C1CF5884108}"/>
              </a:ext>
            </a:extLst>
          </p:cNvPr>
          <p:cNvSpPr/>
          <p:nvPr/>
        </p:nvSpPr>
        <p:spPr>
          <a:xfrm>
            <a:off x="162889" y="1332667"/>
            <a:ext cx="2651761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fr-FR" b="1" dirty="0">
                <a:latin typeface="+mn-lt"/>
              </a:rPr>
              <a:t> </a:t>
            </a:r>
            <a:r>
              <a:rPr lang="fr-FR" sz="1200" dirty="0"/>
              <a:t> </a:t>
            </a:r>
            <a:r>
              <a:rPr lang="fr-FR" sz="1200" dirty="0">
                <a:solidFill>
                  <a:schemeClr val="bg2"/>
                </a:solidFill>
              </a:rPr>
              <a:t>Total</a:t>
            </a:r>
            <a:r>
              <a:rPr lang="fr-FR" sz="1200" dirty="0"/>
              <a:t> </a:t>
            </a:r>
            <a:r>
              <a:rPr lang="fr-FR" sz="1200" dirty="0">
                <a:solidFill>
                  <a:schemeClr val="tx1"/>
                </a:solidFill>
                <a:latin typeface="+mn-lt"/>
              </a:rPr>
              <a:t>: </a:t>
            </a:r>
            <a:r>
              <a:rPr lang="fr-FR" sz="1200" b="1" dirty="0">
                <a:solidFill>
                  <a:schemeClr val="bg2"/>
                </a:solidFill>
                <a:latin typeface="+mn-lt"/>
              </a:rPr>
              <a:t>40 biens        </a:t>
            </a:r>
            <a:endParaRPr lang="fr-FR" sz="1600" b="1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FF7269A3-F722-D66B-F6B7-1C302DB8449A}"/>
              </a:ext>
            </a:extLst>
          </p:cNvPr>
          <p:cNvSpPr/>
          <p:nvPr/>
        </p:nvSpPr>
        <p:spPr>
          <a:xfrm>
            <a:off x="180890" y="1332667"/>
            <a:ext cx="36000" cy="342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65184CEB-F67D-2830-DBC5-6534267F8AE1}"/>
              </a:ext>
            </a:extLst>
          </p:cNvPr>
          <p:cNvSpPr/>
          <p:nvPr/>
        </p:nvSpPr>
        <p:spPr>
          <a:xfrm>
            <a:off x="3246117" y="1341667"/>
            <a:ext cx="36000" cy="342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r>
              <a:rPr lang="fr-FR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7DBBC15-64FB-4F3A-8AE8-42281D8F0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4582"/>
            <a:ext cx="9099550" cy="30354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D8671F7-D130-1721-C677-AE577F07E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CBACD22E-B6DA-39D3-5F53-F087B7FEBE50}"/>
              </a:ext>
            </a:extLst>
          </p:cNvPr>
          <p:cNvSpPr txBox="1"/>
          <p:nvPr/>
        </p:nvSpPr>
        <p:spPr>
          <a:xfrm>
            <a:off x="2629400" y="1298608"/>
            <a:ext cx="3771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Limites et Précautions </a:t>
            </a:r>
            <a:endParaRPr lang="fr-FR" sz="1800" dirty="0">
              <a:solidFill>
                <a:schemeClr val="tx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Google Shape;133;p21">
            <a:extLst>
              <a:ext uri="{FF2B5EF4-FFF2-40B4-BE49-F238E27FC236}">
                <a16:creationId xmlns:a16="http://schemas.microsoft.com/office/drawing/2014/main" id="{CC7EF2EF-3A58-2820-2DDA-B43EE4F356EA}"/>
              </a:ext>
            </a:extLst>
          </p:cNvPr>
          <p:cNvSpPr txBox="1">
            <a:spLocks/>
          </p:cNvSpPr>
          <p:nvPr/>
        </p:nvSpPr>
        <p:spPr>
          <a:xfrm>
            <a:off x="671000" y="640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fr-FR" sz="3300" dirty="0">
                <a:latin typeface="+mn-lt"/>
                <a:ea typeface="Montserrat"/>
                <a:cs typeface="Montserrat"/>
                <a:sym typeface="Montserrat"/>
              </a:rPr>
              <a:t>II. Résultat de la classification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9E905BD1-8768-EEC2-75AD-6255EF6DC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1111472"/>
              </p:ext>
            </p:extLst>
          </p:nvPr>
        </p:nvGraphicFramePr>
        <p:xfrm>
          <a:off x="695295" y="1455276"/>
          <a:ext cx="7753410" cy="3395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6304455-E635-84BB-1412-3878ABFE18F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latin typeface="+mn-lt"/>
              </a:rPr>
              <a:t>19</a:t>
            </a:fld>
            <a:endParaRPr lang="fr-FR" sz="1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4477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1E1D12-FE20-7DAC-CC13-EF599AB614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20</a:t>
            </a:fld>
            <a:endParaRPr lang="fr-FR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FF477A95-2E07-E0B1-AB28-A4AAA258EB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6017584"/>
              </p:ext>
            </p:extLst>
          </p:nvPr>
        </p:nvGraphicFramePr>
        <p:xfrm>
          <a:off x="565504" y="1650696"/>
          <a:ext cx="8272353" cy="2741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ous-titre 2">
            <a:extLst>
              <a:ext uri="{FF2B5EF4-FFF2-40B4-BE49-F238E27FC236}">
                <a16:creationId xmlns:a16="http://schemas.microsoft.com/office/drawing/2014/main" id="{E5BECE50-89A4-1866-EF27-FD6042EF75BB}"/>
              </a:ext>
            </a:extLst>
          </p:cNvPr>
          <p:cNvSpPr txBox="1">
            <a:spLocks/>
          </p:cNvSpPr>
          <p:nvPr/>
        </p:nvSpPr>
        <p:spPr>
          <a:xfrm>
            <a:off x="565504" y="484408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fr-FR" sz="3200" b="1" dirty="0">
                <a:solidFill>
                  <a:schemeClr val="bg2"/>
                </a:solidFill>
                <a:latin typeface="+mn-lt"/>
              </a:rPr>
              <a:t>Conclusion</a:t>
            </a:r>
          </a:p>
          <a:p>
            <a:endParaRPr lang="fr-FR" sz="32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4487308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7809</TotalTime>
  <Words>1113</Words>
  <Application>Microsoft Office PowerPoint</Application>
  <PresentationFormat>Affichage à l'écran (16:9)</PresentationFormat>
  <Paragraphs>211</Paragraphs>
  <Slides>20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Lato</vt:lpstr>
      <vt:lpstr>Raleway</vt:lpstr>
      <vt:lpstr>Calibri</vt:lpstr>
      <vt:lpstr>Montserrat</vt:lpstr>
      <vt:lpstr>Streamline</vt:lpstr>
      <vt:lpstr>Réaliser une analyse de données en Python</vt:lpstr>
      <vt:lpstr>Les Plus Beaux Logis de Paris Partie 1</vt:lpstr>
      <vt:lpstr>Présentation PowerPoint</vt:lpstr>
      <vt:lpstr>Analyse du marché de l’immobilier</vt:lpstr>
      <vt:lpstr>Analyse du marché de l’immobilier</vt:lpstr>
      <vt:lpstr>Analyse du marché de l’immobilier</vt:lpstr>
      <vt:lpstr>Analyse du marché de l’immobilier</vt:lpstr>
      <vt:lpstr>Analyse du marché de l’immobilier</vt:lpstr>
      <vt:lpstr>Analyse du marché de l’immobilier</vt:lpstr>
      <vt:lpstr>Analyse du marché de l’immobilier</vt:lpstr>
      <vt:lpstr>II. Méthodologie suivie    </vt:lpstr>
      <vt:lpstr>II. Méthodologie suivie    </vt:lpstr>
      <vt:lpstr>III. Résultat des prédictions   </vt:lpstr>
      <vt:lpstr>III. Résultat des prédictions</vt:lpstr>
      <vt:lpstr>Les Plus Beaux Logis de Paris Partie 2</vt:lpstr>
      <vt:lpstr>Présentation PowerPoint</vt:lpstr>
      <vt:lpstr>I. Méthodologie suivie    </vt:lpstr>
      <vt:lpstr>II. Résultat de la classification   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AMEL HADJ</cp:lastModifiedBy>
  <cp:revision>45</cp:revision>
  <dcterms:modified xsi:type="dcterms:W3CDTF">2026-04-04T15:18:01Z</dcterms:modified>
</cp:coreProperties>
</file>