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301" r:id="rId10"/>
    <p:sldId id="300" r:id="rId11"/>
    <p:sldId id="303" r:id="rId12"/>
    <p:sldId id="317" r:id="rId13"/>
    <p:sldId id="302" r:id="rId14"/>
    <p:sldId id="265" r:id="rId15"/>
    <p:sldId id="306" r:id="rId16"/>
    <p:sldId id="298" r:id="rId17"/>
    <p:sldId id="299" r:id="rId18"/>
    <p:sldId id="309" r:id="rId19"/>
    <p:sldId id="316" r:id="rId20"/>
    <p:sldId id="319" r:id="rId21"/>
    <p:sldId id="266" r:id="rId22"/>
    <p:sldId id="320" r:id="rId23"/>
    <p:sldId id="268" r:id="rId24"/>
    <p:sldId id="296" r:id="rId25"/>
    <p:sldId id="297" r:id="rId26"/>
    <p:sldId id="270" r:id="rId27"/>
    <p:sldId id="322" r:id="rId28"/>
    <p:sldId id="323" r:id="rId29"/>
    <p:sldId id="324" r:id="rId30"/>
    <p:sldId id="314" r:id="rId31"/>
    <p:sldId id="272" r:id="rId32"/>
    <p:sldId id="307" r:id="rId33"/>
  </p:sldIdLst>
  <p:sldSz cx="9144000" cy="5143500" type="screen16x9"/>
  <p:notesSz cx="6858000" cy="9144000"/>
  <p:embeddedFontLs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Dosis" pitchFamily="2" charset="0"/>
      <p:regular r:id="rId39"/>
      <p:bold r:id="rId40"/>
    </p:embeddedFont>
    <p:embeddedFont>
      <p:font typeface="Helvetica" panose="020B0604020202020204" pitchFamily="34" charset="0"/>
      <p:regular r:id="rId41"/>
      <p:bold r:id="rId42"/>
      <p:italic r:id="rId43"/>
      <p:boldItalic r:id="rId44"/>
    </p:embeddedFont>
    <p:embeddedFont>
      <p:font typeface="Segoe UI" panose="020B0502040204020203" pitchFamily="34" charset="0"/>
      <p:regular r:id="rId45"/>
      <p:bold r:id="rId46"/>
      <p:italic r:id="rId47"/>
      <p:boldItalic r:id="rId48"/>
    </p:embeddedFont>
    <p:embeddedFont>
      <p:font typeface="Space Grotesk" panose="020B0604020202020204" charset="0"/>
      <p:regular r:id="rId49"/>
      <p:bold r:id="rId50"/>
    </p:embeddedFont>
    <p:embeddedFont>
      <p:font typeface="Space Grotesk Light" panose="020B0604020202020204" charset="0"/>
      <p:regular r:id="rId51"/>
      <p:bold r:id="rId52"/>
    </p:embeddedFont>
    <p:embeddedFont>
      <p:font typeface="Space Grotesk Medium" panose="020B060402020202020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jdhnSw0mXkQg9u0bc1nEdsQBft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E3B"/>
    <a:srgbClr val="00B7FF"/>
    <a:srgbClr val="070D7F"/>
    <a:srgbClr val="000000"/>
    <a:srgbClr val="1310A0"/>
    <a:srgbClr val="2043A4"/>
    <a:srgbClr val="2900C0"/>
    <a:srgbClr val="442395"/>
    <a:srgbClr val="78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72DF2-5866-4BD9-90D9-472611E76D45}">
  <a:tblStyle styleId="{40272DF2-5866-4BD9-90D9-472611E76D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89379" autoAdjust="0"/>
  </p:normalViewPr>
  <p:slideViewPr>
    <p:cSldViewPr snapToGrid="0">
      <p:cViewPr varScale="1">
        <p:scale>
          <a:sx n="109" d="100"/>
          <a:sy n="109" d="100"/>
        </p:scale>
        <p:origin x="14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28" name="Google Shape;22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34" name="Google Shape;22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57" name="Google Shape;22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63" name="Google Shape;22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69" name="Google Shape;22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75" name="Google Shape;2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92" name="Google Shape;22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18" name="Google Shape;23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A1B6A0BB-D4F5-730B-D09C-85A5051F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5BB2C5FA-4E0D-EDF5-D49E-741C1DDFB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200AF9DB-022F-2473-D921-05F462D6F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1922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28289D60-108C-DED9-FC72-B8C47E35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D0459B81-3A1B-41A3-038C-ABC6C6D39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8F266D17-B530-82D6-1F60-FE1A3CA87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345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24F08974-4F36-6DC4-4DC8-050D215B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188A2FC7-348D-94FA-6D51-2670BF8CE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C347B7BF-5D9D-AB88-ADD3-BFBC3EA14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041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FD4C334E-4166-3CB5-4DCE-E09356F3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E7B354CA-1F5D-ADA9-0C33-BD08742E5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E9D342FB-3803-40FD-C505-03115B96A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5394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A3AB87C7-0B0D-74E7-63F7-4FEFA5F5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81FB5298-0162-C30E-3861-931E3525D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BE959AEF-E1FA-F460-1059-A24945975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1374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34A720B3-9BAE-DC07-C3EE-0202AFE2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7050C2E6-3B88-D7C6-ECD5-3A94873CB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BFEB17B5-0E6F-F965-9220-3B442F5BA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9220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3CB4F3F8-5FC0-546A-6C12-E82E1E36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4FB74562-A017-BC5F-A520-4572A4A95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35E2A054-418E-05F4-2381-03C2242CF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872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33195B30-C022-EA03-415F-668ACCF5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BB0D9351-3713-F935-A36F-B5F77BC76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3985476A-D3FD-5C17-33D2-DEB99CBA4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981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770ED01C-7E87-F13F-F520-D6C98AF8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>
            <a:extLst>
              <a:ext uri="{FF2B5EF4-FFF2-40B4-BE49-F238E27FC236}">
                <a16:creationId xmlns:a16="http://schemas.microsoft.com/office/drawing/2014/main" id="{152192A0-82BD-F7C4-DA8C-30437D4943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>
            <a:extLst>
              <a:ext uri="{FF2B5EF4-FFF2-40B4-BE49-F238E27FC236}">
                <a16:creationId xmlns:a16="http://schemas.microsoft.com/office/drawing/2014/main" id="{BE3B04E3-3D76-C13C-4455-F65F44C97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3253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9113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30" name="Google Shape;23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4">
          <a:extLst>
            <a:ext uri="{FF2B5EF4-FFF2-40B4-BE49-F238E27FC236}">
              <a16:creationId xmlns:a16="http://schemas.microsoft.com/office/drawing/2014/main" id="{7FC3A07D-D392-E561-5406-29A83242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2:notes">
            <a:extLst>
              <a:ext uri="{FF2B5EF4-FFF2-40B4-BE49-F238E27FC236}">
                <a16:creationId xmlns:a16="http://schemas.microsoft.com/office/drawing/2014/main" id="{EC25FC96-7550-7769-9A7E-EA468784A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36" name="Google Shape;2336;p12:notes">
            <a:extLst>
              <a:ext uri="{FF2B5EF4-FFF2-40B4-BE49-F238E27FC236}">
                <a16:creationId xmlns:a16="http://schemas.microsoft.com/office/drawing/2014/main" id="{5B00BB16-1BFA-229E-7C85-2499FA9FB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5317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2" name="Google Shape;2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939" name="Google Shape;293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26A9CFBB-CDD3-A9E0-3483-220D0A9A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p41:notes">
            <a:extLst>
              <a:ext uri="{FF2B5EF4-FFF2-40B4-BE49-F238E27FC236}">
                <a16:creationId xmlns:a16="http://schemas.microsoft.com/office/drawing/2014/main" id="{7387CBB8-3E0F-709A-20D0-E2C530467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939" name="Google Shape;2939;p41:notes">
            <a:extLst>
              <a:ext uri="{FF2B5EF4-FFF2-40B4-BE49-F238E27FC236}">
                <a16:creationId xmlns:a16="http://schemas.microsoft.com/office/drawing/2014/main" id="{FE2BE754-1476-E3FF-F8B5-BC8FDAD84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22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67030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58980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>
          <a:extLst>
            <a:ext uri="{FF2B5EF4-FFF2-40B4-BE49-F238E27FC236}">
              <a16:creationId xmlns:a16="http://schemas.microsoft.com/office/drawing/2014/main" id="{DC8133F2-AFC0-EF24-149E-E80BBD5E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7:notes">
            <a:extLst>
              <a:ext uri="{FF2B5EF4-FFF2-40B4-BE49-F238E27FC236}">
                <a16:creationId xmlns:a16="http://schemas.microsoft.com/office/drawing/2014/main" id="{5483B17D-033A-4674-1C32-9BF1E4C16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17:notes">
            <a:extLst>
              <a:ext uri="{FF2B5EF4-FFF2-40B4-BE49-F238E27FC236}">
                <a16:creationId xmlns:a16="http://schemas.microsoft.com/office/drawing/2014/main" id="{5224564A-55DA-C489-FC2E-DEF06EA74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4769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>
            <a:spLocks noGrp="1"/>
          </p:cNvSpPr>
          <p:nvPr>
            <p:ph type="title"/>
          </p:nvPr>
        </p:nvSpPr>
        <p:spPr>
          <a:xfrm>
            <a:off x="1506398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ubTitle" idx="1"/>
          </p:nvPr>
        </p:nvSpPr>
        <p:spPr>
          <a:xfrm>
            <a:off x="1506390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title" idx="3"/>
          </p:nvPr>
        </p:nvSpPr>
        <p:spPr>
          <a:xfrm>
            <a:off x="1506523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title" idx="4"/>
          </p:nvPr>
        </p:nvSpPr>
        <p:spPr>
          <a:xfrm>
            <a:off x="730469" y="342502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ubTitle" idx="5"/>
          </p:nvPr>
        </p:nvSpPr>
        <p:spPr>
          <a:xfrm>
            <a:off x="1506514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title" idx="6"/>
          </p:nvPr>
        </p:nvSpPr>
        <p:spPr>
          <a:xfrm>
            <a:off x="5045226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subTitle" idx="8"/>
          </p:nvPr>
        </p:nvSpPr>
        <p:spPr>
          <a:xfrm>
            <a:off x="5045218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title" idx="9"/>
          </p:nvPr>
        </p:nvSpPr>
        <p:spPr>
          <a:xfrm>
            <a:off x="4282125" y="342502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44"/>
          <p:cNvGrpSpPr/>
          <p:nvPr/>
        </p:nvGrpSpPr>
        <p:grpSpPr>
          <a:xfrm>
            <a:off x="-3302090" y="-450720"/>
            <a:ext cx="4015313" cy="3884503"/>
            <a:chOff x="5440750" y="1669400"/>
            <a:chExt cx="971525" cy="939875"/>
          </a:xfrm>
        </p:grpSpPr>
        <p:sp>
          <p:nvSpPr>
            <p:cNvPr id="148" name="Google Shape;148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4"/>
          <p:cNvSpPr/>
          <p:nvPr/>
        </p:nvSpPr>
        <p:spPr>
          <a:xfrm>
            <a:off x="7013780" y="2081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4"/>
          <p:cNvGrpSpPr/>
          <p:nvPr/>
        </p:nvGrpSpPr>
        <p:grpSpPr>
          <a:xfrm>
            <a:off x="7000981" y="195816"/>
            <a:ext cx="849275" cy="848250"/>
            <a:chOff x="2651171" y="2397773"/>
            <a:chExt cx="2099568" cy="2097033"/>
          </a:xfrm>
        </p:grpSpPr>
        <p:sp>
          <p:nvSpPr>
            <p:cNvPr id="269" name="Google Shape;269;p44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44"/>
          <p:cNvGrpSpPr/>
          <p:nvPr/>
        </p:nvGrpSpPr>
        <p:grpSpPr>
          <a:xfrm>
            <a:off x="7263610" y="-297378"/>
            <a:ext cx="2216073" cy="1834889"/>
            <a:chOff x="2210400" y="2558550"/>
            <a:chExt cx="971025" cy="804000"/>
          </a:xfrm>
        </p:grpSpPr>
        <p:sp>
          <p:nvSpPr>
            <p:cNvPr id="272" name="Google Shape;272;p4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5978160" y="2286430"/>
            <a:ext cx="4015313" cy="3884503"/>
            <a:chOff x="5440750" y="1669400"/>
            <a:chExt cx="971525" cy="939875"/>
          </a:xfrm>
        </p:grpSpPr>
        <p:sp>
          <p:nvSpPr>
            <p:cNvPr id="281" name="Google Shape;281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>
            <a:spLocks noGrp="1"/>
          </p:cNvSpPr>
          <p:nvPr>
            <p:ph type="title" idx="13"/>
          </p:nvPr>
        </p:nvSpPr>
        <p:spPr>
          <a:xfrm>
            <a:off x="5045351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4"/>
          </p:nvPr>
        </p:nvSpPr>
        <p:spPr>
          <a:xfrm>
            <a:off x="5045342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1"/>
          </p:nvPr>
        </p:nvSpPr>
        <p:spPr>
          <a:xfrm>
            <a:off x="5449425" y="3203575"/>
            <a:ext cx="2998800" cy="604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5" name="Google Shape;445;p4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46" name="Google Shape;446;p46"/>
          <p:cNvGrpSpPr/>
          <p:nvPr/>
        </p:nvGrpSpPr>
        <p:grpSpPr>
          <a:xfrm rot="10800000" flipH="1">
            <a:off x="-1432565" y="-125795"/>
            <a:ext cx="4015313" cy="3884503"/>
            <a:chOff x="5440750" y="1669400"/>
            <a:chExt cx="971525" cy="939875"/>
          </a:xfrm>
        </p:grpSpPr>
        <p:sp>
          <p:nvSpPr>
            <p:cNvPr id="447" name="Google Shape;447;p46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6"/>
          <p:cNvGrpSpPr/>
          <p:nvPr/>
        </p:nvGrpSpPr>
        <p:grpSpPr>
          <a:xfrm>
            <a:off x="1147477" y="2947974"/>
            <a:ext cx="2872292" cy="2378232"/>
            <a:chOff x="2210400" y="2558550"/>
            <a:chExt cx="971025" cy="804000"/>
          </a:xfrm>
        </p:grpSpPr>
        <p:sp>
          <p:nvSpPr>
            <p:cNvPr id="567" name="Google Shape;567;p4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1392756" y="169091"/>
            <a:ext cx="849275" cy="848250"/>
            <a:chOff x="2651171" y="2397773"/>
            <a:chExt cx="2099568" cy="2097033"/>
          </a:xfrm>
        </p:grpSpPr>
        <p:sp>
          <p:nvSpPr>
            <p:cNvPr id="576" name="Google Shape;576;p46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1" name="Google Shape;581;p47"/>
          <p:cNvGrpSpPr/>
          <p:nvPr/>
        </p:nvGrpSpPr>
        <p:grpSpPr>
          <a:xfrm>
            <a:off x="7407435" y="2879891"/>
            <a:ext cx="849275" cy="848250"/>
            <a:chOff x="8751122" y="1283566"/>
            <a:chExt cx="849275" cy="848250"/>
          </a:xfrm>
        </p:grpSpPr>
        <p:sp>
          <p:nvSpPr>
            <p:cNvPr id="582" name="Google Shape;582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584" name="Google Shape;584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6" name="Google Shape;586;p47"/>
          <p:cNvGrpSpPr/>
          <p:nvPr/>
        </p:nvGrpSpPr>
        <p:grpSpPr>
          <a:xfrm flipH="1">
            <a:off x="5896360" y="1526509"/>
            <a:ext cx="4030417" cy="3337154"/>
            <a:chOff x="3573297" y="232872"/>
            <a:chExt cx="5470164" cy="4529254"/>
          </a:xfrm>
        </p:grpSpPr>
        <p:sp>
          <p:nvSpPr>
            <p:cNvPr id="587" name="Google Shape;587;p4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 flipH="1">
            <a:off x="6009660" y="227499"/>
            <a:ext cx="2872292" cy="2378232"/>
            <a:chOff x="2210400" y="2558550"/>
            <a:chExt cx="971025" cy="804000"/>
          </a:xfrm>
        </p:grpSpPr>
        <p:sp>
          <p:nvSpPr>
            <p:cNvPr id="596" name="Google Shape;596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47"/>
          <p:cNvGrpSpPr/>
          <p:nvPr/>
        </p:nvGrpSpPr>
        <p:grpSpPr>
          <a:xfrm flipH="1">
            <a:off x="7973021" y="1064981"/>
            <a:ext cx="849356" cy="703259"/>
            <a:chOff x="2210400" y="2558550"/>
            <a:chExt cx="971025" cy="804000"/>
          </a:xfrm>
        </p:grpSpPr>
        <p:sp>
          <p:nvSpPr>
            <p:cNvPr id="605" name="Google Shape;605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47"/>
          <p:cNvGrpSpPr/>
          <p:nvPr/>
        </p:nvGrpSpPr>
        <p:grpSpPr>
          <a:xfrm>
            <a:off x="8979722" y="1283566"/>
            <a:ext cx="849275" cy="848250"/>
            <a:chOff x="8751122" y="1283566"/>
            <a:chExt cx="849275" cy="848250"/>
          </a:xfrm>
        </p:grpSpPr>
        <p:sp>
          <p:nvSpPr>
            <p:cNvPr id="614" name="Google Shape;614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16" name="Google Shape;616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47"/>
          <p:cNvSpPr/>
          <p:nvPr/>
        </p:nvSpPr>
        <p:spPr>
          <a:xfrm flipH="1">
            <a:off x="6112238" y="36430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21" name="Google Shape;621;p48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622" name="Google Shape;622;p4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-127072" y="4085003"/>
            <a:ext cx="1067211" cy="1065922"/>
            <a:chOff x="2651171" y="2397773"/>
            <a:chExt cx="2099568" cy="2097033"/>
          </a:xfrm>
        </p:grpSpPr>
        <p:sp>
          <p:nvSpPr>
            <p:cNvPr id="646" name="Google Shape;646;p48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7249668" y="4045148"/>
            <a:ext cx="572715" cy="572715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0"/>
                </a:moveTo>
                <a:lnTo>
                  <a:pt x="0" y="6197"/>
                </a:lnTo>
                <a:lnTo>
                  <a:pt x="6179" y="12376"/>
                </a:lnTo>
                <a:lnTo>
                  <a:pt x="12376" y="6197"/>
                </a:lnTo>
                <a:lnTo>
                  <a:pt x="6179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48"/>
          <p:cNvGrpSpPr/>
          <p:nvPr/>
        </p:nvGrpSpPr>
        <p:grpSpPr>
          <a:xfrm>
            <a:off x="7009646" y="2171158"/>
            <a:ext cx="3966057" cy="4359080"/>
            <a:chOff x="5440750" y="1541475"/>
            <a:chExt cx="971525" cy="1067800"/>
          </a:xfrm>
        </p:grpSpPr>
        <p:sp>
          <p:nvSpPr>
            <p:cNvPr id="651" name="Google Shape;651;p48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9"/>
          <p:cNvGrpSpPr/>
          <p:nvPr/>
        </p:nvGrpSpPr>
        <p:grpSpPr>
          <a:xfrm>
            <a:off x="2787991" y="1287889"/>
            <a:ext cx="3563418" cy="3276021"/>
            <a:chOff x="4765450" y="2817950"/>
            <a:chExt cx="894275" cy="822150"/>
          </a:xfrm>
        </p:grpSpPr>
        <p:sp>
          <p:nvSpPr>
            <p:cNvPr id="666" name="Google Shape;666;p4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49"/>
          <p:cNvGrpSpPr/>
          <p:nvPr/>
        </p:nvGrpSpPr>
        <p:grpSpPr>
          <a:xfrm>
            <a:off x="7185910" y="-217751"/>
            <a:ext cx="2872292" cy="2378232"/>
            <a:chOff x="2210400" y="2558550"/>
            <a:chExt cx="971025" cy="804000"/>
          </a:xfrm>
        </p:grpSpPr>
        <p:sp>
          <p:nvSpPr>
            <p:cNvPr id="671" name="Google Shape;671;p4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49"/>
          <p:cNvGrpSpPr/>
          <p:nvPr/>
        </p:nvGrpSpPr>
        <p:grpSpPr>
          <a:xfrm flipH="1">
            <a:off x="8813326" y="-9"/>
            <a:ext cx="849275" cy="848250"/>
            <a:chOff x="8751122" y="1283566"/>
            <a:chExt cx="849275" cy="848250"/>
          </a:xfrm>
        </p:grpSpPr>
        <p:sp>
          <p:nvSpPr>
            <p:cNvPr id="680" name="Google Shape;680;p49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49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82" name="Google Shape;682;p49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9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4" name="Google Shape;684;p49"/>
          <p:cNvGrpSpPr/>
          <p:nvPr/>
        </p:nvGrpSpPr>
        <p:grpSpPr>
          <a:xfrm>
            <a:off x="-259090" y="4167881"/>
            <a:ext cx="1142271" cy="1145681"/>
            <a:chOff x="6167975" y="2118400"/>
            <a:chExt cx="150775" cy="151225"/>
          </a:xfrm>
        </p:grpSpPr>
        <p:sp>
          <p:nvSpPr>
            <p:cNvPr id="685" name="Google Shape;685;p49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49"/>
          <p:cNvGrpSpPr/>
          <p:nvPr/>
        </p:nvGrpSpPr>
        <p:grpSpPr>
          <a:xfrm>
            <a:off x="-269226" y="3517179"/>
            <a:ext cx="1162531" cy="1161127"/>
            <a:chOff x="2651171" y="2397773"/>
            <a:chExt cx="2099568" cy="2097033"/>
          </a:xfrm>
        </p:grpSpPr>
        <p:sp>
          <p:nvSpPr>
            <p:cNvPr id="688" name="Google Shape;688;p49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49"/>
          <p:cNvSpPr/>
          <p:nvPr/>
        </p:nvSpPr>
        <p:spPr>
          <a:xfrm>
            <a:off x="7472262" y="127554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9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2" name="Google Shape;692;p49"/>
          <p:cNvSpPr txBox="1">
            <a:spLocks noGrp="1"/>
          </p:cNvSpPr>
          <p:nvPr>
            <p:ph type="subTitle" idx="1"/>
          </p:nvPr>
        </p:nvSpPr>
        <p:spPr>
          <a:xfrm>
            <a:off x="8832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49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ubTitle" idx="3"/>
          </p:nvPr>
        </p:nvSpPr>
        <p:spPr>
          <a:xfrm>
            <a:off x="8832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49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49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subTitle" idx="13"/>
          </p:nvPr>
        </p:nvSpPr>
        <p:spPr>
          <a:xfrm>
            <a:off x="60927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49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3" name="Google Shape;703;p49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6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706" name="Google Shape;706;p50"/>
          <p:cNvGrpSpPr/>
          <p:nvPr/>
        </p:nvGrpSpPr>
        <p:grpSpPr>
          <a:xfrm rot="10800000" flipH="1">
            <a:off x="-1801065" y="629505"/>
            <a:ext cx="4015313" cy="3884503"/>
            <a:chOff x="5440750" y="1669400"/>
            <a:chExt cx="971525" cy="939875"/>
          </a:xfrm>
        </p:grpSpPr>
        <p:sp>
          <p:nvSpPr>
            <p:cNvPr id="707" name="Google Shape;707;p50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0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0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0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0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0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0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0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0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0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0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0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0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0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0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0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0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0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0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0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0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0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0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0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0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0"/>
          <p:cNvGrpSpPr/>
          <p:nvPr/>
        </p:nvGrpSpPr>
        <p:grpSpPr>
          <a:xfrm>
            <a:off x="8502856" y="115366"/>
            <a:ext cx="849275" cy="848250"/>
            <a:chOff x="2651171" y="2397773"/>
            <a:chExt cx="2099568" cy="2097033"/>
          </a:xfrm>
        </p:grpSpPr>
        <p:sp>
          <p:nvSpPr>
            <p:cNvPr id="827" name="Google Shape;827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50"/>
          <p:cNvGrpSpPr/>
          <p:nvPr/>
        </p:nvGrpSpPr>
        <p:grpSpPr>
          <a:xfrm>
            <a:off x="8163956" y="115366"/>
            <a:ext cx="849275" cy="848250"/>
            <a:chOff x="2651171" y="2397773"/>
            <a:chExt cx="2099568" cy="2097033"/>
          </a:xfrm>
        </p:grpSpPr>
        <p:sp>
          <p:nvSpPr>
            <p:cNvPr id="830" name="Google Shape;830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3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4" name="Google Shape;834;p51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51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6" name="Google Shape;836;p51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7" name="Google Shape;837;p51"/>
          <p:cNvGrpSpPr/>
          <p:nvPr/>
        </p:nvGrpSpPr>
        <p:grpSpPr>
          <a:xfrm>
            <a:off x="-534234" y="2591589"/>
            <a:ext cx="3563418" cy="3276021"/>
            <a:chOff x="4765450" y="2817950"/>
            <a:chExt cx="894275" cy="822150"/>
          </a:xfrm>
        </p:grpSpPr>
        <p:sp>
          <p:nvSpPr>
            <p:cNvPr id="838" name="Google Shape;838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51"/>
          <p:cNvGrpSpPr/>
          <p:nvPr/>
        </p:nvGrpSpPr>
        <p:grpSpPr>
          <a:xfrm>
            <a:off x="666212" y="4424016"/>
            <a:ext cx="1162531" cy="1161127"/>
            <a:chOff x="7253149" y="3334154"/>
            <a:chExt cx="1162531" cy="1161127"/>
          </a:xfrm>
        </p:grpSpPr>
        <p:sp>
          <p:nvSpPr>
            <p:cNvPr id="843" name="Google Shape;843;p51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51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845" name="Google Shape;845;p51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1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7" name="Google Shape;847;p51"/>
          <p:cNvGrpSpPr/>
          <p:nvPr/>
        </p:nvGrpSpPr>
        <p:grpSpPr>
          <a:xfrm>
            <a:off x="7582096" y="290150"/>
            <a:ext cx="1162705" cy="962710"/>
            <a:chOff x="2210400" y="2558550"/>
            <a:chExt cx="971025" cy="804000"/>
          </a:xfrm>
        </p:grpSpPr>
        <p:sp>
          <p:nvSpPr>
            <p:cNvPr id="848" name="Google Shape;848;p5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51"/>
          <p:cNvGrpSpPr/>
          <p:nvPr/>
        </p:nvGrpSpPr>
        <p:grpSpPr>
          <a:xfrm>
            <a:off x="7415915" y="125143"/>
            <a:ext cx="3960194" cy="4417325"/>
            <a:chOff x="4665875" y="2544104"/>
            <a:chExt cx="993850" cy="1108571"/>
          </a:xfrm>
        </p:grpSpPr>
        <p:sp>
          <p:nvSpPr>
            <p:cNvPr id="857" name="Google Shape;857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665875" y="2544104"/>
              <a:ext cx="316425" cy="316425"/>
            </a:xfrm>
            <a:custGeom>
              <a:avLst/>
              <a:gdLst/>
              <a:ahLst/>
              <a:cxnLst/>
              <a:rect l="l" t="t" r="r" b="b"/>
              <a:pathLst>
                <a:path w="12657" h="12657" extrusionOk="0">
                  <a:moveTo>
                    <a:pt x="6329" y="1"/>
                  </a:moveTo>
                  <a:lnTo>
                    <a:pt x="1" y="6328"/>
                  </a:lnTo>
                  <a:lnTo>
                    <a:pt x="6329" y="12656"/>
                  </a:lnTo>
                  <a:lnTo>
                    <a:pt x="12656" y="6328"/>
                  </a:lnTo>
                  <a:lnTo>
                    <a:pt x="632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920850" y="3013825"/>
              <a:ext cx="358275" cy="358275"/>
            </a:xfrm>
            <a:custGeom>
              <a:avLst/>
              <a:gdLst/>
              <a:ahLst/>
              <a:cxnLst/>
              <a:rect l="l" t="t" r="r" b="b"/>
              <a:pathLst>
                <a:path w="14331" h="14331" extrusionOk="0">
                  <a:moveTo>
                    <a:pt x="7165" y="1"/>
                  </a:moveTo>
                  <a:lnTo>
                    <a:pt x="0" y="7166"/>
                  </a:lnTo>
                  <a:lnTo>
                    <a:pt x="7165" y="14331"/>
                  </a:lnTo>
                  <a:lnTo>
                    <a:pt x="14331" y="7166"/>
                  </a:lnTo>
                  <a:lnTo>
                    <a:pt x="7165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1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7" name="Google Shape;867;p51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1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9" name="Google Shape;869;p51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grpSp>
        <p:nvGrpSpPr>
          <p:cNvPr id="874" name="Google Shape;874;p52"/>
          <p:cNvGrpSpPr/>
          <p:nvPr/>
        </p:nvGrpSpPr>
        <p:grpSpPr>
          <a:xfrm flipH="1">
            <a:off x="-381695" y="-226791"/>
            <a:ext cx="1460810" cy="1209538"/>
            <a:chOff x="2210400" y="2558550"/>
            <a:chExt cx="971025" cy="804000"/>
          </a:xfrm>
        </p:grpSpPr>
        <p:sp>
          <p:nvSpPr>
            <p:cNvPr id="875" name="Google Shape;875;p52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2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2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2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2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2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2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2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3" name="Google Shape;883;p52"/>
          <p:cNvSpPr/>
          <p:nvPr/>
        </p:nvSpPr>
        <p:spPr>
          <a:xfrm rot="10800000">
            <a:off x="7791243" y="-32071"/>
            <a:ext cx="1143140" cy="114314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2"/>
          <p:cNvSpPr/>
          <p:nvPr/>
        </p:nvSpPr>
        <p:spPr>
          <a:xfrm rot="10800000" flipH="1">
            <a:off x="-246354" y="-134571"/>
            <a:ext cx="1022043" cy="1025094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5" name="Google Shape;885;p52"/>
          <p:cNvGrpSpPr/>
          <p:nvPr/>
        </p:nvGrpSpPr>
        <p:grpSpPr>
          <a:xfrm rot="10800000">
            <a:off x="7328955" y="1039651"/>
            <a:ext cx="3587355" cy="2970298"/>
            <a:chOff x="2210400" y="2558550"/>
            <a:chExt cx="971025" cy="804000"/>
          </a:xfrm>
        </p:grpSpPr>
        <p:grpSp>
          <p:nvGrpSpPr>
            <p:cNvPr id="886" name="Google Shape;886;p52"/>
            <p:cNvGrpSpPr/>
            <p:nvPr/>
          </p:nvGrpSpPr>
          <p:grpSpPr>
            <a:xfrm>
              <a:off x="2210400" y="2558550"/>
              <a:ext cx="971025" cy="804000"/>
              <a:chOff x="2210400" y="2558550"/>
              <a:chExt cx="971025" cy="804000"/>
            </a:xfrm>
          </p:grpSpPr>
          <p:sp>
            <p:nvSpPr>
              <p:cNvPr id="887" name="Google Shape;887;p52"/>
              <p:cNvSpPr/>
              <p:nvPr/>
            </p:nvSpPr>
            <p:spPr>
              <a:xfrm>
                <a:off x="228065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52"/>
              <p:cNvSpPr/>
              <p:nvPr/>
            </p:nvSpPr>
            <p:spPr>
              <a:xfrm>
                <a:off x="2256925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78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52"/>
              <p:cNvSpPr/>
              <p:nvPr/>
            </p:nvSpPr>
            <p:spPr>
              <a:xfrm>
                <a:off x="2233650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52"/>
              <p:cNvSpPr/>
              <p:nvPr/>
            </p:nvSpPr>
            <p:spPr>
              <a:xfrm>
                <a:off x="22104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52"/>
              <p:cNvSpPr/>
              <p:nvPr/>
            </p:nvSpPr>
            <p:spPr>
              <a:xfrm>
                <a:off x="2377425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28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52"/>
              <p:cNvSpPr/>
              <p:nvPr/>
            </p:nvSpPr>
            <p:spPr>
              <a:xfrm>
                <a:off x="2353700" y="2558550"/>
                <a:ext cx="804000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0" h="32160" extrusionOk="0">
                    <a:moveTo>
                      <a:pt x="447" y="16080"/>
                    </a:moveTo>
                    <a:lnTo>
                      <a:pt x="16080" y="31731"/>
                    </a:lnTo>
                    <a:lnTo>
                      <a:pt x="31732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0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52"/>
              <p:cNvSpPr/>
              <p:nvPr/>
            </p:nvSpPr>
            <p:spPr>
              <a:xfrm>
                <a:off x="2330425" y="2558550"/>
                <a:ext cx="80402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61" h="32160" extrusionOk="0">
                    <a:moveTo>
                      <a:pt x="429" y="16080"/>
                    </a:moveTo>
                    <a:lnTo>
                      <a:pt x="16080" y="31731"/>
                    </a:lnTo>
                    <a:lnTo>
                      <a:pt x="31713" y="16080"/>
                    </a:lnTo>
                    <a:lnTo>
                      <a:pt x="16080" y="428"/>
                    </a:lnTo>
                    <a:close/>
                    <a:moveTo>
                      <a:pt x="16080" y="32159"/>
                    </a:moveTo>
                    <a:lnTo>
                      <a:pt x="1" y="16080"/>
                    </a:lnTo>
                    <a:lnTo>
                      <a:pt x="16080" y="0"/>
                    </a:lnTo>
                    <a:lnTo>
                      <a:pt x="32160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52"/>
              <p:cNvSpPr/>
              <p:nvPr/>
            </p:nvSpPr>
            <p:spPr>
              <a:xfrm>
                <a:off x="2306700" y="2558550"/>
                <a:ext cx="804475" cy="804000"/>
              </a:xfrm>
              <a:custGeom>
                <a:avLst/>
                <a:gdLst/>
                <a:ahLst/>
                <a:cxnLst/>
                <a:rect l="l" t="t" r="r" b="b"/>
                <a:pathLst>
                  <a:path w="32179" h="32160" extrusionOk="0">
                    <a:moveTo>
                      <a:pt x="447" y="16080"/>
                    </a:moveTo>
                    <a:lnTo>
                      <a:pt x="16099" y="31731"/>
                    </a:lnTo>
                    <a:lnTo>
                      <a:pt x="31732" y="16080"/>
                    </a:lnTo>
                    <a:lnTo>
                      <a:pt x="16099" y="428"/>
                    </a:lnTo>
                    <a:close/>
                    <a:moveTo>
                      <a:pt x="16099" y="32159"/>
                    </a:moveTo>
                    <a:lnTo>
                      <a:pt x="1" y="16080"/>
                    </a:lnTo>
                    <a:lnTo>
                      <a:pt x="16099" y="0"/>
                    </a:lnTo>
                    <a:lnTo>
                      <a:pt x="32179" y="16080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5" name="Google Shape;895;p52"/>
            <p:cNvSpPr/>
            <p:nvPr/>
          </p:nvSpPr>
          <p:spPr>
            <a:xfrm>
              <a:off x="2937150" y="3007525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34"/>
                  </a:lnTo>
                  <a:lnTo>
                    <a:pt x="3015" y="6049"/>
                  </a:lnTo>
                  <a:lnTo>
                    <a:pt x="6030" y="3034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2"/>
            <p:cNvSpPr/>
            <p:nvPr/>
          </p:nvSpPr>
          <p:spPr>
            <a:xfrm>
              <a:off x="2931550" y="3002400"/>
              <a:ext cx="161950" cy="161950"/>
            </a:xfrm>
            <a:custGeom>
              <a:avLst/>
              <a:gdLst/>
              <a:ahLst/>
              <a:cxnLst/>
              <a:rect l="l" t="t" r="r" b="b"/>
              <a:pathLst>
                <a:path w="6478" h="6478" extrusionOk="0">
                  <a:moveTo>
                    <a:pt x="447" y="3239"/>
                  </a:moveTo>
                  <a:lnTo>
                    <a:pt x="3239" y="6031"/>
                  </a:lnTo>
                  <a:lnTo>
                    <a:pt x="6031" y="3239"/>
                  </a:lnTo>
                  <a:lnTo>
                    <a:pt x="3239" y="429"/>
                  </a:lnTo>
                  <a:close/>
                  <a:moveTo>
                    <a:pt x="3239" y="6477"/>
                  </a:moveTo>
                  <a:lnTo>
                    <a:pt x="1" y="3239"/>
                  </a:lnTo>
                  <a:lnTo>
                    <a:pt x="3239" y="1"/>
                  </a:lnTo>
                  <a:lnTo>
                    <a:pt x="6477" y="3239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2"/>
            <p:cNvSpPr/>
            <p:nvPr/>
          </p:nvSpPr>
          <p:spPr>
            <a:xfrm>
              <a:off x="2959950" y="3030325"/>
              <a:ext cx="105175" cy="105650"/>
            </a:xfrm>
            <a:custGeom>
              <a:avLst/>
              <a:gdLst/>
              <a:ahLst/>
              <a:cxnLst/>
              <a:rect l="l" t="t" r="r" b="b"/>
              <a:pathLst>
                <a:path w="4207" h="4226" extrusionOk="0">
                  <a:moveTo>
                    <a:pt x="428" y="2122"/>
                  </a:moveTo>
                  <a:lnTo>
                    <a:pt x="2103" y="3778"/>
                  </a:lnTo>
                  <a:lnTo>
                    <a:pt x="3778" y="2122"/>
                  </a:lnTo>
                  <a:lnTo>
                    <a:pt x="2103" y="447"/>
                  </a:lnTo>
                  <a:close/>
                  <a:moveTo>
                    <a:pt x="2103" y="4225"/>
                  </a:moveTo>
                  <a:lnTo>
                    <a:pt x="0" y="2122"/>
                  </a:lnTo>
                  <a:lnTo>
                    <a:pt x="2103" y="0"/>
                  </a:lnTo>
                  <a:lnTo>
                    <a:pt x="4206" y="2122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2"/>
            <p:cNvSpPr/>
            <p:nvPr/>
          </p:nvSpPr>
          <p:spPr>
            <a:xfrm>
              <a:off x="28301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2"/>
            <p:cNvSpPr/>
            <p:nvPr/>
          </p:nvSpPr>
          <p:spPr>
            <a:xfrm>
              <a:off x="2830600" y="2949825"/>
              <a:ext cx="950" cy="2350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2"/>
            <p:cNvSpPr/>
            <p:nvPr/>
          </p:nvSpPr>
          <p:spPr>
            <a:xfrm>
              <a:off x="2831525" y="2949375"/>
              <a:ext cx="500" cy="3275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2"/>
            <p:cNvSpPr/>
            <p:nvPr/>
          </p:nvSpPr>
          <p:spPr>
            <a:xfrm>
              <a:off x="2832000" y="2948900"/>
              <a:ext cx="475" cy="4225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2"/>
            <p:cNvSpPr/>
            <p:nvPr/>
          </p:nvSpPr>
          <p:spPr>
            <a:xfrm>
              <a:off x="2832450" y="2948425"/>
              <a:ext cx="500" cy="5150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2832925" y="2947500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2"/>
            <p:cNvSpPr/>
            <p:nvPr/>
          </p:nvSpPr>
          <p:spPr>
            <a:xfrm>
              <a:off x="2833375" y="2947050"/>
              <a:ext cx="500" cy="792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2"/>
            <p:cNvSpPr/>
            <p:nvPr/>
          </p:nvSpPr>
          <p:spPr>
            <a:xfrm>
              <a:off x="2833850" y="2946575"/>
              <a:ext cx="950" cy="8875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2"/>
            <p:cNvSpPr/>
            <p:nvPr/>
          </p:nvSpPr>
          <p:spPr>
            <a:xfrm>
              <a:off x="283477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2"/>
            <p:cNvSpPr/>
            <p:nvPr/>
          </p:nvSpPr>
          <p:spPr>
            <a:xfrm>
              <a:off x="2835250" y="2945650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2"/>
            <p:cNvSpPr/>
            <p:nvPr/>
          </p:nvSpPr>
          <p:spPr>
            <a:xfrm>
              <a:off x="2835725" y="2945175"/>
              <a:ext cx="475" cy="11650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2"/>
            <p:cNvSpPr/>
            <p:nvPr/>
          </p:nvSpPr>
          <p:spPr>
            <a:xfrm>
              <a:off x="28361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2"/>
            <p:cNvSpPr/>
            <p:nvPr/>
          </p:nvSpPr>
          <p:spPr>
            <a:xfrm>
              <a:off x="2836650" y="2943775"/>
              <a:ext cx="475" cy="14450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2"/>
            <p:cNvSpPr/>
            <p:nvPr/>
          </p:nvSpPr>
          <p:spPr>
            <a:xfrm>
              <a:off x="2837100" y="2943325"/>
              <a:ext cx="975" cy="15375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2"/>
            <p:cNvSpPr/>
            <p:nvPr/>
          </p:nvSpPr>
          <p:spPr>
            <a:xfrm>
              <a:off x="2838050" y="2942850"/>
              <a:ext cx="475" cy="16300"/>
            </a:xfrm>
            <a:custGeom>
              <a:avLst/>
              <a:gdLst/>
              <a:ahLst/>
              <a:cxnLst/>
              <a:rect l="l" t="t" r="r" b="b"/>
              <a:pathLst>
                <a:path w="19" h="652" extrusionOk="0">
                  <a:moveTo>
                    <a:pt x="19" y="1"/>
                  </a:moveTo>
                  <a:lnTo>
                    <a:pt x="0" y="19"/>
                  </a:lnTo>
                  <a:lnTo>
                    <a:pt x="0" y="633"/>
                  </a:lnTo>
                  <a:lnTo>
                    <a:pt x="19" y="65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2"/>
            <p:cNvSpPr/>
            <p:nvPr/>
          </p:nvSpPr>
          <p:spPr>
            <a:xfrm>
              <a:off x="2838500" y="2942375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9" y="1"/>
                  </a:moveTo>
                  <a:lnTo>
                    <a:pt x="1" y="20"/>
                  </a:lnTo>
                  <a:lnTo>
                    <a:pt x="1" y="671"/>
                  </a:lnTo>
                  <a:lnTo>
                    <a:pt x="19" y="69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2"/>
            <p:cNvSpPr/>
            <p:nvPr/>
          </p:nvSpPr>
          <p:spPr>
            <a:xfrm>
              <a:off x="2838975" y="2941925"/>
              <a:ext cx="475" cy="18175"/>
            </a:xfrm>
            <a:custGeom>
              <a:avLst/>
              <a:gdLst/>
              <a:ahLst/>
              <a:cxnLst/>
              <a:rect l="l" t="t" r="r" b="b"/>
              <a:pathLst>
                <a:path w="19" h="727" extrusionOk="0">
                  <a:moveTo>
                    <a:pt x="19" y="0"/>
                  </a:moveTo>
                  <a:lnTo>
                    <a:pt x="0" y="19"/>
                  </a:lnTo>
                  <a:lnTo>
                    <a:pt x="0" y="708"/>
                  </a:lnTo>
                  <a:lnTo>
                    <a:pt x="19" y="72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2"/>
            <p:cNvSpPr/>
            <p:nvPr/>
          </p:nvSpPr>
          <p:spPr>
            <a:xfrm>
              <a:off x="2839425" y="2941000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20" y="0"/>
                  </a:moveTo>
                  <a:lnTo>
                    <a:pt x="1" y="37"/>
                  </a:lnTo>
                  <a:lnTo>
                    <a:pt x="1" y="763"/>
                  </a:lnTo>
                  <a:lnTo>
                    <a:pt x="20" y="782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2"/>
            <p:cNvSpPr/>
            <p:nvPr/>
          </p:nvSpPr>
          <p:spPr>
            <a:xfrm>
              <a:off x="283990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9" y="1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3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2"/>
            <p:cNvSpPr/>
            <p:nvPr/>
          </p:nvSpPr>
          <p:spPr>
            <a:xfrm>
              <a:off x="2840375" y="2940050"/>
              <a:ext cx="950" cy="21900"/>
            </a:xfrm>
            <a:custGeom>
              <a:avLst/>
              <a:gdLst/>
              <a:ahLst/>
              <a:cxnLst/>
              <a:rect l="l" t="t" r="r" b="b"/>
              <a:pathLst>
                <a:path w="38" h="876" extrusionOk="0">
                  <a:moveTo>
                    <a:pt x="37" y="1"/>
                  </a:moveTo>
                  <a:lnTo>
                    <a:pt x="0" y="20"/>
                  </a:lnTo>
                  <a:lnTo>
                    <a:pt x="0" y="857"/>
                  </a:lnTo>
                  <a:lnTo>
                    <a:pt x="37" y="876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2"/>
            <p:cNvSpPr/>
            <p:nvPr/>
          </p:nvSpPr>
          <p:spPr>
            <a:xfrm>
              <a:off x="2841300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19" y="0"/>
                  </a:moveTo>
                  <a:lnTo>
                    <a:pt x="0" y="19"/>
                  </a:lnTo>
                  <a:lnTo>
                    <a:pt x="0" y="894"/>
                  </a:lnTo>
                  <a:lnTo>
                    <a:pt x="19" y="91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2"/>
            <p:cNvSpPr/>
            <p:nvPr/>
          </p:nvSpPr>
          <p:spPr>
            <a:xfrm>
              <a:off x="28417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20" y="1"/>
                  </a:moveTo>
                  <a:lnTo>
                    <a:pt x="1" y="19"/>
                  </a:lnTo>
                  <a:lnTo>
                    <a:pt x="1" y="931"/>
                  </a:lnTo>
                  <a:lnTo>
                    <a:pt x="20" y="95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2"/>
            <p:cNvSpPr/>
            <p:nvPr/>
          </p:nvSpPr>
          <p:spPr>
            <a:xfrm>
              <a:off x="2842225" y="2938675"/>
              <a:ext cx="500" cy="24675"/>
            </a:xfrm>
            <a:custGeom>
              <a:avLst/>
              <a:gdLst/>
              <a:ahLst/>
              <a:cxnLst/>
              <a:rect l="l" t="t" r="r" b="b"/>
              <a:pathLst>
                <a:path w="20" h="987" extrusionOk="0">
                  <a:moveTo>
                    <a:pt x="19" y="0"/>
                  </a:moveTo>
                  <a:lnTo>
                    <a:pt x="1" y="19"/>
                  </a:lnTo>
                  <a:lnTo>
                    <a:pt x="1" y="968"/>
                  </a:lnTo>
                  <a:lnTo>
                    <a:pt x="19" y="98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2"/>
            <p:cNvSpPr/>
            <p:nvPr/>
          </p:nvSpPr>
          <p:spPr>
            <a:xfrm>
              <a:off x="2842700" y="2937725"/>
              <a:ext cx="475" cy="26100"/>
            </a:xfrm>
            <a:custGeom>
              <a:avLst/>
              <a:gdLst/>
              <a:ahLst/>
              <a:cxnLst/>
              <a:rect l="l" t="t" r="r" b="b"/>
              <a:pathLst>
                <a:path w="19" h="1044" extrusionOk="0">
                  <a:moveTo>
                    <a:pt x="19" y="1"/>
                  </a:moveTo>
                  <a:lnTo>
                    <a:pt x="0" y="38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2"/>
            <p:cNvSpPr/>
            <p:nvPr/>
          </p:nvSpPr>
          <p:spPr>
            <a:xfrm>
              <a:off x="2843150" y="2937275"/>
              <a:ext cx="500" cy="27475"/>
            </a:xfrm>
            <a:custGeom>
              <a:avLst/>
              <a:gdLst/>
              <a:ahLst/>
              <a:cxnLst/>
              <a:rect l="l" t="t" r="r" b="b"/>
              <a:pathLst>
                <a:path w="20" h="1099" extrusionOk="0">
                  <a:moveTo>
                    <a:pt x="19" y="0"/>
                  </a:moveTo>
                  <a:lnTo>
                    <a:pt x="1" y="19"/>
                  </a:lnTo>
                  <a:lnTo>
                    <a:pt x="1" y="1061"/>
                  </a:lnTo>
                  <a:lnTo>
                    <a:pt x="19" y="109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2"/>
            <p:cNvSpPr/>
            <p:nvPr/>
          </p:nvSpPr>
          <p:spPr>
            <a:xfrm>
              <a:off x="2843625" y="2936800"/>
              <a:ext cx="950" cy="28400"/>
            </a:xfrm>
            <a:custGeom>
              <a:avLst/>
              <a:gdLst/>
              <a:ahLst/>
              <a:cxnLst/>
              <a:rect l="l" t="t" r="r" b="b"/>
              <a:pathLst>
                <a:path w="38" h="1136" extrusionOk="0">
                  <a:moveTo>
                    <a:pt x="38" y="1"/>
                  </a:moveTo>
                  <a:lnTo>
                    <a:pt x="0" y="19"/>
                  </a:lnTo>
                  <a:lnTo>
                    <a:pt x="0" y="1117"/>
                  </a:lnTo>
                  <a:lnTo>
                    <a:pt x="38" y="1136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2"/>
            <p:cNvSpPr/>
            <p:nvPr/>
          </p:nvSpPr>
          <p:spPr>
            <a:xfrm>
              <a:off x="2844550" y="2936350"/>
              <a:ext cx="500" cy="29325"/>
            </a:xfrm>
            <a:custGeom>
              <a:avLst/>
              <a:gdLst/>
              <a:ahLst/>
              <a:cxnLst/>
              <a:rect l="l" t="t" r="r" b="b"/>
              <a:pathLst>
                <a:path w="20" h="1173" extrusionOk="0">
                  <a:moveTo>
                    <a:pt x="19" y="0"/>
                  </a:moveTo>
                  <a:lnTo>
                    <a:pt x="1" y="19"/>
                  </a:lnTo>
                  <a:lnTo>
                    <a:pt x="1" y="1154"/>
                  </a:lnTo>
                  <a:lnTo>
                    <a:pt x="19" y="117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2"/>
            <p:cNvSpPr/>
            <p:nvPr/>
          </p:nvSpPr>
          <p:spPr>
            <a:xfrm>
              <a:off x="2845025" y="2935875"/>
              <a:ext cx="475" cy="30275"/>
            </a:xfrm>
            <a:custGeom>
              <a:avLst/>
              <a:gdLst/>
              <a:ahLst/>
              <a:cxnLst/>
              <a:rect l="l" t="t" r="r" b="b"/>
              <a:pathLst>
                <a:path w="19" h="1211" extrusionOk="0">
                  <a:moveTo>
                    <a:pt x="19" y="0"/>
                  </a:moveTo>
                  <a:lnTo>
                    <a:pt x="0" y="19"/>
                  </a:lnTo>
                  <a:lnTo>
                    <a:pt x="0" y="1192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2"/>
            <p:cNvSpPr/>
            <p:nvPr/>
          </p:nvSpPr>
          <p:spPr>
            <a:xfrm>
              <a:off x="2845475" y="2935400"/>
              <a:ext cx="500" cy="31200"/>
            </a:xfrm>
            <a:custGeom>
              <a:avLst/>
              <a:gdLst/>
              <a:ahLst/>
              <a:cxnLst/>
              <a:rect l="l" t="t" r="r" b="b"/>
              <a:pathLst>
                <a:path w="20" h="1248" extrusionOk="0">
                  <a:moveTo>
                    <a:pt x="19" y="1"/>
                  </a:moveTo>
                  <a:lnTo>
                    <a:pt x="1" y="19"/>
                  </a:lnTo>
                  <a:lnTo>
                    <a:pt x="1" y="1229"/>
                  </a:lnTo>
                  <a:lnTo>
                    <a:pt x="19" y="124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2"/>
            <p:cNvSpPr/>
            <p:nvPr/>
          </p:nvSpPr>
          <p:spPr>
            <a:xfrm>
              <a:off x="284595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1"/>
                  </a:moveTo>
                  <a:lnTo>
                    <a:pt x="0" y="38"/>
                  </a:lnTo>
                  <a:lnTo>
                    <a:pt x="0" y="1285"/>
                  </a:lnTo>
                  <a:lnTo>
                    <a:pt x="19" y="130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2"/>
            <p:cNvSpPr/>
            <p:nvPr/>
          </p:nvSpPr>
          <p:spPr>
            <a:xfrm>
              <a:off x="2846425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19" y="1"/>
                  </a:moveTo>
                  <a:lnTo>
                    <a:pt x="0" y="20"/>
                  </a:lnTo>
                  <a:lnTo>
                    <a:pt x="0" y="1322"/>
                  </a:lnTo>
                  <a:lnTo>
                    <a:pt x="19" y="136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2"/>
            <p:cNvSpPr/>
            <p:nvPr/>
          </p:nvSpPr>
          <p:spPr>
            <a:xfrm>
              <a:off x="2846875" y="2933550"/>
              <a:ext cx="950" cy="34925"/>
            </a:xfrm>
            <a:custGeom>
              <a:avLst/>
              <a:gdLst/>
              <a:ahLst/>
              <a:cxnLst/>
              <a:rect l="l" t="t" r="r" b="b"/>
              <a:pathLst>
                <a:path w="38" h="1397" extrusionOk="0">
                  <a:moveTo>
                    <a:pt x="38" y="0"/>
                  </a:moveTo>
                  <a:lnTo>
                    <a:pt x="1" y="19"/>
                  </a:lnTo>
                  <a:lnTo>
                    <a:pt x="1" y="1378"/>
                  </a:lnTo>
                  <a:lnTo>
                    <a:pt x="38" y="139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2"/>
            <p:cNvSpPr/>
            <p:nvPr/>
          </p:nvSpPr>
          <p:spPr>
            <a:xfrm>
              <a:off x="28478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20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20" y="1434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2"/>
            <p:cNvSpPr/>
            <p:nvPr/>
          </p:nvSpPr>
          <p:spPr>
            <a:xfrm>
              <a:off x="2848275" y="2932625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2"/>
            <p:cNvSpPr/>
            <p:nvPr/>
          </p:nvSpPr>
          <p:spPr>
            <a:xfrm>
              <a:off x="2848750" y="2932150"/>
              <a:ext cx="475" cy="37700"/>
            </a:xfrm>
            <a:custGeom>
              <a:avLst/>
              <a:gdLst/>
              <a:ahLst/>
              <a:cxnLst/>
              <a:rect l="l" t="t" r="r" b="b"/>
              <a:pathLst>
                <a:path w="19" h="1508" extrusionOk="0">
                  <a:moveTo>
                    <a:pt x="19" y="1"/>
                  </a:moveTo>
                  <a:lnTo>
                    <a:pt x="0" y="19"/>
                  </a:lnTo>
                  <a:lnTo>
                    <a:pt x="0" y="1489"/>
                  </a:lnTo>
                  <a:lnTo>
                    <a:pt x="19" y="150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2"/>
            <p:cNvSpPr/>
            <p:nvPr/>
          </p:nvSpPr>
          <p:spPr>
            <a:xfrm>
              <a:off x="2849200" y="2931225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9" y="0"/>
                  </a:moveTo>
                  <a:lnTo>
                    <a:pt x="1" y="38"/>
                  </a:lnTo>
                  <a:lnTo>
                    <a:pt x="1" y="1545"/>
                  </a:lnTo>
                  <a:lnTo>
                    <a:pt x="19" y="156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2"/>
            <p:cNvSpPr/>
            <p:nvPr/>
          </p:nvSpPr>
          <p:spPr>
            <a:xfrm>
              <a:off x="2849675" y="2930750"/>
              <a:ext cx="475" cy="40500"/>
            </a:xfrm>
            <a:custGeom>
              <a:avLst/>
              <a:gdLst/>
              <a:ahLst/>
              <a:cxnLst/>
              <a:rect l="l" t="t" r="r" b="b"/>
              <a:pathLst>
                <a:path w="19" h="1620" extrusionOk="0">
                  <a:moveTo>
                    <a:pt x="19" y="1"/>
                  </a:moveTo>
                  <a:lnTo>
                    <a:pt x="0" y="19"/>
                  </a:lnTo>
                  <a:lnTo>
                    <a:pt x="0" y="1583"/>
                  </a:lnTo>
                  <a:lnTo>
                    <a:pt x="19" y="162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2"/>
            <p:cNvSpPr/>
            <p:nvPr/>
          </p:nvSpPr>
          <p:spPr>
            <a:xfrm>
              <a:off x="2850125" y="2930300"/>
              <a:ext cx="975" cy="41425"/>
            </a:xfrm>
            <a:custGeom>
              <a:avLst/>
              <a:gdLst/>
              <a:ahLst/>
              <a:cxnLst/>
              <a:rect l="l" t="t" r="r" b="b"/>
              <a:pathLst>
                <a:path w="39" h="1657" extrusionOk="0">
                  <a:moveTo>
                    <a:pt x="38" y="0"/>
                  </a:moveTo>
                  <a:lnTo>
                    <a:pt x="1" y="19"/>
                  </a:lnTo>
                  <a:lnTo>
                    <a:pt x="1" y="1638"/>
                  </a:lnTo>
                  <a:lnTo>
                    <a:pt x="38" y="1656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2"/>
            <p:cNvSpPr/>
            <p:nvPr/>
          </p:nvSpPr>
          <p:spPr>
            <a:xfrm>
              <a:off x="2851075" y="2929825"/>
              <a:ext cx="475" cy="42375"/>
            </a:xfrm>
            <a:custGeom>
              <a:avLst/>
              <a:gdLst/>
              <a:ahLst/>
              <a:cxnLst/>
              <a:rect l="l" t="t" r="r" b="b"/>
              <a:pathLst>
                <a:path w="19" h="1695" extrusionOk="0">
                  <a:moveTo>
                    <a:pt x="19" y="0"/>
                  </a:moveTo>
                  <a:lnTo>
                    <a:pt x="0" y="19"/>
                  </a:lnTo>
                  <a:lnTo>
                    <a:pt x="0" y="1675"/>
                  </a:lnTo>
                  <a:lnTo>
                    <a:pt x="19" y="169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2"/>
            <p:cNvSpPr/>
            <p:nvPr/>
          </p:nvSpPr>
          <p:spPr>
            <a:xfrm>
              <a:off x="285152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9" y="1"/>
                  </a:moveTo>
                  <a:lnTo>
                    <a:pt x="1" y="19"/>
                  </a:lnTo>
                  <a:lnTo>
                    <a:pt x="1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2"/>
            <p:cNvSpPr/>
            <p:nvPr/>
          </p:nvSpPr>
          <p:spPr>
            <a:xfrm>
              <a:off x="2852000" y="2928900"/>
              <a:ext cx="475" cy="44225"/>
            </a:xfrm>
            <a:custGeom>
              <a:avLst/>
              <a:gdLst/>
              <a:ahLst/>
              <a:cxnLst/>
              <a:rect l="l" t="t" r="r" b="b"/>
              <a:pathLst>
                <a:path w="19" h="1769" extrusionOk="0">
                  <a:moveTo>
                    <a:pt x="19" y="0"/>
                  </a:moveTo>
                  <a:lnTo>
                    <a:pt x="0" y="19"/>
                  </a:lnTo>
                  <a:lnTo>
                    <a:pt x="0" y="1750"/>
                  </a:lnTo>
                  <a:lnTo>
                    <a:pt x="19" y="17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2"/>
            <p:cNvSpPr/>
            <p:nvPr/>
          </p:nvSpPr>
          <p:spPr>
            <a:xfrm>
              <a:off x="2852475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19" y="0"/>
                  </a:moveTo>
                  <a:lnTo>
                    <a:pt x="0" y="37"/>
                  </a:lnTo>
                  <a:lnTo>
                    <a:pt x="0" y="1805"/>
                  </a:lnTo>
                  <a:lnTo>
                    <a:pt x="19" y="182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2"/>
            <p:cNvSpPr/>
            <p:nvPr/>
          </p:nvSpPr>
          <p:spPr>
            <a:xfrm>
              <a:off x="28529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19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19" y="18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2"/>
            <p:cNvSpPr/>
            <p:nvPr/>
          </p:nvSpPr>
          <p:spPr>
            <a:xfrm>
              <a:off x="2853400" y="2927025"/>
              <a:ext cx="950" cy="47950"/>
            </a:xfrm>
            <a:custGeom>
              <a:avLst/>
              <a:gdLst/>
              <a:ahLst/>
              <a:cxnLst/>
              <a:rect l="l" t="t" r="r" b="b"/>
              <a:pathLst>
                <a:path w="38" h="1918" extrusionOk="0">
                  <a:moveTo>
                    <a:pt x="37" y="1"/>
                  </a:moveTo>
                  <a:lnTo>
                    <a:pt x="0" y="19"/>
                  </a:lnTo>
                  <a:lnTo>
                    <a:pt x="0" y="1899"/>
                  </a:lnTo>
                  <a:lnTo>
                    <a:pt x="37" y="1918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2"/>
            <p:cNvSpPr/>
            <p:nvPr/>
          </p:nvSpPr>
          <p:spPr>
            <a:xfrm>
              <a:off x="2854325" y="2926575"/>
              <a:ext cx="500" cy="48875"/>
            </a:xfrm>
            <a:custGeom>
              <a:avLst/>
              <a:gdLst/>
              <a:ahLst/>
              <a:cxnLst/>
              <a:rect l="l" t="t" r="r" b="b"/>
              <a:pathLst>
                <a:path w="20" h="1955" extrusionOk="0">
                  <a:moveTo>
                    <a:pt x="19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19" y="19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2"/>
            <p:cNvSpPr/>
            <p:nvPr/>
          </p:nvSpPr>
          <p:spPr>
            <a:xfrm>
              <a:off x="2854800" y="2926100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1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2"/>
            <p:cNvSpPr/>
            <p:nvPr/>
          </p:nvSpPr>
          <p:spPr>
            <a:xfrm>
              <a:off x="2855250" y="2925625"/>
              <a:ext cx="500" cy="50750"/>
            </a:xfrm>
            <a:custGeom>
              <a:avLst/>
              <a:gdLst/>
              <a:ahLst/>
              <a:cxnLst/>
              <a:rect l="l" t="t" r="r" b="b"/>
              <a:pathLst>
                <a:path w="20" h="2030" extrusionOk="0">
                  <a:moveTo>
                    <a:pt x="19" y="1"/>
                  </a:moveTo>
                  <a:lnTo>
                    <a:pt x="1" y="20"/>
                  </a:lnTo>
                  <a:lnTo>
                    <a:pt x="1" y="2011"/>
                  </a:lnTo>
                  <a:lnTo>
                    <a:pt x="19" y="203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2"/>
            <p:cNvSpPr/>
            <p:nvPr/>
          </p:nvSpPr>
          <p:spPr>
            <a:xfrm>
              <a:off x="2855725" y="2924700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19" y="1"/>
                  </a:moveTo>
                  <a:lnTo>
                    <a:pt x="0" y="38"/>
                  </a:lnTo>
                  <a:lnTo>
                    <a:pt x="0" y="2067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2"/>
            <p:cNvSpPr/>
            <p:nvPr/>
          </p:nvSpPr>
          <p:spPr>
            <a:xfrm>
              <a:off x="2856175" y="2924250"/>
              <a:ext cx="500" cy="53525"/>
            </a:xfrm>
            <a:custGeom>
              <a:avLst/>
              <a:gdLst/>
              <a:ahLst/>
              <a:cxnLst/>
              <a:rect l="l" t="t" r="r" b="b"/>
              <a:pathLst>
                <a:path w="20" h="2141" extrusionOk="0">
                  <a:moveTo>
                    <a:pt x="20" y="0"/>
                  </a:moveTo>
                  <a:lnTo>
                    <a:pt x="1" y="19"/>
                  </a:lnTo>
                  <a:lnTo>
                    <a:pt x="1" y="2103"/>
                  </a:lnTo>
                  <a:lnTo>
                    <a:pt x="20" y="2140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2"/>
            <p:cNvSpPr/>
            <p:nvPr/>
          </p:nvSpPr>
          <p:spPr>
            <a:xfrm>
              <a:off x="2856650" y="2923775"/>
              <a:ext cx="950" cy="54450"/>
            </a:xfrm>
            <a:custGeom>
              <a:avLst/>
              <a:gdLst/>
              <a:ahLst/>
              <a:cxnLst/>
              <a:rect l="l" t="t" r="r" b="b"/>
              <a:pathLst>
                <a:path w="38" h="2178" extrusionOk="0">
                  <a:moveTo>
                    <a:pt x="38" y="1"/>
                  </a:moveTo>
                  <a:lnTo>
                    <a:pt x="1" y="19"/>
                  </a:lnTo>
                  <a:lnTo>
                    <a:pt x="1" y="2159"/>
                  </a:lnTo>
                  <a:lnTo>
                    <a:pt x="38" y="2178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2"/>
            <p:cNvSpPr/>
            <p:nvPr/>
          </p:nvSpPr>
          <p:spPr>
            <a:xfrm>
              <a:off x="2857575" y="2923300"/>
              <a:ext cx="500" cy="55400"/>
            </a:xfrm>
            <a:custGeom>
              <a:avLst/>
              <a:gdLst/>
              <a:ahLst/>
              <a:cxnLst/>
              <a:rect l="l" t="t" r="r" b="b"/>
              <a:pathLst>
                <a:path w="20" h="2216" extrusionOk="0">
                  <a:moveTo>
                    <a:pt x="19" y="1"/>
                  </a:moveTo>
                  <a:lnTo>
                    <a:pt x="1" y="20"/>
                  </a:lnTo>
                  <a:lnTo>
                    <a:pt x="1" y="2197"/>
                  </a:lnTo>
                  <a:lnTo>
                    <a:pt x="19" y="221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2"/>
            <p:cNvSpPr/>
            <p:nvPr/>
          </p:nvSpPr>
          <p:spPr>
            <a:xfrm>
              <a:off x="2858050" y="2922850"/>
              <a:ext cx="475" cy="56325"/>
            </a:xfrm>
            <a:custGeom>
              <a:avLst/>
              <a:gdLst/>
              <a:ahLst/>
              <a:cxnLst/>
              <a:rect l="l" t="t" r="r" b="b"/>
              <a:pathLst>
                <a:path w="19" h="2253" extrusionOk="0">
                  <a:moveTo>
                    <a:pt x="19" y="0"/>
                  </a:moveTo>
                  <a:lnTo>
                    <a:pt x="0" y="19"/>
                  </a:lnTo>
                  <a:lnTo>
                    <a:pt x="0" y="2234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2"/>
            <p:cNvSpPr/>
            <p:nvPr/>
          </p:nvSpPr>
          <p:spPr>
            <a:xfrm>
              <a:off x="2858500" y="2922375"/>
              <a:ext cx="500" cy="57250"/>
            </a:xfrm>
            <a:custGeom>
              <a:avLst/>
              <a:gdLst/>
              <a:ahLst/>
              <a:cxnLst/>
              <a:rect l="l" t="t" r="r" b="b"/>
              <a:pathLst>
                <a:path w="20" h="2290" extrusionOk="0">
                  <a:moveTo>
                    <a:pt x="20" y="1"/>
                  </a:moveTo>
                  <a:lnTo>
                    <a:pt x="1" y="19"/>
                  </a:lnTo>
                  <a:lnTo>
                    <a:pt x="1" y="2271"/>
                  </a:lnTo>
                  <a:lnTo>
                    <a:pt x="20" y="2290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2"/>
            <p:cNvSpPr/>
            <p:nvPr/>
          </p:nvSpPr>
          <p:spPr>
            <a:xfrm>
              <a:off x="2858975" y="2921925"/>
              <a:ext cx="500" cy="58175"/>
            </a:xfrm>
            <a:custGeom>
              <a:avLst/>
              <a:gdLst/>
              <a:ahLst/>
              <a:cxnLst/>
              <a:rect l="l" t="t" r="r" b="b"/>
              <a:pathLst>
                <a:path w="20" h="2327" extrusionOk="0">
                  <a:moveTo>
                    <a:pt x="19" y="0"/>
                  </a:moveTo>
                  <a:lnTo>
                    <a:pt x="1" y="19"/>
                  </a:lnTo>
                  <a:lnTo>
                    <a:pt x="1" y="2308"/>
                  </a:lnTo>
                  <a:lnTo>
                    <a:pt x="19" y="2326"/>
                  </a:lnTo>
                  <a:lnTo>
                    <a:pt x="19" y="2308"/>
                  </a:lnTo>
                  <a:lnTo>
                    <a:pt x="19" y="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2"/>
            <p:cNvSpPr/>
            <p:nvPr/>
          </p:nvSpPr>
          <p:spPr>
            <a:xfrm>
              <a:off x="2859450" y="2922375"/>
              <a:ext cx="475" cy="57250"/>
            </a:xfrm>
            <a:custGeom>
              <a:avLst/>
              <a:gdLst/>
              <a:ahLst/>
              <a:cxnLst/>
              <a:rect l="l" t="t" r="r" b="b"/>
              <a:pathLst>
                <a:path w="19" h="2290" extrusionOk="0">
                  <a:moveTo>
                    <a:pt x="0" y="1"/>
                  </a:moveTo>
                  <a:lnTo>
                    <a:pt x="0" y="2290"/>
                  </a:lnTo>
                  <a:lnTo>
                    <a:pt x="19" y="227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2"/>
            <p:cNvSpPr/>
            <p:nvPr/>
          </p:nvSpPr>
          <p:spPr>
            <a:xfrm>
              <a:off x="2859900" y="2922850"/>
              <a:ext cx="950" cy="56325"/>
            </a:xfrm>
            <a:custGeom>
              <a:avLst/>
              <a:gdLst/>
              <a:ahLst/>
              <a:cxnLst/>
              <a:rect l="l" t="t" r="r" b="b"/>
              <a:pathLst>
                <a:path w="38" h="2253" extrusionOk="0">
                  <a:moveTo>
                    <a:pt x="1" y="0"/>
                  </a:moveTo>
                  <a:lnTo>
                    <a:pt x="1" y="2252"/>
                  </a:lnTo>
                  <a:lnTo>
                    <a:pt x="38" y="2234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2"/>
            <p:cNvSpPr/>
            <p:nvPr/>
          </p:nvSpPr>
          <p:spPr>
            <a:xfrm>
              <a:off x="2860850" y="2923300"/>
              <a:ext cx="475" cy="55400"/>
            </a:xfrm>
            <a:custGeom>
              <a:avLst/>
              <a:gdLst/>
              <a:ahLst/>
              <a:cxnLst/>
              <a:rect l="l" t="t" r="r" b="b"/>
              <a:pathLst>
                <a:path w="19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19" y="2197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2"/>
            <p:cNvSpPr/>
            <p:nvPr/>
          </p:nvSpPr>
          <p:spPr>
            <a:xfrm>
              <a:off x="2861300" y="2923775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1"/>
                  </a:moveTo>
                  <a:lnTo>
                    <a:pt x="1" y="2178"/>
                  </a:lnTo>
                  <a:lnTo>
                    <a:pt x="19" y="215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2"/>
            <p:cNvSpPr/>
            <p:nvPr/>
          </p:nvSpPr>
          <p:spPr>
            <a:xfrm>
              <a:off x="2861775" y="2924250"/>
              <a:ext cx="475" cy="53525"/>
            </a:xfrm>
            <a:custGeom>
              <a:avLst/>
              <a:gdLst/>
              <a:ahLst/>
              <a:cxnLst/>
              <a:rect l="l" t="t" r="r" b="b"/>
              <a:pathLst>
                <a:path w="19" h="2141" extrusionOk="0">
                  <a:moveTo>
                    <a:pt x="0" y="0"/>
                  </a:moveTo>
                  <a:lnTo>
                    <a:pt x="0" y="2140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2"/>
            <p:cNvSpPr/>
            <p:nvPr/>
          </p:nvSpPr>
          <p:spPr>
            <a:xfrm>
              <a:off x="2862225" y="2924700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" y="1"/>
                  </a:moveTo>
                  <a:lnTo>
                    <a:pt x="1" y="2085"/>
                  </a:lnTo>
                  <a:lnTo>
                    <a:pt x="19" y="2067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2"/>
            <p:cNvSpPr/>
            <p:nvPr/>
          </p:nvSpPr>
          <p:spPr>
            <a:xfrm>
              <a:off x="2862700" y="2925625"/>
              <a:ext cx="950" cy="50750"/>
            </a:xfrm>
            <a:custGeom>
              <a:avLst/>
              <a:gdLst/>
              <a:ahLst/>
              <a:cxnLst/>
              <a:rect l="l" t="t" r="r" b="b"/>
              <a:pathLst>
                <a:path w="38" h="2030" extrusionOk="0">
                  <a:moveTo>
                    <a:pt x="0" y="1"/>
                  </a:moveTo>
                  <a:lnTo>
                    <a:pt x="0" y="2030"/>
                  </a:lnTo>
                  <a:lnTo>
                    <a:pt x="38" y="2011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2"/>
            <p:cNvSpPr/>
            <p:nvPr/>
          </p:nvSpPr>
          <p:spPr>
            <a:xfrm>
              <a:off x="2863625" y="2926100"/>
              <a:ext cx="500" cy="49800"/>
            </a:xfrm>
            <a:custGeom>
              <a:avLst/>
              <a:gdLst/>
              <a:ahLst/>
              <a:cxnLst/>
              <a:rect l="l" t="t" r="r" b="b"/>
              <a:pathLst>
                <a:path w="20" h="1992" extrusionOk="0">
                  <a:moveTo>
                    <a:pt x="1" y="1"/>
                  </a:moveTo>
                  <a:lnTo>
                    <a:pt x="1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2"/>
            <p:cNvSpPr/>
            <p:nvPr/>
          </p:nvSpPr>
          <p:spPr>
            <a:xfrm>
              <a:off x="2864100" y="2926575"/>
              <a:ext cx="475" cy="48875"/>
            </a:xfrm>
            <a:custGeom>
              <a:avLst/>
              <a:gdLst/>
              <a:ahLst/>
              <a:cxnLst/>
              <a:rect l="l" t="t" r="r" b="b"/>
              <a:pathLst>
                <a:path w="19" h="1955" extrusionOk="0">
                  <a:moveTo>
                    <a:pt x="0" y="0"/>
                  </a:moveTo>
                  <a:lnTo>
                    <a:pt x="0" y="1954"/>
                  </a:lnTo>
                  <a:lnTo>
                    <a:pt x="19" y="193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2"/>
            <p:cNvSpPr/>
            <p:nvPr/>
          </p:nvSpPr>
          <p:spPr>
            <a:xfrm>
              <a:off x="2864550" y="2927025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" y="1"/>
                  </a:moveTo>
                  <a:lnTo>
                    <a:pt x="1" y="1918"/>
                  </a:lnTo>
                  <a:lnTo>
                    <a:pt x="19" y="189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2"/>
            <p:cNvSpPr/>
            <p:nvPr/>
          </p:nvSpPr>
          <p:spPr>
            <a:xfrm>
              <a:off x="2865025" y="2927500"/>
              <a:ext cx="500" cy="47025"/>
            </a:xfrm>
            <a:custGeom>
              <a:avLst/>
              <a:gdLst/>
              <a:ahLst/>
              <a:cxnLst/>
              <a:rect l="l" t="t" r="r" b="b"/>
              <a:pathLst>
                <a:path w="20" h="1881" extrusionOk="0">
                  <a:moveTo>
                    <a:pt x="0" y="0"/>
                  </a:moveTo>
                  <a:lnTo>
                    <a:pt x="0" y="1880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2"/>
            <p:cNvSpPr/>
            <p:nvPr/>
          </p:nvSpPr>
          <p:spPr>
            <a:xfrm>
              <a:off x="2865500" y="2927975"/>
              <a:ext cx="475" cy="45600"/>
            </a:xfrm>
            <a:custGeom>
              <a:avLst/>
              <a:gdLst/>
              <a:ahLst/>
              <a:cxnLst/>
              <a:rect l="l" t="t" r="r" b="b"/>
              <a:pathLst>
                <a:path w="19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19" y="1805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2"/>
            <p:cNvSpPr/>
            <p:nvPr/>
          </p:nvSpPr>
          <p:spPr>
            <a:xfrm>
              <a:off x="2865950" y="2928900"/>
              <a:ext cx="950" cy="44225"/>
            </a:xfrm>
            <a:custGeom>
              <a:avLst/>
              <a:gdLst/>
              <a:ahLst/>
              <a:cxnLst/>
              <a:rect l="l" t="t" r="r" b="b"/>
              <a:pathLst>
                <a:path w="38" h="1769" extrusionOk="0">
                  <a:moveTo>
                    <a:pt x="1" y="0"/>
                  </a:moveTo>
                  <a:lnTo>
                    <a:pt x="1" y="1768"/>
                  </a:lnTo>
                  <a:lnTo>
                    <a:pt x="38" y="1750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2"/>
            <p:cNvSpPr/>
            <p:nvPr/>
          </p:nvSpPr>
          <p:spPr>
            <a:xfrm>
              <a:off x="2866875" y="2929350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20" y="171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2"/>
            <p:cNvSpPr/>
            <p:nvPr/>
          </p:nvSpPr>
          <p:spPr>
            <a:xfrm>
              <a:off x="2867350" y="2929825"/>
              <a:ext cx="500" cy="42375"/>
            </a:xfrm>
            <a:custGeom>
              <a:avLst/>
              <a:gdLst/>
              <a:ahLst/>
              <a:cxnLst/>
              <a:rect l="l" t="t" r="r" b="b"/>
              <a:pathLst>
                <a:path w="20" h="1695" extrusionOk="0">
                  <a:moveTo>
                    <a:pt x="1" y="0"/>
                  </a:moveTo>
                  <a:lnTo>
                    <a:pt x="1" y="1694"/>
                  </a:lnTo>
                  <a:lnTo>
                    <a:pt x="19" y="167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>
              <a:off x="2867825" y="2930300"/>
              <a:ext cx="475" cy="41425"/>
            </a:xfrm>
            <a:custGeom>
              <a:avLst/>
              <a:gdLst/>
              <a:ahLst/>
              <a:cxnLst/>
              <a:rect l="l" t="t" r="r" b="b"/>
              <a:pathLst>
                <a:path w="19" h="1657" extrusionOk="0">
                  <a:moveTo>
                    <a:pt x="0" y="0"/>
                  </a:moveTo>
                  <a:lnTo>
                    <a:pt x="0" y="1656"/>
                  </a:lnTo>
                  <a:lnTo>
                    <a:pt x="19" y="163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2"/>
            <p:cNvSpPr/>
            <p:nvPr/>
          </p:nvSpPr>
          <p:spPr>
            <a:xfrm>
              <a:off x="2868275" y="2930750"/>
              <a:ext cx="500" cy="40500"/>
            </a:xfrm>
            <a:custGeom>
              <a:avLst/>
              <a:gdLst/>
              <a:ahLst/>
              <a:cxnLst/>
              <a:rect l="l" t="t" r="r" b="b"/>
              <a:pathLst>
                <a:path w="20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19" y="158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2"/>
            <p:cNvSpPr/>
            <p:nvPr/>
          </p:nvSpPr>
          <p:spPr>
            <a:xfrm>
              <a:off x="2868750" y="2931225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0" y="0"/>
                  </a:moveTo>
                  <a:lnTo>
                    <a:pt x="0" y="1564"/>
                  </a:lnTo>
                  <a:lnTo>
                    <a:pt x="19" y="1545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2"/>
            <p:cNvSpPr/>
            <p:nvPr/>
          </p:nvSpPr>
          <p:spPr>
            <a:xfrm>
              <a:off x="2869200" y="2932150"/>
              <a:ext cx="975" cy="37700"/>
            </a:xfrm>
            <a:custGeom>
              <a:avLst/>
              <a:gdLst/>
              <a:ahLst/>
              <a:cxnLst/>
              <a:rect l="l" t="t" r="r" b="b"/>
              <a:pathLst>
                <a:path w="39" h="1508" extrusionOk="0">
                  <a:moveTo>
                    <a:pt x="1" y="1"/>
                  </a:moveTo>
                  <a:lnTo>
                    <a:pt x="1" y="1508"/>
                  </a:lnTo>
                  <a:lnTo>
                    <a:pt x="38" y="1489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2"/>
            <p:cNvSpPr/>
            <p:nvPr/>
          </p:nvSpPr>
          <p:spPr>
            <a:xfrm>
              <a:off x="2870150" y="2932625"/>
              <a:ext cx="475" cy="36775"/>
            </a:xfrm>
            <a:custGeom>
              <a:avLst/>
              <a:gdLst/>
              <a:ahLst/>
              <a:cxnLst/>
              <a:rect l="l" t="t" r="r" b="b"/>
              <a:pathLst>
                <a:path w="19" h="1471" extrusionOk="0">
                  <a:moveTo>
                    <a:pt x="0" y="0"/>
                  </a:moveTo>
                  <a:lnTo>
                    <a:pt x="0" y="1470"/>
                  </a:lnTo>
                  <a:lnTo>
                    <a:pt x="19" y="145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2"/>
            <p:cNvSpPr/>
            <p:nvPr/>
          </p:nvSpPr>
          <p:spPr>
            <a:xfrm>
              <a:off x="2870600" y="2933075"/>
              <a:ext cx="500" cy="35850"/>
            </a:xfrm>
            <a:custGeom>
              <a:avLst/>
              <a:gdLst/>
              <a:ahLst/>
              <a:cxnLst/>
              <a:rect l="l" t="t" r="r" b="b"/>
              <a:pathLst>
                <a:path w="20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19" y="141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2"/>
            <p:cNvSpPr/>
            <p:nvPr/>
          </p:nvSpPr>
          <p:spPr>
            <a:xfrm>
              <a:off x="2871075" y="2933550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0" y="0"/>
                  </a:moveTo>
                  <a:lnTo>
                    <a:pt x="0" y="1396"/>
                  </a:lnTo>
                  <a:lnTo>
                    <a:pt x="19" y="1378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2"/>
            <p:cNvSpPr/>
            <p:nvPr/>
          </p:nvSpPr>
          <p:spPr>
            <a:xfrm>
              <a:off x="2871550" y="2934000"/>
              <a:ext cx="475" cy="34000"/>
            </a:xfrm>
            <a:custGeom>
              <a:avLst/>
              <a:gdLst/>
              <a:ahLst/>
              <a:cxnLst/>
              <a:rect l="l" t="t" r="r" b="b"/>
              <a:pathLst>
                <a:path w="19" h="1360" extrusionOk="0">
                  <a:moveTo>
                    <a:pt x="0" y="1"/>
                  </a:moveTo>
                  <a:lnTo>
                    <a:pt x="0" y="1360"/>
                  </a:lnTo>
                  <a:lnTo>
                    <a:pt x="19" y="1322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2"/>
            <p:cNvSpPr/>
            <p:nvPr/>
          </p:nvSpPr>
          <p:spPr>
            <a:xfrm>
              <a:off x="2872000" y="2934475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1"/>
                  </a:moveTo>
                  <a:lnTo>
                    <a:pt x="1" y="1303"/>
                  </a:lnTo>
                  <a:lnTo>
                    <a:pt x="19" y="1285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2"/>
            <p:cNvSpPr/>
            <p:nvPr/>
          </p:nvSpPr>
          <p:spPr>
            <a:xfrm>
              <a:off x="2872475" y="2935400"/>
              <a:ext cx="950" cy="31200"/>
            </a:xfrm>
            <a:custGeom>
              <a:avLst/>
              <a:gdLst/>
              <a:ahLst/>
              <a:cxnLst/>
              <a:rect l="l" t="t" r="r" b="b"/>
              <a:pathLst>
                <a:path w="38" h="1248" extrusionOk="0">
                  <a:moveTo>
                    <a:pt x="0" y="1"/>
                  </a:moveTo>
                  <a:lnTo>
                    <a:pt x="0" y="1248"/>
                  </a:lnTo>
                  <a:lnTo>
                    <a:pt x="37" y="1229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2"/>
            <p:cNvSpPr/>
            <p:nvPr/>
          </p:nvSpPr>
          <p:spPr>
            <a:xfrm>
              <a:off x="2873400" y="2935875"/>
              <a:ext cx="500" cy="30275"/>
            </a:xfrm>
            <a:custGeom>
              <a:avLst/>
              <a:gdLst/>
              <a:ahLst/>
              <a:cxnLst/>
              <a:rect l="l" t="t" r="r" b="b"/>
              <a:pathLst>
                <a:path w="20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2"/>
            <p:cNvSpPr/>
            <p:nvPr/>
          </p:nvSpPr>
          <p:spPr>
            <a:xfrm>
              <a:off x="2873875" y="2936350"/>
              <a:ext cx="475" cy="29325"/>
            </a:xfrm>
            <a:custGeom>
              <a:avLst/>
              <a:gdLst/>
              <a:ahLst/>
              <a:cxnLst/>
              <a:rect l="l" t="t" r="r" b="b"/>
              <a:pathLst>
                <a:path w="19" h="1173" extrusionOk="0">
                  <a:moveTo>
                    <a:pt x="0" y="0"/>
                  </a:moveTo>
                  <a:lnTo>
                    <a:pt x="0" y="1173"/>
                  </a:lnTo>
                  <a:lnTo>
                    <a:pt x="19" y="115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2874325" y="2936800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" y="1"/>
                  </a:moveTo>
                  <a:lnTo>
                    <a:pt x="1" y="1136"/>
                  </a:lnTo>
                  <a:lnTo>
                    <a:pt x="19" y="1117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2"/>
            <p:cNvSpPr/>
            <p:nvPr/>
          </p:nvSpPr>
          <p:spPr>
            <a:xfrm>
              <a:off x="2874800" y="2937275"/>
              <a:ext cx="475" cy="27475"/>
            </a:xfrm>
            <a:custGeom>
              <a:avLst/>
              <a:gdLst/>
              <a:ahLst/>
              <a:cxnLst/>
              <a:rect l="l" t="t" r="r" b="b"/>
              <a:pathLst>
                <a:path w="19" h="1099" extrusionOk="0">
                  <a:moveTo>
                    <a:pt x="0" y="0"/>
                  </a:moveTo>
                  <a:lnTo>
                    <a:pt x="0" y="1098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2"/>
            <p:cNvSpPr/>
            <p:nvPr/>
          </p:nvSpPr>
          <p:spPr>
            <a:xfrm>
              <a:off x="2875250" y="2937725"/>
              <a:ext cx="500" cy="26100"/>
            </a:xfrm>
            <a:custGeom>
              <a:avLst/>
              <a:gdLst/>
              <a:ahLst/>
              <a:cxnLst/>
              <a:rect l="l" t="t" r="r" b="b"/>
              <a:pathLst>
                <a:path w="20" h="1044" extrusionOk="0">
                  <a:moveTo>
                    <a:pt x="1" y="1"/>
                  </a:moveTo>
                  <a:lnTo>
                    <a:pt x="1" y="1043"/>
                  </a:lnTo>
                  <a:lnTo>
                    <a:pt x="20" y="1024"/>
                  </a:lnTo>
                  <a:lnTo>
                    <a:pt x="20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2"/>
            <p:cNvSpPr/>
            <p:nvPr/>
          </p:nvSpPr>
          <p:spPr>
            <a:xfrm>
              <a:off x="2875725" y="2938675"/>
              <a:ext cx="950" cy="24675"/>
            </a:xfrm>
            <a:custGeom>
              <a:avLst/>
              <a:gdLst/>
              <a:ahLst/>
              <a:cxnLst/>
              <a:rect l="l" t="t" r="r" b="b"/>
              <a:pathLst>
                <a:path w="38" h="987" extrusionOk="0">
                  <a:moveTo>
                    <a:pt x="1" y="0"/>
                  </a:moveTo>
                  <a:lnTo>
                    <a:pt x="1" y="986"/>
                  </a:lnTo>
                  <a:lnTo>
                    <a:pt x="38" y="96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2"/>
            <p:cNvSpPr/>
            <p:nvPr/>
          </p:nvSpPr>
          <p:spPr>
            <a:xfrm>
              <a:off x="2876650" y="2939125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1" y="1"/>
                  </a:moveTo>
                  <a:lnTo>
                    <a:pt x="1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2"/>
            <p:cNvSpPr/>
            <p:nvPr/>
          </p:nvSpPr>
          <p:spPr>
            <a:xfrm>
              <a:off x="2877125" y="2939600"/>
              <a:ext cx="475" cy="22825"/>
            </a:xfrm>
            <a:custGeom>
              <a:avLst/>
              <a:gdLst/>
              <a:ahLst/>
              <a:cxnLst/>
              <a:rect l="l" t="t" r="r" b="b"/>
              <a:pathLst>
                <a:path w="19" h="913" extrusionOk="0">
                  <a:moveTo>
                    <a:pt x="0" y="0"/>
                  </a:moveTo>
                  <a:lnTo>
                    <a:pt x="0" y="912"/>
                  </a:lnTo>
                  <a:lnTo>
                    <a:pt x="19" y="894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2"/>
            <p:cNvSpPr/>
            <p:nvPr/>
          </p:nvSpPr>
          <p:spPr>
            <a:xfrm>
              <a:off x="2877575" y="2940050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" y="1"/>
                  </a:moveTo>
                  <a:lnTo>
                    <a:pt x="1" y="876"/>
                  </a:lnTo>
                  <a:lnTo>
                    <a:pt x="20" y="857"/>
                  </a:lnTo>
                  <a:lnTo>
                    <a:pt x="20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2"/>
            <p:cNvSpPr/>
            <p:nvPr/>
          </p:nvSpPr>
          <p:spPr>
            <a:xfrm>
              <a:off x="2878050" y="2940525"/>
              <a:ext cx="500" cy="20950"/>
            </a:xfrm>
            <a:custGeom>
              <a:avLst/>
              <a:gdLst/>
              <a:ahLst/>
              <a:cxnLst/>
              <a:rect l="l" t="t" r="r" b="b"/>
              <a:pathLst>
                <a:path w="20" h="838" extrusionOk="0">
                  <a:moveTo>
                    <a:pt x="1" y="1"/>
                  </a:moveTo>
                  <a:lnTo>
                    <a:pt x="1" y="838"/>
                  </a:lnTo>
                  <a:lnTo>
                    <a:pt x="19" y="80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2"/>
            <p:cNvSpPr/>
            <p:nvPr/>
          </p:nvSpPr>
          <p:spPr>
            <a:xfrm>
              <a:off x="2878525" y="2941000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0" y="0"/>
                  </a:moveTo>
                  <a:lnTo>
                    <a:pt x="0" y="782"/>
                  </a:lnTo>
                  <a:lnTo>
                    <a:pt x="19" y="763"/>
                  </a:lnTo>
                  <a:lnTo>
                    <a:pt x="19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2"/>
            <p:cNvSpPr/>
            <p:nvPr/>
          </p:nvSpPr>
          <p:spPr>
            <a:xfrm>
              <a:off x="2878975" y="2941925"/>
              <a:ext cx="975" cy="18175"/>
            </a:xfrm>
            <a:custGeom>
              <a:avLst/>
              <a:gdLst/>
              <a:ahLst/>
              <a:cxnLst/>
              <a:rect l="l" t="t" r="r" b="b"/>
              <a:pathLst>
                <a:path w="39" h="727" extrusionOk="0">
                  <a:moveTo>
                    <a:pt x="1" y="0"/>
                  </a:moveTo>
                  <a:lnTo>
                    <a:pt x="1" y="726"/>
                  </a:lnTo>
                  <a:lnTo>
                    <a:pt x="38" y="708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2"/>
            <p:cNvSpPr/>
            <p:nvPr/>
          </p:nvSpPr>
          <p:spPr>
            <a:xfrm>
              <a:off x="2879925" y="2942375"/>
              <a:ext cx="475" cy="17250"/>
            </a:xfrm>
            <a:custGeom>
              <a:avLst/>
              <a:gdLst/>
              <a:ahLst/>
              <a:cxnLst/>
              <a:rect l="l" t="t" r="r" b="b"/>
              <a:pathLst>
                <a:path w="19" h="690" extrusionOk="0">
                  <a:moveTo>
                    <a:pt x="0" y="1"/>
                  </a:moveTo>
                  <a:lnTo>
                    <a:pt x="0" y="690"/>
                  </a:lnTo>
                  <a:lnTo>
                    <a:pt x="19" y="671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2"/>
            <p:cNvSpPr/>
            <p:nvPr/>
          </p:nvSpPr>
          <p:spPr>
            <a:xfrm>
              <a:off x="2880375" y="2942850"/>
              <a:ext cx="500" cy="16300"/>
            </a:xfrm>
            <a:custGeom>
              <a:avLst/>
              <a:gdLst/>
              <a:ahLst/>
              <a:cxnLst/>
              <a:rect l="l" t="t" r="r" b="b"/>
              <a:pathLst>
                <a:path w="20" h="652" extrusionOk="0">
                  <a:moveTo>
                    <a:pt x="1" y="1"/>
                  </a:moveTo>
                  <a:lnTo>
                    <a:pt x="1" y="652"/>
                  </a:lnTo>
                  <a:lnTo>
                    <a:pt x="19" y="63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2"/>
            <p:cNvSpPr/>
            <p:nvPr/>
          </p:nvSpPr>
          <p:spPr>
            <a:xfrm>
              <a:off x="2880850" y="2943325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0" y="0"/>
                  </a:moveTo>
                  <a:lnTo>
                    <a:pt x="0" y="614"/>
                  </a:lnTo>
                  <a:lnTo>
                    <a:pt x="19" y="59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2"/>
            <p:cNvSpPr/>
            <p:nvPr/>
          </p:nvSpPr>
          <p:spPr>
            <a:xfrm>
              <a:off x="2881300" y="2943775"/>
              <a:ext cx="500" cy="14450"/>
            </a:xfrm>
            <a:custGeom>
              <a:avLst/>
              <a:gdLst/>
              <a:ahLst/>
              <a:cxnLst/>
              <a:rect l="l" t="t" r="r" b="b"/>
              <a:pathLst>
                <a:path w="20" h="578" extrusionOk="0">
                  <a:moveTo>
                    <a:pt x="1" y="1"/>
                  </a:moveTo>
                  <a:lnTo>
                    <a:pt x="1" y="578"/>
                  </a:lnTo>
                  <a:lnTo>
                    <a:pt x="19" y="54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2"/>
            <p:cNvSpPr/>
            <p:nvPr/>
          </p:nvSpPr>
          <p:spPr>
            <a:xfrm>
              <a:off x="2881775" y="2944250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0" y="0"/>
                  </a:moveTo>
                  <a:lnTo>
                    <a:pt x="0" y="522"/>
                  </a:lnTo>
                  <a:lnTo>
                    <a:pt x="19" y="503"/>
                  </a:lnTo>
                  <a:lnTo>
                    <a:pt x="19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2"/>
            <p:cNvSpPr/>
            <p:nvPr/>
          </p:nvSpPr>
          <p:spPr>
            <a:xfrm>
              <a:off x="2882250" y="2945175"/>
              <a:ext cx="950" cy="11650"/>
            </a:xfrm>
            <a:custGeom>
              <a:avLst/>
              <a:gdLst/>
              <a:ahLst/>
              <a:cxnLst/>
              <a:rect l="l" t="t" r="r" b="b"/>
              <a:pathLst>
                <a:path w="38" h="466" extrusionOk="0">
                  <a:moveTo>
                    <a:pt x="0" y="1"/>
                  </a:moveTo>
                  <a:lnTo>
                    <a:pt x="0" y="466"/>
                  </a:lnTo>
                  <a:lnTo>
                    <a:pt x="37" y="447"/>
                  </a:lnTo>
                  <a:lnTo>
                    <a:pt x="37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2"/>
            <p:cNvSpPr/>
            <p:nvPr/>
          </p:nvSpPr>
          <p:spPr>
            <a:xfrm>
              <a:off x="2883175" y="2945650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2"/>
            <p:cNvSpPr/>
            <p:nvPr/>
          </p:nvSpPr>
          <p:spPr>
            <a:xfrm>
              <a:off x="2883625" y="2946100"/>
              <a:ext cx="500" cy="9800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" y="1"/>
                  </a:moveTo>
                  <a:lnTo>
                    <a:pt x="1" y="392"/>
                  </a:lnTo>
                  <a:lnTo>
                    <a:pt x="20" y="373"/>
                  </a:lnTo>
                  <a:lnTo>
                    <a:pt x="20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2"/>
            <p:cNvSpPr/>
            <p:nvPr/>
          </p:nvSpPr>
          <p:spPr>
            <a:xfrm>
              <a:off x="2884100" y="2946575"/>
              <a:ext cx="500" cy="8875"/>
            </a:xfrm>
            <a:custGeom>
              <a:avLst/>
              <a:gdLst/>
              <a:ahLst/>
              <a:cxnLst/>
              <a:rect l="l" t="t" r="r" b="b"/>
              <a:pathLst>
                <a:path w="20" h="355" extrusionOk="0">
                  <a:moveTo>
                    <a:pt x="1" y="0"/>
                  </a:moveTo>
                  <a:lnTo>
                    <a:pt x="1" y="354"/>
                  </a:lnTo>
                  <a:lnTo>
                    <a:pt x="19" y="33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2"/>
            <p:cNvSpPr/>
            <p:nvPr/>
          </p:nvSpPr>
          <p:spPr>
            <a:xfrm>
              <a:off x="2884575" y="2947050"/>
              <a:ext cx="475" cy="7925"/>
            </a:xfrm>
            <a:custGeom>
              <a:avLst/>
              <a:gdLst/>
              <a:ahLst/>
              <a:cxnLst/>
              <a:rect l="l" t="t" r="r" b="b"/>
              <a:pathLst>
                <a:path w="19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9" y="27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2"/>
            <p:cNvSpPr/>
            <p:nvPr/>
          </p:nvSpPr>
          <p:spPr>
            <a:xfrm>
              <a:off x="2885025" y="2947500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" y="1"/>
                  </a:moveTo>
                  <a:lnTo>
                    <a:pt x="1" y="261"/>
                  </a:lnTo>
                  <a:lnTo>
                    <a:pt x="19" y="243"/>
                  </a:lnTo>
                  <a:lnTo>
                    <a:pt x="19" y="3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2"/>
            <p:cNvSpPr/>
            <p:nvPr/>
          </p:nvSpPr>
          <p:spPr>
            <a:xfrm>
              <a:off x="2885500" y="2948425"/>
              <a:ext cx="950" cy="5150"/>
            </a:xfrm>
            <a:custGeom>
              <a:avLst/>
              <a:gdLst/>
              <a:ahLst/>
              <a:cxnLst/>
              <a:rect l="l" t="t" r="r" b="b"/>
              <a:pathLst>
                <a:path w="38" h="206" extrusionOk="0">
                  <a:moveTo>
                    <a:pt x="0" y="1"/>
                  </a:moveTo>
                  <a:lnTo>
                    <a:pt x="0" y="206"/>
                  </a:lnTo>
                  <a:lnTo>
                    <a:pt x="38" y="187"/>
                  </a:lnTo>
                  <a:lnTo>
                    <a:pt x="38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2"/>
            <p:cNvSpPr/>
            <p:nvPr/>
          </p:nvSpPr>
          <p:spPr>
            <a:xfrm>
              <a:off x="2886425" y="2948900"/>
              <a:ext cx="500" cy="4225"/>
            </a:xfrm>
            <a:custGeom>
              <a:avLst/>
              <a:gdLst/>
              <a:ahLst/>
              <a:cxnLst/>
              <a:rect l="l" t="t" r="r" b="b"/>
              <a:pathLst>
                <a:path w="20" h="169" extrusionOk="0">
                  <a:moveTo>
                    <a:pt x="1" y="1"/>
                  </a:moveTo>
                  <a:lnTo>
                    <a:pt x="1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2"/>
            <p:cNvSpPr/>
            <p:nvPr/>
          </p:nvSpPr>
          <p:spPr>
            <a:xfrm>
              <a:off x="2886900" y="2949375"/>
              <a:ext cx="475" cy="3275"/>
            </a:xfrm>
            <a:custGeom>
              <a:avLst/>
              <a:gdLst/>
              <a:ahLst/>
              <a:cxnLst/>
              <a:rect l="l" t="t" r="r" b="b"/>
              <a:pathLst>
                <a:path w="19" h="131" extrusionOk="0">
                  <a:moveTo>
                    <a:pt x="0" y="0"/>
                  </a:moveTo>
                  <a:lnTo>
                    <a:pt x="0" y="130"/>
                  </a:lnTo>
                  <a:lnTo>
                    <a:pt x="19" y="112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2"/>
            <p:cNvSpPr/>
            <p:nvPr/>
          </p:nvSpPr>
          <p:spPr>
            <a:xfrm>
              <a:off x="2887350" y="2949825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" y="1"/>
                  </a:moveTo>
                  <a:lnTo>
                    <a:pt x="1" y="94"/>
                  </a:lnTo>
                  <a:lnTo>
                    <a:pt x="19" y="75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2"/>
            <p:cNvSpPr/>
            <p:nvPr/>
          </p:nvSpPr>
          <p:spPr>
            <a:xfrm>
              <a:off x="2887825" y="2950300"/>
              <a:ext cx="500" cy="1425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0" y="0"/>
                  </a:moveTo>
                  <a:lnTo>
                    <a:pt x="0" y="56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3">
  <p:cSld name="TITLE_ONLY_25"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7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2119" name="Google Shape;2119;p73"/>
          <p:cNvGrpSpPr/>
          <p:nvPr/>
        </p:nvGrpSpPr>
        <p:grpSpPr>
          <a:xfrm>
            <a:off x="133235" y="3602547"/>
            <a:ext cx="2216073" cy="1834889"/>
            <a:chOff x="2210400" y="2558550"/>
            <a:chExt cx="971025" cy="804000"/>
          </a:xfrm>
        </p:grpSpPr>
        <p:sp>
          <p:nvSpPr>
            <p:cNvPr id="2120" name="Google Shape;2120;p7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7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7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7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7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7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7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7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8" name="Google Shape;2128;p73"/>
          <p:cNvGrpSpPr/>
          <p:nvPr/>
        </p:nvGrpSpPr>
        <p:grpSpPr>
          <a:xfrm>
            <a:off x="-129394" y="4095741"/>
            <a:ext cx="849275" cy="848250"/>
            <a:chOff x="2651171" y="2397773"/>
            <a:chExt cx="2099568" cy="2097033"/>
          </a:xfrm>
        </p:grpSpPr>
        <p:sp>
          <p:nvSpPr>
            <p:cNvPr id="2129" name="Google Shape;2129;p7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7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1" name="Google Shape;2131;p73"/>
          <p:cNvGrpSpPr/>
          <p:nvPr/>
        </p:nvGrpSpPr>
        <p:grpSpPr>
          <a:xfrm flipH="1">
            <a:off x="7973043" y="3602546"/>
            <a:ext cx="2514088" cy="2081645"/>
            <a:chOff x="3573297" y="232872"/>
            <a:chExt cx="5470164" cy="4529254"/>
          </a:xfrm>
        </p:grpSpPr>
        <p:sp>
          <p:nvSpPr>
            <p:cNvPr id="2132" name="Google Shape;2132;p7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7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7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7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7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7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7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7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73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73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73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73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73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73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6" name="Google Shape;2146;p73"/>
          <p:cNvGrpSpPr/>
          <p:nvPr/>
        </p:nvGrpSpPr>
        <p:grpSpPr>
          <a:xfrm flipH="1">
            <a:off x="7134117" y="4530929"/>
            <a:ext cx="1162531" cy="1161127"/>
            <a:chOff x="7253149" y="3334154"/>
            <a:chExt cx="1162531" cy="1161127"/>
          </a:xfrm>
        </p:grpSpPr>
        <p:sp>
          <p:nvSpPr>
            <p:cNvPr id="2147" name="Google Shape;2147;p73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8" name="Google Shape;2148;p73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2149" name="Google Shape;2149;p73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73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FFFF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5"/>
          <p:cNvSpPr/>
          <p:nvPr/>
        </p:nvSpPr>
        <p:spPr>
          <a:xfrm flipH="1">
            <a:off x="102342" y="102777"/>
            <a:ext cx="724127" cy="72630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4" name="Google Shape;2154;p75"/>
          <p:cNvGrpSpPr/>
          <p:nvPr/>
        </p:nvGrpSpPr>
        <p:grpSpPr>
          <a:xfrm flipH="1">
            <a:off x="-603882" y="-418180"/>
            <a:ext cx="2136578" cy="1768212"/>
            <a:chOff x="5440750" y="1669400"/>
            <a:chExt cx="971525" cy="804025"/>
          </a:xfrm>
        </p:grpSpPr>
        <p:sp>
          <p:nvSpPr>
            <p:cNvPr id="2155" name="Google Shape;215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75"/>
          <p:cNvGrpSpPr/>
          <p:nvPr/>
        </p:nvGrpSpPr>
        <p:grpSpPr>
          <a:xfrm>
            <a:off x="-1110993" y="1389236"/>
            <a:ext cx="2429466" cy="2063219"/>
            <a:chOff x="4665875" y="2808650"/>
            <a:chExt cx="993850" cy="844025"/>
          </a:xfrm>
        </p:grpSpPr>
        <p:sp>
          <p:nvSpPr>
            <p:cNvPr id="2167" name="Google Shape;2167;p75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75"/>
          <p:cNvGrpSpPr/>
          <p:nvPr/>
        </p:nvGrpSpPr>
        <p:grpSpPr>
          <a:xfrm flipH="1">
            <a:off x="6738226" y="2911751"/>
            <a:ext cx="3525470" cy="3410618"/>
            <a:chOff x="5440750" y="1669400"/>
            <a:chExt cx="971525" cy="939875"/>
          </a:xfrm>
        </p:grpSpPr>
        <p:sp>
          <p:nvSpPr>
            <p:cNvPr id="2175" name="Google Shape;217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7" name="Google Shape;2187;p75"/>
          <p:cNvGrpSpPr/>
          <p:nvPr/>
        </p:nvGrpSpPr>
        <p:grpSpPr>
          <a:xfrm rot="5400000">
            <a:off x="6875511" y="1422360"/>
            <a:ext cx="2695006" cy="2887947"/>
            <a:chOff x="5440750" y="1669400"/>
            <a:chExt cx="975815" cy="1045676"/>
          </a:xfrm>
        </p:grpSpPr>
        <p:sp>
          <p:nvSpPr>
            <p:cNvPr id="2188" name="Google Shape;2188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6107140" y="2405651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1" name="Google Shape;2201;p76"/>
          <p:cNvGrpSpPr/>
          <p:nvPr/>
        </p:nvGrpSpPr>
        <p:grpSpPr>
          <a:xfrm rot="10800000" flipH="1">
            <a:off x="-1215840" y="503176"/>
            <a:ext cx="2872823" cy="2439739"/>
            <a:chOff x="4665875" y="2808650"/>
            <a:chExt cx="993850" cy="844025"/>
          </a:xfrm>
        </p:grpSpPr>
        <p:sp>
          <p:nvSpPr>
            <p:cNvPr id="2202" name="Google Shape;220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6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6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9" name="Google Shape;2209;p76"/>
          <p:cNvGrpSpPr/>
          <p:nvPr/>
        </p:nvGrpSpPr>
        <p:grpSpPr>
          <a:xfrm rot="10800000" flipH="1">
            <a:off x="-309809" y="2691848"/>
            <a:ext cx="2872292" cy="2378232"/>
            <a:chOff x="2210400" y="2558550"/>
            <a:chExt cx="971025" cy="804000"/>
          </a:xfrm>
        </p:grpSpPr>
        <p:sp>
          <p:nvSpPr>
            <p:cNvPr id="2210" name="Google Shape;2210;p7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8" name="Google Shape;2218;p76"/>
          <p:cNvSpPr/>
          <p:nvPr/>
        </p:nvSpPr>
        <p:spPr>
          <a:xfrm rot="10800000" flipH="1">
            <a:off x="-94215" y="308110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6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76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1" name="Google Shape;2221;p76"/>
          <p:cNvGrpSpPr/>
          <p:nvPr/>
        </p:nvGrpSpPr>
        <p:grpSpPr>
          <a:xfrm flipH="1">
            <a:off x="6947190" y="-119799"/>
            <a:ext cx="3563418" cy="3276021"/>
            <a:chOff x="4765450" y="2817950"/>
            <a:chExt cx="894275" cy="822150"/>
          </a:xfrm>
        </p:grpSpPr>
        <p:sp>
          <p:nvSpPr>
            <p:cNvPr id="2222" name="Google Shape;222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79" r:id="rId10"/>
    <p:sldLayoutId id="2147483680" r:id="rId11"/>
    <p:sldLayoutId id="2147483681" r:id="rId12"/>
    <p:sldLayoutId id="2147483682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honandroid.com/ps6-prix-nouveautes-fenetre-de-sortie-performances-jeux-toutes-les-infos-sur-la-playstation-6-de-sony.html" TargetMode="External"/><Relationship Id="rId3" Type="http://schemas.openxmlformats.org/officeDocument/2006/relationships/hyperlink" Target="https://gamerant.com/best-selling-video-games-2024" TargetMode="External"/><Relationship Id="rId7" Type="http://schemas.openxmlformats.org/officeDocument/2006/relationships/hyperlink" Target="https://www.generation-nt.com/actualites/xbox-prix-explosion-memoire-2074943" TargetMode="External"/><Relationship Id="rId2" Type="http://schemas.openxmlformats.org/officeDocument/2006/relationships/hyperlink" Target="https://www.windowscentral.com/gaming/its-official-battlefield-6-is-the-best-selling-game-of-2025-and-holy-smokes-it-had-the-biggest-launch-month-of-any-game-in-the-past-3-years-too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vrrare.com/guides/meta-quest-4-everything-we-know" TargetMode="External"/><Relationship Id="rId5" Type="http://schemas.openxmlformats.org/officeDocument/2006/relationships/hyperlink" Target="https://icon-era.com/statistics/video-game-statistics" TargetMode="External"/><Relationship Id="rId4" Type="http://schemas.openxmlformats.org/officeDocument/2006/relationships/hyperlink" Target="https://docs.google.com/forms/d/1A1t3ooMtSMriwf8TpAxU_1rGy3fXDVa_Xqtf5V75j5k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198662" scaled="0"/>
        </a:gra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FF252E7-3456-2DF2-740B-C0A9B00A01EB}"/>
              </a:ext>
            </a:extLst>
          </p:cNvPr>
          <p:cNvSpPr txBox="1"/>
          <p:nvPr/>
        </p:nvSpPr>
        <p:spPr>
          <a:xfrm>
            <a:off x="76200" y="1859244"/>
            <a:ext cx="899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Analyse d’une demande business et identification des segments de marché les plus pertinents pour le client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93B0FBF-7927-E309-7974-851A404B37C6}"/>
              </a:ext>
            </a:extLst>
          </p:cNvPr>
          <p:cNvSpPr txBox="1"/>
          <p:nvPr/>
        </p:nvSpPr>
        <p:spPr>
          <a:xfrm>
            <a:off x="6223635" y="4508063"/>
            <a:ext cx="2585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Réalisé par : Amarache  Amel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DCFEF675-4331-EC79-A7AC-2E00E1F82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3286" y="-141593"/>
            <a:ext cx="3863340" cy="142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2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>
                <a:latin typeface="Space Grotesk Light"/>
                <a:ea typeface="Space Grotesk Light"/>
                <a:cs typeface="Space Grotesk Light"/>
                <a:sym typeface="Space Grotesk Light"/>
              </a:rPr>
              <a:t>Sommaire</a:t>
            </a:r>
            <a:endParaRPr b="1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7" name="Google Shape;2237;p2"/>
          <p:cNvSpPr txBox="1">
            <a:spLocks noGrp="1"/>
          </p:cNvSpPr>
          <p:nvPr>
            <p:ph type="title"/>
          </p:nvPr>
        </p:nvSpPr>
        <p:spPr>
          <a:xfrm>
            <a:off x="1319450" y="1655049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Le contexte</a:t>
            </a:r>
            <a:endParaRPr sz="1600" dirty="0"/>
          </a:p>
        </p:txBody>
      </p:sp>
      <p:sp>
        <p:nvSpPr>
          <p:cNvPr id="2238" name="Google Shape;2238;p2"/>
          <p:cNvSpPr txBox="1">
            <a:spLocks noGrp="1"/>
          </p:cNvSpPr>
          <p:nvPr>
            <p:ph type="title" idx="2"/>
          </p:nvPr>
        </p:nvSpPr>
        <p:spPr>
          <a:xfrm>
            <a:off x="528996" y="1700438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239" name="Google Shape;2239;p2"/>
          <p:cNvSpPr txBox="1">
            <a:spLocks noGrp="1"/>
          </p:cNvSpPr>
          <p:nvPr>
            <p:ph type="title" idx="3"/>
          </p:nvPr>
        </p:nvSpPr>
        <p:spPr>
          <a:xfrm>
            <a:off x="1305096" y="2640612"/>
            <a:ext cx="2684094" cy="71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Analyses des tendances actuelles</a:t>
            </a:r>
            <a:endParaRPr sz="1600" dirty="0"/>
          </a:p>
        </p:txBody>
      </p:sp>
      <p:sp>
        <p:nvSpPr>
          <p:cNvPr id="2240" name="Google Shape;2240;p2"/>
          <p:cNvSpPr txBox="1">
            <a:spLocks noGrp="1"/>
          </p:cNvSpPr>
          <p:nvPr>
            <p:ph type="title" idx="4"/>
          </p:nvPr>
        </p:nvSpPr>
        <p:spPr>
          <a:xfrm>
            <a:off x="485352" y="2703447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241" name="Google Shape;2241;p2"/>
          <p:cNvSpPr txBox="1">
            <a:spLocks noGrp="1"/>
          </p:cNvSpPr>
          <p:nvPr>
            <p:ph type="title" idx="6"/>
          </p:nvPr>
        </p:nvSpPr>
        <p:spPr>
          <a:xfrm>
            <a:off x="5058350" y="1655049"/>
            <a:ext cx="2766200" cy="61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" sz="1600" dirty="0"/>
            </a:br>
            <a:r>
              <a:rPr lang="en" sz="1600" dirty="0"/>
              <a:t> La matrice SWOT et</a:t>
            </a:r>
            <a:br>
              <a:rPr lang="en" sz="1600" dirty="0"/>
            </a:br>
            <a:r>
              <a:rPr lang="en" sz="1600" dirty="0"/>
              <a:t> Le business plan PESTEL</a:t>
            </a:r>
            <a:endParaRPr sz="1600" dirty="0"/>
          </a:p>
        </p:txBody>
      </p:sp>
      <p:sp>
        <p:nvSpPr>
          <p:cNvPr id="2242" name="Google Shape;2242;p2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243" name="Google Shape;2243;p2"/>
          <p:cNvSpPr txBox="1">
            <a:spLocks noGrp="1"/>
          </p:cNvSpPr>
          <p:nvPr>
            <p:ph type="title" idx="13"/>
          </p:nvPr>
        </p:nvSpPr>
        <p:spPr>
          <a:xfrm>
            <a:off x="5058350" y="2640612"/>
            <a:ext cx="2574300" cy="6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Les futures tendances et perspectives</a:t>
            </a:r>
            <a:endParaRPr sz="1600" dirty="0"/>
          </a:p>
        </p:txBody>
      </p:sp>
      <p:sp>
        <p:nvSpPr>
          <p:cNvPr id="2244" name="Google Shape;2244;p2"/>
          <p:cNvSpPr txBox="1">
            <a:spLocks noGrp="1"/>
          </p:cNvSpPr>
          <p:nvPr>
            <p:ph type="title" idx="9"/>
          </p:nvPr>
        </p:nvSpPr>
        <p:spPr>
          <a:xfrm>
            <a:off x="4282125" y="2725599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45" name="Google Shape;2245;p2"/>
          <p:cNvSpPr txBox="1"/>
          <p:nvPr/>
        </p:nvSpPr>
        <p:spPr>
          <a:xfrm>
            <a:off x="1305096" y="3739523"/>
            <a:ext cx="2684094" cy="65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en" sz="1600" b="0" i="0" u="none" strike="noStrike" cap="none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Analyses du ou des segment(s)</a:t>
            </a:r>
            <a:endParaRPr dirty="0"/>
          </a:p>
        </p:txBody>
      </p:sp>
      <p:sp>
        <p:nvSpPr>
          <p:cNvPr id="2246" name="Google Shape;2246;p2"/>
          <p:cNvSpPr txBox="1"/>
          <p:nvPr/>
        </p:nvSpPr>
        <p:spPr>
          <a:xfrm>
            <a:off x="485352" y="3739523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/>
          </a:p>
        </p:txBody>
      </p:sp>
      <p:sp>
        <p:nvSpPr>
          <p:cNvPr id="2247" name="Google Shape;2247;p2"/>
          <p:cNvSpPr txBox="1"/>
          <p:nvPr/>
        </p:nvSpPr>
        <p:spPr>
          <a:xfrm>
            <a:off x="5058350" y="3695220"/>
            <a:ext cx="2574300" cy="65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Recommandations stratégiques</a:t>
            </a:r>
            <a:endParaRPr/>
          </a:p>
        </p:txBody>
      </p:sp>
      <p:sp>
        <p:nvSpPr>
          <p:cNvPr id="2248" name="Google Shape;2248;p2"/>
          <p:cNvSpPr txBox="1"/>
          <p:nvPr/>
        </p:nvSpPr>
        <p:spPr>
          <a:xfrm>
            <a:off x="4282125" y="3739523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Le contexte</a:t>
            </a:r>
            <a:endParaRPr dirty="0"/>
          </a:p>
        </p:txBody>
      </p:sp>
      <p:sp>
        <p:nvSpPr>
          <p:cNvPr id="2260" name="Google Shape;2260;p4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01</a:t>
            </a:r>
            <a:endParaRPr sz="1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91F0E6FA-8550-8504-368E-1AA3507EB282}"/>
              </a:ext>
            </a:extLst>
          </p:cNvPr>
          <p:cNvSpPr/>
          <p:nvPr/>
        </p:nvSpPr>
        <p:spPr>
          <a:xfrm>
            <a:off x="316228" y="1354753"/>
            <a:ext cx="8511539" cy="1216997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Triple-A : un jeu “haut de gamme” produit par de grandes entreprises du jeu vidéo avec: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Budget élevé compris entre plus de 50 millions et plus de 300 M $ 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Utilisation de technologies avancées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Temps de développement long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Forte stratégie marketing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681719D-0919-7AEF-009E-DF416F4B9CEC}"/>
              </a:ext>
            </a:extLst>
          </p:cNvPr>
          <p:cNvSpPr/>
          <p:nvPr/>
        </p:nvSpPr>
        <p:spPr>
          <a:xfrm>
            <a:off x="316228" y="587432"/>
            <a:ext cx="8511540" cy="654819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Objectif : développer un premier jeu vidéo Triple-A et identifier l'opportunité commerciale optimale sur le marché mondial du jeu vidéo.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Google Shape;2259;p4">
            <a:extLst>
              <a:ext uri="{FF2B5EF4-FFF2-40B4-BE49-F238E27FC236}">
                <a16:creationId xmlns:a16="http://schemas.microsoft.com/office/drawing/2014/main" id="{E0C5D541-5096-7D2E-FC0B-C4EBB927D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9127" y="63633"/>
            <a:ext cx="3647625" cy="49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Le contexte</a:t>
            </a:r>
            <a:endParaRPr sz="28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53F54C3-B259-0708-C8BB-B196201D2A4B}"/>
              </a:ext>
            </a:extLst>
          </p:cNvPr>
          <p:cNvSpPr txBox="1"/>
          <p:nvPr/>
        </p:nvSpPr>
        <p:spPr>
          <a:xfrm>
            <a:off x="0" y="4620280"/>
            <a:ext cx="4345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Top des ventes mondiales 2025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Sortie :</a:t>
            </a:r>
            <a:r>
              <a:rPr lang="fr-FR" dirty="0">
                <a:solidFill>
                  <a:schemeClr val="bg1"/>
                </a:solidFill>
              </a:rPr>
              <a:t> 10 octobre 2025    Budget estimé à </a:t>
            </a:r>
            <a:r>
              <a:rPr lang="fr-FR" b="1" dirty="0">
                <a:solidFill>
                  <a:schemeClr val="bg1"/>
                </a:solidFill>
              </a:rPr>
              <a:t>~400M$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5E3F3FE5-C762-B477-F40A-2CB9E5B32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950" y="2696605"/>
            <a:ext cx="3718797" cy="1871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64126837-AD6C-2E01-2768-266B1FF3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4" y="2684252"/>
            <a:ext cx="3718797" cy="18841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5A96815-6B26-A024-6D49-D0A3A6B831A8}"/>
              </a:ext>
            </a:extLst>
          </p:cNvPr>
          <p:cNvSpPr txBox="1"/>
          <p:nvPr/>
        </p:nvSpPr>
        <p:spPr>
          <a:xfrm>
            <a:off x="4798697" y="4620280"/>
            <a:ext cx="4345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Top des ventes mondiales 2024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Sortie :</a:t>
            </a:r>
            <a:r>
              <a:rPr lang="fr-FR" dirty="0">
                <a:solidFill>
                  <a:schemeClr val="bg1"/>
                </a:solidFill>
              </a:rPr>
              <a:t> 25 octobre 2024   Budget estimé à </a:t>
            </a:r>
            <a:r>
              <a:rPr lang="fr-FR" b="1" dirty="0">
                <a:solidFill>
                  <a:schemeClr val="bg1"/>
                </a:solidFill>
              </a:rPr>
              <a:t>+500M$</a:t>
            </a: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6"/>
          <p:cNvSpPr txBox="1">
            <a:spLocks noGrp="1"/>
          </p:cNvSpPr>
          <p:nvPr>
            <p:ph type="title"/>
          </p:nvPr>
        </p:nvSpPr>
        <p:spPr>
          <a:xfrm>
            <a:off x="4860125" y="1798319"/>
            <a:ext cx="4968240" cy="88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La matrice SWOT et </a:t>
            </a:r>
            <a:br>
              <a:rPr lang="en" sz="2800" dirty="0"/>
            </a:br>
            <a:r>
              <a:rPr lang="en" sz="2800" dirty="0"/>
              <a:t>Le business plan PESTEL</a:t>
            </a:r>
            <a:endParaRPr sz="2800" dirty="0"/>
          </a:p>
        </p:txBody>
      </p:sp>
      <p:sp>
        <p:nvSpPr>
          <p:cNvPr id="2272" name="Google Shape;2272;p6"/>
          <p:cNvSpPr txBox="1">
            <a:spLocks noGrp="1"/>
          </p:cNvSpPr>
          <p:nvPr>
            <p:ph type="title" idx="2"/>
          </p:nvPr>
        </p:nvSpPr>
        <p:spPr>
          <a:xfrm>
            <a:off x="2842990" y="1593574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 dirty="0"/>
              <a:t>02</a:t>
            </a:r>
            <a:endParaRPr sz="10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7"/>
          <p:cNvSpPr txBox="1">
            <a:spLocks noGrp="1"/>
          </p:cNvSpPr>
          <p:nvPr>
            <p:ph type="title"/>
          </p:nvPr>
        </p:nvSpPr>
        <p:spPr>
          <a:xfrm>
            <a:off x="1759252" y="24511"/>
            <a:ext cx="568414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/>
              <a:t>Matrice SWOT</a:t>
            </a:r>
            <a:endParaRPr b="1" dirty="0"/>
          </a:p>
        </p:txBody>
      </p:sp>
      <p:sp>
        <p:nvSpPr>
          <p:cNvPr id="2278" name="Google Shape;2278;p7"/>
          <p:cNvSpPr/>
          <p:nvPr/>
        </p:nvSpPr>
        <p:spPr>
          <a:xfrm>
            <a:off x="50119" y="1315069"/>
            <a:ext cx="4445189" cy="1330199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" dirty="0">
              <a:solidFill>
                <a:schemeClr val="lt1"/>
              </a:solidFill>
            </a:endParaRPr>
          </a:p>
          <a:p>
            <a:pPr lvl="0" algn="ctr"/>
            <a:endParaRPr lang="en" sz="1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endParaRPr lang="en" b="1" dirty="0">
              <a:solidFill>
                <a:schemeClr val="lt1"/>
              </a:solidFill>
            </a:endParaRPr>
          </a:p>
          <a:p>
            <a:pPr lvl="0" algn="ctr"/>
            <a:endParaRPr lang="en" sz="1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r>
              <a:rPr lang="en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Forces </a:t>
            </a:r>
          </a:p>
          <a:p>
            <a:pPr lvl="0"/>
            <a:endParaRPr lang="en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Très forte demande mondiale </a:t>
            </a: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Disponibilité multiplateforme (PC, Console , mobile)</a:t>
            </a: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Possibilité de combiner plusieurs genres </a:t>
            </a: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bg1"/>
                </a:solidFill>
              </a:rPr>
              <a:t>Revenus récurrents long-terme</a:t>
            </a:r>
            <a:endParaRPr sz="12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7"/>
          <p:cNvSpPr/>
          <p:nvPr/>
        </p:nvSpPr>
        <p:spPr>
          <a:xfrm>
            <a:off x="4625385" y="1315069"/>
            <a:ext cx="4466943" cy="1434461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" dirty="0">
              <a:solidFill>
                <a:schemeClr val="accent2"/>
              </a:solidFill>
            </a:endParaRPr>
          </a:p>
          <a:p>
            <a:pPr lvl="0" algn="ctr"/>
            <a:endParaRPr lang="en"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endParaRPr lang="en" dirty="0">
              <a:solidFill>
                <a:schemeClr val="accent2"/>
              </a:solidFill>
            </a:endParaRPr>
          </a:p>
          <a:p>
            <a:pPr lvl="0" algn="ctr"/>
            <a:endParaRPr lang="en"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endParaRPr lang="en" dirty="0">
              <a:solidFill>
                <a:schemeClr val="accent2"/>
              </a:solidFill>
            </a:endParaRPr>
          </a:p>
          <a:p>
            <a:pPr lvl="0" algn="ctr"/>
            <a:endParaRPr lang="en" sz="1400" b="1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endParaRPr lang="en" sz="1400" b="1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endParaRPr lang="en" sz="1400" b="1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r>
              <a:rPr lang="en" sz="14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Faiblesses</a:t>
            </a:r>
            <a:r>
              <a:rPr lang="fr-FR" sz="14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lvl="0"/>
            <a:endParaRPr lang="fr-FR" sz="8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Marché ultra-saturé : +440 000 jeux en catalogue</a:t>
            </a: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Cycles de développement longs (5–8 ans parfois)</a:t>
            </a: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Nécessite beaucoup de talents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Problèmes techniques fréquents au lancement (bugs, optimisation)</a:t>
            </a:r>
          </a:p>
          <a:p>
            <a:pPr marL="285750" lvl="0" indent="-285750">
              <a:buClr>
                <a:schemeClr val="tx2"/>
              </a:buClr>
              <a:buFont typeface="Wingdings" panose="05000000000000000000" pitchFamily="2" charset="2"/>
              <a:buChar char="ü"/>
            </a:pPr>
            <a:endParaRPr lang="fr-FR" sz="1200" dirty="0">
              <a:solidFill>
                <a:schemeClr val="accent2"/>
              </a:solidFill>
            </a:endParaRPr>
          </a:p>
          <a:p>
            <a:pPr lvl="0"/>
            <a:endParaRPr lang="fr-FR" sz="1200" dirty="0">
              <a:solidFill>
                <a:schemeClr val="accent2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7"/>
          <p:cNvSpPr/>
          <p:nvPr/>
        </p:nvSpPr>
        <p:spPr>
          <a:xfrm>
            <a:off x="26810" y="3143143"/>
            <a:ext cx="4535316" cy="1434451"/>
          </a:xfrm>
          <a:prstGeom prst="roundRect">
            <a:avLst>
              <a:gd name="adj" fmla="val 16667"/>
            </a:avLst>
          </a:prstGeom>
          <a:solidFill>
            <a:srgbClr val="A288E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endParaRPr lang="en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r>
              <a:rPr lang="en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Opportunités </a:t>
            </a:r>
          </a:p>
          <a:p>
            <a:pPr lvl="0" algn="ctr"/>
            <a:endParaRPr lang="en" sz="8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Marché mondial en croissance</a:t>
            </a: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bg1"/>
                </a:solidFill>
              </a:rPr>
              <a:t>Communautés de jeu actives</a:t>
            </a: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bg1"/>
                </a:solidFill>
              </a:rPr>
              <a:t>Une forte influence de l’écosystème digital sur les décisions d’achat.</a:t>
            </a: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tx2"/>
                </a:solidFill>
              </a:rPr>
              <a:t>Intégration de l’IA générative</a:t>
            </a:r>
            <a:endParaRPr sz="1400" b="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7"/>
          <p:cNvSpPr/>
          <p:nvPr/>
        </p:nvSpPr>
        <p:spPr>
          <a:xfrm>
            <a:off x="4623078" y="3143141"/>
            <a:ext cx="4499526" cy="1434461"/>
          </a:xfrm>
          <a:prstGeom prst="roundRect">
            <a:avLst>
              <a:gd name="adj" fmla="val 16667"/>
            </a:avLst>
          </a:prstGeom>
          <a:solidFill>
            <a:srgbClr val="C1B6D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endParaRPr lang="en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endParaRPr lang="en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" dirty="0">
                <a:solidFill>
                  <a:schemeClr val="lt1"/>
                </a:solidFill>
              </a:rPr>
              <a:t>                                      </a:t>
            </a:r>
          </a:p>
          <a:p>
            <a:pPr lvl="0"/>
            <a:r>
              <a:rPr lang="en" dirty="0">
                <a:solidFill>
                  <a:schemeClr val="lt1"/>
                </a:solidFill>
              </a:rPr>
              <a:t>                                     </a:t>
            </a:r>
          </a:p>
          <a:p>
            <a:pPr lvl="0"/>
            <a:r>
              <a:rPr lang="en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</a:t>
            </a:r>
          </a:p>
          <a:p>
            <a:pPr lvl="0"/>
            <a:r>
              <a:rPr lang="en" dirty="0">
                <a:solidFill>
                  <a:schemeClr val="lt1"/>
                </a:solidFill>
              </a:rPr>
              <a:t>                            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lvl="0"/>
            <a:r>
              <a:rPr lang="en" dirty="0">
                <a:solidFill>
                  <a:schemeClr val="lt1"/>
                </a:solidFill>
              </a:rPr>
              <a:t>                                  </a:t>
            </a:r>
            <a:r>
              <a:rPr lang="en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Menaces 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n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Concurrence massive des grands studios (Sony, Nintendo)</a:t>
            </a: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Dépendance aux plateformes et aux politiques des stores </a:t>
            </a: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Évolution rapide des tendances et technologies</a:t>
            </a:r>
          </a:p>
          <a:p>
            <a:pPr marL="171450" lvl="0" indent="-171450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chemeClr val="accent2"/>
                </a:solidFill>
              </a:rPr>
              <a:t>Réactions négatives très rapides sur les réseaux sociaux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7"/>
          <p:cNvSpPr/>
          <p:nvPr/>
        </p:nvSpPr>
        <p:spPr>
          <a:xfrm>
            <a:off x="3957318" y="2286757"/>
            <a:ext cx="1122597" cy="1122597"/>
          </a:xfrm>
          <a:prstGeom prst="ellipse">
            <a:avLst/>
          </a:prstGeom>
          <a:solidFill>
            <a:srgbClr val="271457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7"/>
          <p:cNvSpPr/>
          <p:nvPr/>
        </p:nvSpPr>
        <p:spPr>
          <a:xfrm>
            <a:off x="4322928" y="2663409"/>
            <a:ext cx="361102" cy="36102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7"/>
          <p:cNvSpPr txBox="1"/>
          <p:nvPr/>
        </p:nvSpPr>
        <p:spPr>
          <a:xfrm>
            <a:off x="4083534" y="2353555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285" name="Google Shape;2285;p7"/>
          <p:cNvSpPr txBox="1"/>
          <p:nvPr/>
        </p:nvSpPr>
        <p:spPr>
          <a:xfrm>
            <a:off x="4536563" y="2371695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  <p:sp>
        <p:nvSpPr>
          <p:cNvPr id="2286" name="Google Shape;2286;p7"/>
          <p:cNvSpPr txBox="1"/>
          <p:nvPr/>
        </p:nvSpPr>
        <p:spPr>
          <a:xfrm>
            <a:off x="4074813" y="2910718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2287" name="Google Shape;2287;p7"/>
          <p:cNvSpPr txBox="1"/>
          <p:nvPr/>
        </p:nvSpPr>
        <p:spPr>
          <a:xfrm>
            <a:off x="4592602" y="2910718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cxnSp>
        <p:nvCxnSpPr>
          <p:cNvPr id="2288" name="Google Shape;2288;p7"/>
          <p:cNvCxnSpPr>
            <a:stCxn id="2282" idx="2"/>
            <a:endCxn id="2282" idx="6"/>
          </p:cNvCxnSpPr>
          <p:nvPr/>
        </p:nvCxnSpPr>
        <p:spPr>
          <a:xfrm>
            <a:off x="3957318" y="2848056"/>
            <a:ext cx="1122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9" name="Google Shape;2289;p7"/>
          <p:cNvCxnSpPr>
            <a:stCxn id="2282" idx="4"/>
            <a:endCxn id="2282" idx="0"/>
          </p:cNvCxnSpPr>
          <p:nvPr/>
        </p:nvCxnSpPr>
        <p:spPr>
          <a:xfrm rot="10800000">
            <a:off x="4518617" y="2286754"/>
            <a:ext cx="0" cy="1122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"/>
          <p:cNvSpPr/>
          <p:nvPr/>
        </p:nvSpPr>
        <p:spPr>
          <a:xfrm>
            <a:off x="3688417" y="1287887"/>
            <a:ext cx="1827379" cy="270703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8"/>
          <p:cNvSpPr txBox="1">
            <a:spLocks noGrp="1"/>
          </p:cNvSpPr>
          <p:nvPr>
            <p:ph type="subTitle" idx="5"/>
          </p:nvPr>
        </p:nvSpPr>
        <p:spPr>
          <a:xfrm>
            <a:off x="335199" y="4391639"/>
            <a:ext cx="3703953" cy="7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80 % des ventes sont digitales.</a:t>
            </a:r>
          </a:p>
          <a:p>
            <a:pPr marL="171450" lvl="0" indent="-171450" algn="l"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Modes éco sur les consoles PS5 et Xbox</a:t>
            </a:r>
          </a:p>
          <a:p>
            <a:pPr marL="171450" lvl="0" indent="-171450" algn="l"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Consommation énergétique élevée des serveurs</a:t>
            </a:r>
            <a:endParaRPr lang="en" sz="1200" dirty="0">
              <a:latin typeface="+mn-lt"/>
            </a:endParaRPr>
          </a:p>
        </p:txBody>
      </p:sp>
      <p:sp>
        <p:nvSpPr>
          <p:cNvPr id="2296" name="Google Shape;2296;p8"/>
          <p:cNvSpPr txBox="1">
            <a:spLocks noGrp="1"/>
          </p:cNvSpPr>
          <p:nvPr>
            <p:ph type="title" idx="4"/>
          </p:nvPr>
        </p:nvSpPr>
        <p:spPr>
          <a:xfrm>
            <a:off x="860986" y="378910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Environmental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97" name="Google Shape;2297;p8"/>
          <p:cNvSpPr txBox="1">
            <a:spLocks noGrp="1"/>
          </p:cNvSpPr>
          <p:nvPr>
            <p:ph type="title" idx="2"/>
          </p:nvPr>
        </p:nvSpPr>
        <p:spPr>
          <a:xfrm>
            <a:off x="1943100" y="2248668"/>
            <a:ext cx="1085986" cy="33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Social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98" name="Google Shape;2298;p8"/>
          <p:cNvSpPr txBox="1">
            <a:spLocks noGrp="1"/>
          </p:cNvSpPr>
          <p:nvPr>
            <p:ph type="subTitle" idx="3"/>
          </p:nvPr>
        </p:nvSpPr>
        <p:spPr>
          <a:xfrm>
            <a:off x="0" y="2753456"/>
            <a:ext cx="3806498" cy="95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SzPct val="900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Marché mondial avec  un public diversifié. </a:t>
            </a:r>
          </a:p>
          <a:p>
            <a:pPr marL="285750" lvl="0" indent="-285750" algn="l">
              <a:buSzPct val="900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Loisir mondial avec des marchés majeurs en AN ,en Eu et en Asie.</a:t>
            </a:r>
          </a:p>
          <a:p>
            <a:pPr marL="285750" lvl="0" indent="-285750" algn="l">
              <a:buSzPct val="900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Âge des joueurs variable selon les régions et les jeux.</a:t>
            </a:r>
          </a:p>
        </p:txBody>
      </p:sp>
      <p:sp>
        <p:nvSpPr>
          <p:cNvPr id="2299" name="Google Shape;2299;p8"/>
          <p:cNvSpPr txBox="1">
            <a:spLocks noGrp="1"/>
          </p:cNvSpPr>
          <p:nvPr>
            <p:ph type="subTitle" idx="1"/>
          </p:nvPr>
        </p:nvSpPr>
        <p:spPr>
          <a:xfrm>
            <a:off x="0" y="1230067"/>
            <a:ext cx="3719132" cy="10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Choisir des pays avec une stabilité politique.</a:t>
            </a:r>
          </a:p>
          <a:p>
            <a:pPr marL="171450" indent="-171450" algn="l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Privilégier les pays offrant des aides : France, Canada. </a:t>
            </a:r>
          </a:p>
          <a:p>
            <a:pPr marL="171450" indent="-171450" algn="l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Tensions géopolitiques pouvant limiter l’accès à certains marchés.</a:t>
            </a:r>
          </a:p>
          <a:p>
            <a:pPr marL="171450" indent="-1714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fr-FR" sz="1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200" dirty="0">
              <a:latin typeface="+mn-lt"/>
            </a:endParaRPr>
          </a:p>
        </p:txBody>
      </p:sp>
      <p:sp>
        <p:nvSpPr>
          <p:cNvPr id="2300" name="Google Shape;2300;p8"/>
          <p:cNvSpPr txBox="1">
            <a:spLocks noGrp="1"/>
          </p:cNvSpPr>
          <p:nvPr>
            <p:ph type="title"/>
          </p:nvPr>
        </p:nvSpPr>
        <p:spPr>
          <a:xfrm>
            <a:off x="938552" y="787768"/>
            <a:ext cx="2168100" cy="43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Politique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01" name="Google Shape;2301;p8"/>
          <p:cNvSpPr txBox="1">
            <a:spLocks noGrp="1"/>
          </p:cNvSpPr>
          <p:nvPr>
            <p:ph type="title" idx="6"/>
          </p:nvPr>
        </p:nvSpPr>
        <p:spPr>
          <a:xfrm>
            <a:off x="2367901" y="-43610"/>
            <a:ext cx="4987805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Space Grotesk"/>
                <a:ea typeface="Space Grotesk"/>
                <a:cs typeface="Space Grotesk"/>
                <a:sym typeface="Space Grotesk"/>
              </a:rPr>
              <a:t>Business Plan : PESTEL</a:t>
            </a:r>
            <a:endParaRPr sz="2800" b="1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2" name="Google Shape;2302;p8"/>
          <p:cNvSpPr txBox="1"/>
          <p:nvPr/>
        </p:nvSpPr>
        <p:spPr>
          <a:xfrm>
            <a:off x="3134953" y="75610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3" name="Google Shape;2303;p8"/>
          <p:cNvSpPr txBox="1"/>
          <p:nvPr/>
        </p:nvSpPr>
        <p:spPr>
          <a:xfrm>
            <a:off x="5572400" y="752890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4" name="Google Shape;2304;p8"/>
          <p:cNvSpPr txBox="1"/>
          <p:nvPr/>
        </p:nvSpPr>
        <p:spPr>
          <a:xfrm>
            <a:off x="3106652" y="2127148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5" name="Google Shape;2305;p8"/>
          <p:cNvSpPr txBox="1"/>
          <p:nvPr/>
        </p:nvSpPr>
        <p:spPr>
          <a:xfrm>
            <a:off x="5572400" y="2113706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</a:t>
            </a:r>
            <a:endParaRPr sz="33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6" name="Google Shape;2306;p8"/>
          <p:cNvSpPr txBox="1"/>
          <p:nvPr/>
        </p:nvSpPr>
        <p:spPr>
          <a:xfrm>
            <a:off x="3144313" y="3835930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7" name="Google Shape;2307;p8"/>
          <p:cNvSpPr txBox="1"/>
          <p:nvPr/>
        </p:nvSpPr>
        <p:spPr>
          <a:xfrm>
            <a:off x="5598347" y="3816448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8" name="Google Shape;2308;p8"/>
          <p:cNvSpPr txBox="1">
            <a:spLocks noGrp="1"/>
          </p:cNvSpPr>
          <p:nvPr>
            <p:ph type="title" idx="7"/>
          </p:nvPr>
        </p:nvSpPr>
        <p:spPr>
          <a:xfrm>
            <a:off x="6040374" y="830748"/>
            <a:ext cx="2168100" cy="39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Economique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09" name="Google Shape;2309;p8"/>
          <p:cNvSpPr txBox="1">
            <a:spLocks noGrp="1"/>
          </p:cNvSpPr>
          <p:nvPr>
            <p:ph type="subTitle" idx="8"/>
          </p:nvPr>
        </p:nvSpPr>
        <p:spPr>
          <a:xfrm>
            <a:off x="5383868" y="1251535"/>
            <a:ext cx="4039152" cy="9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171450">
              <a:buSzPct val="900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Marché mondial estimé à 200 Md $ en 2025.</a:t>
            </a:r>
          </a:p>
          <a:p>
            <a:pPr marL="285750" indent="-171450">
              <a:buSzPct val="900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Transition du modèle de vente unitaire vers les abonnements</a:t>
            </a:r>
          </a:p>
          <a:p>
            <a:pPr marL="285750" indent="-171450">
              <a:buSzPct val="900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Un prix élevé pour les jeux AAA, autour de 70 $</a:t>
            </a:r>
            <a:endParaRPr sz="1200" dirty="0">
              <a:latin typeface="+mn-lt"/>
            </a:endParaRPr>
          </a:p>
        </p:txBody>
      </p:sp>
      <p:sp>
        <p:nvSpPr>
          <p:cNvPr id="2310" name="Google Shape;2310;p8"/>
          <p:cNvSpPr txBox="1">
            <a:spLocks noGrp="1"/>
          </p:cNvSpPr>
          <p:nvPr>
            <p:ph type="title" idx="9"/>
          </p:nvPr>
        </p:nvSpPr>
        <p:spPr>
          <a:xfrm>
            <a:off x="6085847" y="2181275"/>
            <a:ext cx="2168100" cy="40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Technologique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11" name="Google Shape;2311;p8"/>
          <p:cNvSpPr txBox="1">
            <a:spLocks noGrp="1"/>
          </p:cNvSpPr>
          <p:nvPr>
            <p:ph type="subTitle" idx="13"/>
          </p:nvPr>
        </p:nvSpPr>
        <p:spPr>
          <a:xfrm>
            <a:off x="5541604" y="2701148"/>
            <a:ext cx="3602396" cy="113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IA générative : transforme les processus de développement</a:t>
            </a:r>
          </a:p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Cloud gaming : rend les jeux AAA accessibles sur tout type d’écran</a:t>
            </a:r>
          </a:p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dirty="0">
                <a:latin typeface="+mn-lt"/>
              </a:rPr>
              <a:t>De nouveaux outils de création de jeux (UE5)</a:t>
            </a:r>
          </a:p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endParaRPr sz="1200" dirty="0">
              <a:latin typeface="+mn-lt"/>
            </a:endParaRPr>
          </a:p>
        </p:txBody>
      </p:sp>
      <p:sp>
        <p:nvSpPr>
          <p:cNvPr id="2312" name="Google Shape;2312;p8"/>
          <p:cNvSpPr txBox="1">
            <a:spLocks noGrp="1"/>
          </p:cNvSpPr>
          <p:nvPr>
            <p:ph type="title" idx="14"/>
          </p:nvPr>
        </p:nvSpPr>
        <p:spPr>
          <a:xfrm>
            <a:off x="6175127" y="3934686"/>
            <a:ext cx="1234668" cy="38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Legal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13" name="Google Shape;2313;p8"/>
          <p:cNvSpPr txBox="1">
            <a:spLocks noGrp="1"/>
          </p:cNvSpPr>
          <p:nvPr>
            <p:ph type="subTitle" idx="15"/>
          </p:nvPr>
        </p:nvSpPr>
        <p:spPr>
          <a:xfrm>
            <a:off x="5150321" y="4378780"/>
            <a:ext cx="4039151" cy="70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b="1" dirty="0">
                <a:latin typeface="+mn-lt"/>
              </a:rPr>
              <a:t>Loot boxes</a:t>
            </a:r>
            <a:r>
              <a:rPr lang="fr-FR" sz="1200" dirty="0">
                <a:latin typeface="+mn-lt"/>
              </a:rPr>
              <a:t> : interdites ou strictement encadrées</a:t>
            </a:r>
          </a:p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b="1" dirty="0">
                <a:latin typeface="+mn-lt"/>
              </a:rPr>
              <a:t>PEGI</a:t>
            </a:r>
            <a:r>
              <a:rPr lang="fr-FR" sz="1200" dirty="0">
                <a:latin typeface="+mn-lt"/>
              </a:rPr>
              <a:t> : système de classification par âge </a:t>
            </a:r>
          </a:p>
          <a:p>
            <a:pPr marL="171450" lvl="0" indent="-171450">
              <a:buClr>
                <a:schemeClr val="tx2"/>
              </a:buClr>
              <a:buSzPts val="1100"/>
              <a:buFont typeface="Wingdings" panose="05000000000000000000" pitchFamily="2" charset="2"/>
              <a:buChar char="ü"/>
            </a:pPr>
            <a:r>
              <a:rPr lang="fr-FR" sz="1200" b="1" dirty="0">
                <a:latin typeface="+mn-lt"/>
              </a:rPr>
              <a:t>RGPD </a:t>
            </a:r>
            <a:r>
              <a:rPr lang="fr-FR" sz="1200" dirty="0">
                <a:latin typeface="+mn-lt"/>
              </a:rPr>
              <a:t>(Europe) : règles strictes sur la collecte, l’usage</a:t>
            </a:r>
            <a:endParaRPr sz="1200" dirty="0">
              <a:latin typeface="+mn-lt"/>
            </a:endParaRPr>
          </a:p>
        </p:txBody>
      </p:sp>
      <p:sp>
        <p:nvSpPr>
          <p:cNvPr id="2314" name="Google Shape;2314;p8"/>
          <p:cNvSpPr txBox="1"/>
          <p:nvPr/>
        </p:nvSpPr>
        <p:spPr>
          <a:xfrm>
            <a:off x="3832306" y="2307900"/>
            <a:ext cx="1539600" cy="527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PESTEL</a:t>
            </a:r>
            <a:endParaRPr sz="1800" b="0" i="0" u="none" strike="noStrike" cap="none" dirty="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9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/>
              <a:t>Analyses des tendances actuelles</a:t>
            </a:r>
            <a:endParaRPr dirty="0"/>
          </a:p>
        </p:txBody>
      </p:sp>
      <p:sp>
        <p:nvSpPr>
          <p:cNvPr id="2321" name="Google Shape;2321;p9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03</a:t>
            </a:r>
            <a:endParaRPr sz="1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FB0F46A9-5107-4CE5-9563-24380124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>
            <a:extLst>
              <a:ext uri="{FF2B5EF4-FFF2-40B4-BE49-F238E27FC236}">
                <a16:creationId xmlns:a16="http://schemas.microsoft.com/office/drawing/2014/main" id="{796ADB62-1ED3-36A9-D62B-F79043660064}"/>
              </a:ext>
            </a:extLst>
          </p:cNvPr>
          <p:cNvSpPr/>
          <p:nvPr/>
        </p:nvSpPr>
        <p:spPr>
          <a:xfrm>
            <a:off x="1234440" y="755994"/>
            <a:ext cx="6202680" cy="728418"/>
          </a:xfrm>
          <a:prstGeom prst="rect">
            <a:avLst/>
          </a:prstGeom>
          <a:solidFill>
            <a:srgbClr val="2D1561"/>
          </a:solidFill>
          <a:ln w="19050">
            <a:solidFill>
              <a:srgbClr val="00CFCF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1) Analyse du fichier : All Published Video Games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entre : 2000–2020</a:t>
            </a:r>
            <a:endParaRPr lang="fr-FR" dirty="0">
              <a:solidFill>
                <a:schemeClr val="bg1"/>
              </a:solidFill>
              <a:latin typeface="DM Sans" pitchFamily="2" charset="0"/>
            </a:endParaRPr>
          </a:p>
          <a:p>
            <a:pPr algn="ctr"/>
            <a:r>
              <a:rPr lang="fr-FR" dirty="0">
                <a:solidFill>
                  <a:schemeClr val="bg1"/>
                </a:solidFill>
              </a:rPr>
              <a:t>440 896 </a:t>
            </a:r>
            <a:r>
              <a:rPr lang="fr-FR" dirty="0">
                <a:solidFill>
                  <a:schemeClr val="bg1"/>
                </a:solidFill>
                <a:latin typeface="DM Sans" pitchFamily="2" charset="0"/>
              </a:rPr>
              <a:t>jeux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FE2CC05-3149-6A5B-B7F5-F4A308D4FCB3}"/>
              </a:ext>
            </a:extLst>
          </p:cNvPr>
          <p:cNvSpPr/>
          <p:nvPr/>
        </p:nvSpPr>
        <p:spPr>
          <a:xfrm>
            <a:off x="7581792" y="1676400"/>
            <a:ext cx="1508653" cy="3413760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    </a:t>
            </a:r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 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Année  </a:t>
            </a:r>
            <a:r>
              <a:rPr lang="fr-FR" b="1" dirty="0">
                <a:solidFill>
                  <a:schemeClr val="bg1"/>
                </a:solidFill>
              </a:rPr>
              <a:t>2000 → 928 jeux</a:t>
            </a:r>
            <a:endParaRPr lang="fr-FR" dirty="0">
              <a:solidFill>
                <a:schemeClr val="bg1"/>
              </a:solidFill>
            </a:endParaRP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Année </a:t>
            </a:r>
            <a:r>
              <a:rPr lang="fr-FR" b="1" dirty="0">
                <a:solidFill>
                  <a:schemeClr val="bg1"/>
                </a:solidFill>
              </a:rPr>
              <a:t>2013 → 6 223 jeux</a:t>
            </a:r>
            <a:endParaRPr lang="fr-FR" dirty="0">
              <a:solidFill>
                <a:schemeClr val="bg1"/>
              </a:solidFill>
            </a:endParaRP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Année </a:t>
            </a:r>
            <a:r>
              <a:rPr lang="fr-FR" b="1" dirty="0">
                <a:solidFill>
                  <a:schemeClr val="bg1"/>
                </a:solidFill>
              </a:rPr>
              <a:t>2014 → 15 439 jeux</a:t>
            </a:r>
            <a:endParaRPr lang="fr-FR" dirty="0">
              <a:solidFill>
                <a:schemeClr val="bg1"/>
              </a:solidFill>
            </a:endParaRP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Année </a:t>
            </a:r>
            <a:r>
              <a:rPr lang="fr-FR" b="1" dirty="0">
                <a:solidFill>
                  <a:schemeClr val="bg1"/>
                </a:solidFill>
              </a:rPr>
              <a:t>2020 → 118450  jeux (pic)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CECFE49-5645-6079-22D7-F8EB0195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6400"/>
            <a:ext cx="7528560" cy="3467100"/>
          </a:xfrm>
          <a:prstGeom prst="rect">
            <a:avLst/>
          </a:prstGeom>
        </p:spPr>
      </p:pic>
      <p:sp>
        <p:nvSpPr>
          <p:cNvPr id="16" name="Google Shape;2326;p10">
            <a:extLst>
              <a:ext uri="{FF2B5EF4-FFF2-40B4-BE49-F238E27FC236}">
                <a16:creationId xmlns:a16="http://schemas.microsoft.com/office/drawing/2014/main" id="{BA7A2799-3864-D728-C41B-A43C208CF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708" y="-8563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97230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9719A253-5DB6-2D8D-81B6-3423119B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6">
            <a:extLst>
              <a:ext uri="{FF2B5EF4-FFF2-40B4-BE49-F238E27FC236}">
                <a16:creationId xmlns:a16="http://schemas.microsoft.com/office/drawing/2014/main" id="{BCBA00BC-E34B-C0CF-CCC8-0E0761058E1B}"/>
              </a:ext>
            </a:extLst>
          </p:cNvPr>
          <p:cNvSpPr/>
          <p:nvPr/>
        </p:nvSpPr>
        <p:spPr>
          <a:xfrm>
            <a:off x="7213248" y="2892684"/>
            <a:ext cx="1872000" cy="2223505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</a:p>
          <a:p>
            <a:endParaRPr lang="fr-FR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fr-FR" b="1" dirty="0">
                <a:solidFill>
                  <a:schemeClr val="bg1"/>
                </a:solidFill>
              </a:rPr>
              <a:t>=&gt; Top 3 : </a:t>
            </a:r>
            <a:endParaRPr lang="fr-FR" dirty="0">
              <a:solidFill>
                <a:schemeClr val="bg1"/>
              </a:solidFill>
            </a:endParaRP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PC      →     258865</a:t>
            </a: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Web    →     111506</a:t>
            </a: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iOS     →    67002</a:t>
            </a:r>
          </a:p>
          <a:p>
            <a:pPr latinLnBrk="1"/>
            <a:endParaRPr lang="fr-FR" dirty="0">
              <a:solidFill>
                <a:schemeClr val="bg1"/>
              </a:solidFill>
            </a:endParaRPr>
          </a:p>
          <a:p>
            <a:pPr latinLnBrk="1"/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4DF4961D-15D1-1578-411D-E548012E9E36}"/>
              </a:ext>
            </a:extLst>
          </p:cNvPr>
          <p:cNvSpPr/>
          <p:nvPr/>
        </p:nvSpPr>
        <p:spPr>
          <a:xfrm>
            <a:off x="7213248" y="513548"/>
            <a:ext cx="1872000" cy="2223505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       </a:t>
            </a:r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 </a:t>
            </a:r>
          </a:p>
          <a:p>
            <a:pPr>
              <a:buClr>
                <a:schemeClr val="bg1"/>
              </a:buClr>
              <a:buSzPct val="91000"/>
            </a:pPr>
            <a:endParaRPr lang="fr-FR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>
              <a:buClr>
                <a:schemeClr val="bg1"/>
              </a:buClr>
              <a:buSzPct val="91000"/>
            </a:pPr>
            <a:r>
              <a:rPr lang="fr-FR" b="1" dirty="0">
                <a:solidFill>
                  <a:schemeClr val="bg1"/>
                </a:solidFill>
              </a:rPr>
              <a:t>=&gt; 19 genres distincts</a:t>
            </a:r>
          </a:p>
          <a:p>
            <a:pPr>
              <a:buClr>
                <a:schemeClr val="bg1"/>
              </a:buClr>
              <a:buSzPct val="91000"/>
            </a:pPr>
            <a:endParaRPr lang="fr-FR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91000"/>
            </a:pPr>
            <a:r>
              <a:rPr lang="fr-FR" b="1" dirty="0">
                <a:solidFill>
                  <a:schemeClr val="bg1"/>
                </a:solidFill>
              </a:rPr>
              <a:t>=&gt; Top 4 : </a:t>
            </a:r>
          </a:p>
          <a:p>
            <a:r>
              <a:rPr lang="fr-FR" dirty="0">
                <a:solidFill>
                  <a:schemeClr val="bg1"/>
                </a:solidFill>
              </a:rPr>
              <a:t>Action → 94 066</a:t>
            </a:r>
          </a:p>
          <a:p>
            <a:r>
              <a:rPr lang="fr-FR" dirty="0">
                <a:solidFill>
                  <a:schemeClr val="bg1"/>
                </a:solidFill>
              </a:rPr>
              <a:t>Adventure → 66 687</a:t>
            </a:r>
          </a:p>
          <a:p>
            <a:r>
              <a:rPr lang="fr-FR" dirty="0">
                <a:solidFill>
                  <a:schemeClr val="bg1"/>
                </a:solidFill>
              </a:rPr>
              <a:t>Puzzle → 53 499</a:t>
            </a:r>
          </a:p>
          <a:p>
            <a:r>
              <a:rPr lang="fr-FR" dirty="0">
                <a:solidFill>
                  <a:schemeClr val="bg1"/>
                </a:solidFill>
              </a:rPr>
              <a:t>Platformer → 47 704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F9EE805-7DBD-BA7A-6FF7-FCB4FBFA7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13547"/>
            <a:ext cx="7101840" cy="232109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199C860-C965-0DED-0A14-274BDA045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2684"/>
            <a:ext cx="7101841" cy="2265686"/>
          </a:xfrm>
          <a:prstGeom prst="rect">
            <a:avLst/>
          </a:prstGeom>
        </p:spPr>
      </p:pic>
      <p:sp>
        <p:nvSpPr>
          <p:cNvPr id="20" name="Google Shape;2326;p10">
            <a:extLst>
              <a:ext uri="{FF2B5EF4-FFF2-40B4-BE49-F238E27FC236}">
                <a16:creationId xmlns:a16="http://schemas.microsoft.com/office/drawing/2014/main" id="{9DB75E4E-7272-970D-104F-99918730A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4960" y="-88175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346806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6A942EDD-4E0D-48C1-FDC6-4EEEC6F3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09A720C-5207-914D-0E49-27027AA8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0" y="529928"/>
            <a:ext cx="6409904" cy="2270760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F2D0E704-E101-5A89-39D7-C0C8F6061328}"/>
              </a:ext>
            </a:extLst>
          </p:cNvPr>
          <p:cNvSpPr/>
          <p:nvPr/>
        </p:nvSpPr>
        <p:spPr>
          <a:xfrm>
            <a:off x="6530661" y="670898"/>
            <a:ext cx="2402626" cy="1988820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  <a:endParaRPr lang="fr-FR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endParaRPr lang="fr-FR" sz="1300" dirty="0">
              <a:solidFill>
                <a:schemeClr val="bg1"/>
              </a:solidFill>
            </a:endParaRPr>
          </a:p>
          <a:p>
            <a:r>
              <a:rPr lang="fr-FR" sz="1300" dirty="0">
                <a:solidFill>
                  <a:schemeClr val="bg1"/>
                </a:solidFill>
              </a:rPr>
              <a:t>- Base globale (notes sur 5)</a:t>
            </a:r>
          </a:p>
          <a:p>
            <a:endParaRPr lang="fr-FR" sz="1300" dirty="0">
              <a:solidFill>
                <a:schemeClr val="bg1"/>
              </a:solidFill>
            </a:endParaRPr>
          </a:p>
          <a:p>
            <a:r>
              <a:rPr lang="fr-FR" sz="1300" dirty="0">
                <a:solidFill>
                  <a:schemeClr val="bg1"/>
                </a:solidFill>
              </a:rPr>
              <a:t>- Genres les mieux notés: </a:t>
            </a:r>
          </a:p>
          <a:p>
            <a:r>
              <a:rPr lang="fr-FR" sz="1300" dirty="0">
                <a:solidFill>
                  <a:schemeClr val="bg1"/>
                </a:solidFill>
              </a:rPr>
              <a:t>simulation, puzzle, </a:t>
            </a:r>
          </a:p>
          <a:p>
            <a:r>
              <a:rPr lang="fr-FR" sz="1300" dirty="0">
                <a:solidFill>
                  <a:schemeClr val="bg1"/>
                </a:solidFill>
              </a:rPr>
              <a:t>Action, Adventure, </a:t>
            </a:r>
          </a:p>
          <a:p>
            <a:r>
              <a:rPr lang="fr-FR" sz="1300" dirty="0">
                <a:solidFill>
                  <a:schemeClr val="bg1"/>
                </a:solidFill>
              </a:rPr>
              <a:t>RPG, et autres 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9D45409-B485-85B3-135A-2422DC72DF12}"/>
              </a:ext>
            </a:extLst>
          </p:cNvPr>
          <p:cNvSpPr/>
          <p:nvPr/>
        </p:nvSpPr>
        <p:spPr>
          <a:xfrm>
            <a:off x="6530661" y="3006859"/>
            <a:ext cx="2402626" cy="1988820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- </a:t>
            </a:r>
            <a:r>
              <a:rPr lang="fr-FR" dirty="0" err="1">
                <a:solidFill>
                  <a:schemeClr val="bg1"/>
                </a:solidFill>
              </a:rPr>
              <a:t>Metacritic</a:t>
            </a:r>
            <a:r>
              <a:rPr lang="fr-FR" dirty="0">
                <a:solidFill>
                  <a:schemeClr val="bg1"/>
                </a:solidFill>
              </a:rPr>
              <a:t> (notes sur 100)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- Genres les mieux notés:</a:t>
            </a:r>
          </a:p>
          <a:p>
            <a:r>
              <a:rPr lang="fr-FR" dirty="0">
                <a:solidFill>
                  <a:schemeClr val="bg1"/>
                </a:solidFill>
              </a:rPr>
              <a:t>Action, Adventure, RPG, shooter, puzzle, et autres.</a:t>
            </a:r>
          </a:p>
          <a:p>
            <a:r>
              <a:rPr lang="fr-FR" dirty="0">
                <a:solidFill>
                  <a:schemeClr val="bg1"/>
                </a:solidFill>
              </a:rPr>
              <a:t> 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    </a:t>
            </a:r>
          </a:p>
        </p:txBody>
      </p:sp>
      <p:sp>
        <p:nvSpPr>
          <p:cNvPr id="13" name="Google Shape;2326;p10">
            <a:extLst>
              <a:ext uri="{FF2B5EF4-FFF2-40B4-BE49-F238E27FC236}">
                <a16:creationId xmlns:a16="http://schemas.microsoft.com/office/drawing/2014/main" id="{6A1A1F6B-D6DF-072B-C1D6-F8C917518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180" y="-107973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BEC51F0-D23D-18DB-3265-58112470A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480" y="2872740"/>
            <a:ext cx="6409904" cy="227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7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826A5BE5-4E42-8BC7-6253-6A953D49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9215E57-0270-8A21-1667-0197562C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2740"/>
            <a:ext cx="6409904" cy="2270760"/>
          </a:xfrm>
          <a:prstGeom prst="rect">
            <a:avLst/>
          </a:prstGeom>
        </p:spPr>
      </p:pic>
      <p:sp>
        <p:nvSpPr>
          <p:cNvPr id="15" name="Google Shape;2326;p10">
            <a:extLst>
              <a:ext uri="{FF2B5EF4-FFF2-40B4-BE49-F238E27FC236}">
                <a16:creationId xmlns:a16="http://schemas.microsoft.com/office/drawing/2014/main" id="{DB004CA3-FD72-737C-2983-660565497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180" y="-7879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B4822A5-07F2-804D-B6FF-9A0440F17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7941"/>
            <a:ext cx="6409904" cy="2270760"/>
          </a:xfrm>
          <a:prstGeom prst="rect">
            <a:avLst/>
          </a:prstGeom>
        </p:spPr>
      </p:pic>
      <p:sp>
        <p:nvSpPr>
          <p:cNvPr id="17" name="Shape 6">
            <a:extLst>
              <a:ext uri="{FF2B5EF4-FFF2-40B4-BE49-F238E27FC236}">
                <a16:creationId xmlns:a16="http://schemas.microsoft.com/office/drawing/2014/main" id="{16C19BEA-355C-91B9-A576-713C4E837363}"/>
              </a:ext>
            </a:extLst>
          </p:cNvPr>
          <p:cNvSpPr/>
          <p:nvPr/>
        </p:nvSpPr>
        <p:spPr>
          <a:xfrm>
            <a:off x="6530660" y="670898"/>
            <a:ext cx="2491419" cy="1988820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  <a:endParaRPr lang="fr-FR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endParaRPr lang="fr-FR" sz="1300" dirty="0">
              <a:solidFill>
                <a:schemeClr val="bg1"/>
              </a:solidFill>
            </a:endParaRPr>
          </a:p>
          <a:p>
            <a:r>
              <a:rPr lang="fr-FR" sz="1300" dirty="0">
                <a:solidFill>
                  <a:schemeClr val="bg1"/>
                </a:solidFill>
              </a:rPr>
              <a:t>- Base globale (notes sur 5)</a:t>
            </a:r>
          </a:p>
          <a:p>
            <a:endParaRPr lang="fr-FR" sz="1300" dirty="0">
              <a:solidFill>
                <a:schemeClr val="bg1"/>
              </a:solidFill>
            </a:endParaRPr>
          </a:p>
          <a:p>
            <a:r>
              <a:rPr lang="fr-FR" sz="1300" dirty="0">
                <a:solidFill>
                  <a:schemeClr val="bg1"/>
                </a:solidFill>
              </a:rPr>
              <a:t>- Plateformes les mieux notés: </a:t>
            </a:r>
          </a:p>
          <a:p>
            <a:r>
              <a:rPr lang="fr-FR" sz="1300" dirty="0">
                <a:solidFill>
                  <a:schemeClr val="bg1"/>
                </a:solidFill>
              </a:rPr>
              <a:t>Nintendo, Xbox, PlayStation , PC 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A712EBF-3EDF-AC72-E84F-9547017A6784}"/>
              </a:ext>
            </a:extLst>
          </p:cNvPr>
          <p:cNvSpPr/>
          <p:nvPr/>
        </p:nvSpPr>
        <p:spPr>
          <a:xfrm>
            <a:off x="6530660" y="3006859"/>
            <a:ext cx="2613339" cy="1988820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-  </a:t>
            </a:r>
            <a:r>
              <a:rPr lang="fr-FR" dirty="0" err="1">
                <a:solidFill>
                  <a:schemeClr val="bg1"/>
                </a:solidFill>
              </a:rPr>
              <a:t>Metacritic</a:t>
            </a:r>
            <a:r>
              <a:rPr lang="fr-FR" dirty="0">
                <a:solidFill>
                  <a:schemeClr val="bg1"/>
                </a:solidFill>
              </a:rPr>
              <a:t> (notes sur 100)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- Plateformes les mieux notés:</a:t>
            </a:r>
          </a:p>
          <a:p>
            <a:r>
              <a:rPr lang="fr-FR" dirty="0">
                <a:solidFill>
                  <a:schemeClr val="bg1"/>
                </a:solidFill>
              </a:rPr>
              <a:t>Nintendo, Xbox, PlayStation , PC 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76064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9C215F6E-B739-D16D-0F79-7122A7B1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>
            <a:extLst>
              <a:ext uri="{FF2B5EF4-FFF2-40B4-BE49-F238E27FC236}">
                <a16:creationId xmlns:a16="http://schemas.microsoft.com/office/drawing/2014/main" id="{B9781E9A-3502-97C6-A99C-9E03F0C6198B}"/>
              </a:ext>
            </a:extLst>
          </p:cNvPr>
          <p:cNvSpPr/>
          <p:nvPr/>
        </p:nvSpPr>
        <p:spPr>
          <a:xfrm>
            <a:off x="7094220" y="944880"/>
            <a:ext cx="1996440" cy="3632498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r>
              <a:rPr lang="fr-FR" sz="1200" dirty="0">
                <a:solidFill>
                  <a:schemeClr val="bg1"/>
                </a:solidFill>
              </a:rPr>
              <a:t>          </a:t>
            </a:r>
            <a:r>
              <a:rPr lang="fr-FR" sz="12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  <a:endParaRPr lang="fr-FR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fr-FR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200" b="1" dirty="0">
                <a:solidFill>
                  <a:schemeClr val="bg1"/>
                </a:solidFill>
              </a:rPr>
              <a:t>=&gt; Top 3 :  </a:t>
            </a:r>
          </a:p>
          <a:p>
            <a:pPr>
              <a:buNone/>
            </a:pPr>
            <a:r>
              <a:rPr lang="fr-FR" sz="1200" dirty="0">
                <a:solidFill>
                  <a:schemeClr val="bg1"/>
                </a:solidFill>
              </a:rPr>
              <a:t>7718 h →  jeux Teen </a:t>
            </a:r>
          </a:p>
          <a:p>
            <a:pPr>
              <a:buNone/>
            </a:pPr>
            <a:r>
              <a:rPr lang="fr-FR" sz="1200" dirty="0">
                <a:solidFill>
                  <a:schemeClr val="bg1"/>
                </a:solidFill>
              </a:rPr>
              <a:t>6149 h → jeux Mature </a:t>
            </a:r>
          </a:p>
          <a:p>
            <a:pPr>
              <a:buNone/>
            </a:pPr>
            <a:r>
              <a:rPr lang="fr-FR" sz="1200" dirty="0">
                <a:solidFill>
                  <a:schemeClr val="bg1"/>
                </a:solidFill>
              </a:rPr>
              <a:t>5132 h → jeux E10+ </a:t>
            </a:r>
          </a:p>
          <a:p>
            <a:pPr>
              <a:buNone/>
            </a:pPr>
            <a:endParaRPr lang="fr-FR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fr-FR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200" b="1" dirty="0">
                <a:solidFill>
                  <a:schemeClr val="bg1"/>
                </a:solidFill>
              </a:rPr>
              <a:t>=&gt; Note : 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Teen (T) → +13 ans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Mature (M) → +17 ans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Everyone10+ → +10 ans</a:t>
            </a:r>
          </a:p>
          <a:p>
            <a:pPr>
              <a:buNone/>
            </a:pPr>
            <a:r>
              <a:rPr lang="fr-FR" sz="1200" dirty="0">
                <a:solidFill>
                  <a:schemeClr val="bg1"/>
                </a:solidFill>
              </a:rPr>
              <a:t>- Everyone → +6 ans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Adults Only → +18 ans</a:t>
            </a:r>
          </a:p>
          <a:p>
            <a:pPr marL="171450" indent="-171450">
              <a:buFontTx/>
              <a:buChar char="-"/>
            </a:pPr>
            <a:endParaRPr lang="fr-FR" sz="1200" dirty="0">
              <a:solidFill>
                <a:schemeClr val="bg1"/>
              </a:solidFill>
            </a:endParaRPr>
          </a:p>
          <a:p>
            <a:r>
              <a:rPr lang="fr-FR" sz="1200" dirty="0">
                <a:solidFill>
                  <a:schemeClr val="bg1"/>
                </a:solidFill>
              </a:rPr>
              <a:t>- Rating Pending (RP)</a:t>
            </a:r>
          </a:p>
          <a:p>
            <a:r>
              <a:rPr lang="fr-FR" sz="1200" dirty="0">
                <a:solidFill>
                  <a:schemeClr val="bg1"/>
                </a:solidFill>
              </a:rPr>
              <a:t>→ non encore évalués </a:t>
            </a:r>
          </a:p>
          <a:p>
            <a:r>
              <a:rPr lang="fr-FR" sz="1200" dirty="0">
                <a:solidFill>
                  <a:schemeClr val="bg1"/>
                </a:solidFill>
              </a:rPr>
              <a:t> </a:t>
            </a:r>
          </a:p>
          <a:p>
            <a:endParaRPr lang="fr-FR" sz="1200" dirty="0">
              <a:solidFill>
                <a:schemeClr val="bg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945D2F2-8D77-5579-0454-5908BDC0D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" y="566122"/>
            <a:ext cx="6941821" cy="4493558"/>
          </a:xfrm>
          <a:prstGeom prst="rect">
            <a:avLst/>
          </a:prstGeom>
        </p:spPr>
      </p:pic>
      <p:sp>
        <p:nvSpPr>
          <p:cNvPr id="15" name="Google Shape;2326;p10">
            <a:extLst>
              <a:ext uri="{FF2B5EF4-FFF2-40B4-BE49-F238E27FC236}">
                <a16:creationId xmlns:a16="http://schemas.microsoft.com/office/drawing/2014/main" id="{925DF94A-CC00-E0F8-4968-3E7A4BCD9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46860" y="-7039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680329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FB6963-6F4A-07E3-27F8-258FE450288A}"/>
              </a:ext>
            </a:extLst>
          </p:cNvPr>
          <p:cNvSpPr/>
          <p:nvPr/>
        </p:nvSpPr>
        <p:spPr>
          <a:xfrm>
            <a:off x="731520" y="1772305"/>
            <a:ext cx="7668000" cy="2839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6" name="Google Shape;2326;p10"/>
          <p:cNvSpPr txBox="1">
            <a:spLocks noGrp="1"/>
          </p:cNvSpPr>
          <p:nvPr>
            <p:ph type="title"/>
          </p:nvPr>
        </p:nvSpPr>
        <p:spPr>
          <a:xfrm>
            <a:off x="1363980" y="-4753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FE21B63-15C6-DB6C-F7FE-9CE67184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313905"/>
              </p:ext>
            </p:extLst>
          </p:nvPr>
        </p:nvGraphicFramePr>
        <p:xfrm>
          <a:off x="731520" y="2080082"/>
          <a:ext cx="7680960" cy="2772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876257684"/>
                    </a:ext>
                  </a:extLst>
                </a:gridCol>
                <a:gridCol w="1712523">
                  <a:extLst>
                    <a:ext uri="{9D8B030D-6E8A-4147-A177-3AD203B41FA5}">
                      <a16:colId xmlns:a16="http://schemas.microsoft.com/office/drawing/2014/main" val="3779679871"/>
                    </a:ext>
                  </a:extLst>
                </a:gridCol>
                <a:gridCol w="847797">
                  <a:extLst>
                    <a:ext uri="{9D8B030D-6E8A-4147-A177-3AD203B41FA5}">
                      <a16:colId xmlns:a16="http://schemas.microsoft.com/office/drawing/2014/main" val="142990125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63414178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13684936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62149395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Rank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Jeu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Plateforme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Année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Genre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Global Sales (M)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2956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 Sports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2006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Sports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81.29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00648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Super Mario Bros.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NES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1985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Platform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40.90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1113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Mario Kart 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2008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Racing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34.87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0050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 Sports Resort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2009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Sports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33.02</a:t>
                      </a:r>
                      <a:endParaRPr lang="fr-FR" sz="90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15675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5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Pokémon Rouge/Bleu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GB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1996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RPG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31.13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939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6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Tetris (GB)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GB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1989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Puzzle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29.95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2331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7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New Super Mario Bros.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DS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2006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Platform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29.81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9253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 Play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2006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Misc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29.71</a:t>
                      </a:r>
                      <a:endParaRPr lang="fr-FR" sz="90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7127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9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New Super Mario Bros. 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Wii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2009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Platform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28.63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1187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10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Duck Hunt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NES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1984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Shooter</a:t>
                      </a:r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28.60</a:t>
                      </a:r>
                      <a:endParaRPr lang="fr-FR" sz="900" dirty="0"/>
                    </a:p>
                  </a:txBody>
                  <a:tcPr marL="61769" marR="61769" marT="30885" marB="3088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77783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FEB6159E-4199-55FB-5266-F0614FF42924}"/>
              </a:ext>
            </a:extLst>
          </p:cNvPr>
          <p:cNvSpPr txBox="1"/>
          <p:nvPr/>
        </p:nvSpPr>
        <p:spPr>
          <a:xfrm>
            <a:off x="2053590" y="1772305"/>
            <a:ext cx="5574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Top 10 des jeux vidéo les plus vendus au monde (1980-2016)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19C8A88A-C34E-0B25-2D74-88B10E8BAE48}"/>
              </a:ext>
            </a:extLst>
          </p:cNvPr>
          <p:cNvSpPr/>
          <p:nvPr/>
        </p:nvSpPr>
        <p:spPr>
          <a:xfrm>
            <a:off x="1470660" y="763278"/>
            <a:ext cx="6202680" cy="728418"/>
          </a:xfrm>
          <a:prstGeom prst="rect">
            <a:avLst/>
          </a:prstGeom>
          <a:solidFill>
            <a:srgbClr val="2D1561"/>
          </a:solidFill>
          <a:ln w="19050">
            <a:solidFill>
              <a:srgbClr val="00CFCF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+mn-lt"/>
              </a:rPr>
              <a:t>2) Analyse du fichier : Ventes de jeux vidéo 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+mn-lt"/>
              </a:rPr>
              <a:t>entre : 1980–2016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+mn-lt"/>
              </a:rPr>
              <a:t> 16 545 jeux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ED03791C-C4CF-5662-F1B7-5D9DCA2B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>
            <a:extLst>
              <a:ext uri="{FF2B5EF4-FFF2-40B4-BE49-F238E27FC236}">
                <a16:creationId xmlns:a16="http://schemas.microsoft.com/office/drawing/2014/main" id="{F740E8EF-AE90-4CE5-FD0D-2AC47B4AE273}"/>
              </a:ext>
            </a:extLst>
          </p:cNvPr>
          <p:cNvSpPr/>
          <p:nvPr/>
        </p:nvSpPr>
        <p:spPr>
          <a:xfrm>
            <a:off x="7213248" y="420592"/>
            <a:ext cx="1930752" cy="2215928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 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b="1" dirty="0">
                <a:solidFill>
                  <a:schemeClr val="bg1"/>
                </a:solidFill>
              </a:rPr>
              <a:t>- </a:t>
            </a:r>
            <a:r>
              <a:rPr lang="fr-FR" dirty="0">
                <a:solidFill>
                  <a:schemeClr val="bg1"/>
                </a:solidFill>
              </a:rPr>
              <a:t>Nombre total de jeux vendus:</a:t>
            </a:r>
          </a:p>
          <a:p>
            <a:r>
              <a:rPr lang="fr-FR" dirty="0">
                <a:solidFill>
                  <a:schemeClr val="bg1"/>
                </a:solidFill>
              </a:rPr>
              <a:t>Année 1980 → 11 M</a:t>
            </a:r>
          </a:p>
          <a:p>
            <a:r>
              <a:rPr lang="fr-FR" dirty="0">
                <a:solidFill>
                  <a:schemeClr val="bg1"/>
                </a:solidFill>
              </a:rPr>
              <a:t>Année 2008 → 680 M 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44EEDEC-1C48-F15C-47B9-12EB662313F1}"/>
              </a:ext>
            </a:extLst>
          </p:cNvPr>
          <p:cNvSpPr/>
          <p:nvPr/>
        </p:nvSpPr>
        <p:spPr>
          <a:xfrm>
            <a:off x="7213248" y="2708868"/>
            <a:ext cx="1930752" cy="2407321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 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</a:p>
          <a:p>
            <a:r>
              <a:rPr lang="fr-FR" dirty="0">
                <a:solidFill>
                  <a:schemeClr val="bg1"/>
                </a:solidFill>
              </a:rPr>
              <a:t>42,2% → </a:t>
            </a:r>
            <a:r>
              <a:rPr lang="fr-FR" sz="1200" dirty="0">
                <a:solidFill>
                  <a:schemeClr val="bg1"/>
                </a:solidFill>
              </a:rPr>
              <a:t>NA (North America) 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27,5%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200" dirty="0">
                <a:solidFill>
                  <a:schemeClr val="bg1"/>
                </a:solidFill>
              </a:rPr>
              <a:t>→ EU (Europe) </a:t>
            </a:r>
          </a:p>
          <a:p>
            <a:endParaRPr lang="fr-FR" sz="1200" dirty="0">
              <a:solidFill>
                <a:schemeClr val="bg1"/>
              </a:solidFill>
            </a:endParaRPr>
          </a:p>
          <a:p>
            <a:r>
              <a:rPr lang="fr-FR" sz="1200" dirty="0">
                <a:solidFill>
                  <a:schemeClr val="bg1"/>
                </a:solidFill>
              </a:rPr>
              <a:t>14,3% →JP (Japon)</a:t>
            </a:r>
          </a:p>
          <a:p>
            <a:endParaRPr lang="fr-FR" sz="1200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9% → Other  (reste du monde)</a:t>
            </a:r>
          </a:p>
        </p:txBody>
      </p:sp>
      <p:sp>
        <p:nvSpPr>
          <p:cNvPr id="6" name="Google Shape;2326;p10">
            <a:extLst>
              <a:ext uri="{FF2B5EF4-FFF2-40B4-BE49-F238E27FC236}">
                <a16:creationId xmlns:a16="http://schemas.microsoft.com/office/drawing/2014/main" id="{CB017FCD-DC42-6837-1173-B4C6CDF37182}"/>
              </a:ext>
            </a:extLst>
          </p:cNvPr>
          <p:cNvSpPr txBox="1">
            <a:spLocks/>
          </p:cNvSpPr>
          <p:nvPr/>
        </p:nvSpPr>
        <p:spPr>
          <a:xfrm>
            <a:off x="1463041" y="-87338"/>
            <a:ext cx="70025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fr-FR" sz="2800" dirty="0"/>
              <a:t>Analyse des tendances du marché</a:t>
            </a:r>
            <a:endParaRPr lang="fr-FR" sz="2800" b="1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40C10E1-7E41-0E79-0A67-C60C214C7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592"/>
            <a:ext cx="7155180" cy="221592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0FDBC5D-06E2-1F90-D97C-40788D5FA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08869"/>
            <a:ext cx="7155180" cy="24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39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834AF169-B21C-B01B-688B-6FCD1CA8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>
            <a:extLst>
              <a:ext uri="{FF2B5EF4-FFF2-40B4-BE49-F238E27FC236}">
                <a16:creationId xmlns:a16="http://schemas.microsoft.com/office/drawing/2014/main" id="{4386E960-711E-5887-FBF9-77C42C18A10B}"/>
              </a:ext>
            </a:extLst>
          </p:cNvPr>
          <p:cNvSpPr/>
          <p:nvPr/>
        </p:nvSpPr>
        <p:spPr>
          <a:xfrm>
            <a:off x="7213248" y="2890788"/>
            <a:ext cx="1930752" cy="2223505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endParaRPr lang="fr-FR" dirty="0"/>
          </a:p>
          <a:p>
            <a:r>
              <a:rPr lang="fr-FR" dirty="0">
                <a:solidFill>
                  <a:schemeClr val="bg1"/>
                </a:solidFill>
              </a:rPr>
              <a:t>-  Plateformes dominantes:  PlayStation 2 </a:t>
            </a:r>
          </a:p>
          <a:p>
            <a:r>
              <a:rPr lang="fr-FR" dirty="0">
                <a:solidFill>
                  <a:schemeClr val="bg1"/>
                </a:solidFill>
              </a:rPr>
              <a:t>Xbox 360 </a:t>
            </a:r>
          </a:p>
          <a:p>
            <a:r>
              <a:rPr lang="fr-FR" dirty="0">
                <a:solidFill>
                  <a:schemeClr val="bg1"/>
                </a:solidFill>
              </a:rPr>
              <a:t>PlayStation 3</a:t>
            </a:r>
          </a:p>
          <a:p>
            <a:r>
              <a:rPr lang="fr-FR" dirty="0">
                <a:solidFill>
                  <a:schemeClr val="bg1"/>
                </a:solidFill>
              </a:rPr>
              <a:t>Wii (Nintendo)</a:t>
            </a:r>
          </a:p>
          <a:p>
            <a:pPr algn="ctr"/>
            <a:endParaRPr lang="fr-FR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algn="ctr"/>
            <a:endParaRPr lang="fr-FR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4C8C69C-88CD-50AB-7DDA-95F732746B10}"/>
              </a:ext>
            </a:extLst>
          </p:cNvPr>
          <p:cNvSpPr/>
          <p:nvPr/>
        </p:nvSpPr>
        <p:spPr>
          <a:xfrm>
            <a:off x="7213248" y="619005"/>
            <a:ext cx="1930752" cy="2185267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 latinLnBrk="1"/>
            <a:r>
              <a:rPr lang="en-US" dirty="0"/>
              <a:t> 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 </a:t>
            </a:r>
          </a:p>
          <a:p>
            <a:pPr algn="ctr" latinLnBrk="1"/>
            <a:endParaRPr lang="fr-FR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fr-FR" dirty="0">
                <a:solidFill>
                  <a:schemeClr val="bg1"/>
                </a:solidFill>
              </a:rPr>
              <a:t>Genres dominants:</a:t>
            </a:r>
            <a:endParaRPr lang="en-US" dirty="0">
              <a:solidFill>
                <a:schemeClr val="bg1"/>
              </a:solidFill>
            </a:endParaRP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Action     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Sports          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Shooter         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Role-Playing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C3672B3-1E1B-32A7-2D0E-D9EBF0CD1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0695"/>
            <a:ext cx="7078980" cy="222350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6324E77-ADA3-988A-6492-03B634EF3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9995"/>
            <a:ext cx="7078980" cy="2223505"/>
          </a:xfrm>
          <a:prstGeom prst="rect">
            <a:avLst/>
          </a:prstGeom>
        </p:spPr>
      </p:pic>
      <p:sp>
        <p:nvSpPr>
          <p:cNvPr id="17" name="Google Shape;2326;p10">
            <a:extLst>
              <a:ext uri="{FF2B5EF4-FFF2-40B4-BE49-F238E27FC236}">
                <a16:creationId xmlns:a16="http://schemas.microsoft.com/office/drawing/2014/main" id="{88FDD73B-1B56-8025-A31F-2BF68768B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6380" y="-6941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1923856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1D601306-D366-CC8B-5B4E-50B6F7AB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5">
            <a:extLst>
              <a:ext uri="{FF2B5EF4-FFF2-40B4-BE49-F238E27FC236}">
                <a16:creationId xmlns:a16="http://schemas.microsoft.com/office/drawing/2014/main" id="{E4BEA659-B98A-85E4-DBE8-1EA0D48163AB}"/>
              </a:ext>
            </a:extLst>
          </p:cNvPr>
          <p:cNvSpPr/>
          <p:nvPr/>
        </p:nvSpPr>
        <p:spPr>
          <a:xfrm>
            <a:off x="1234440" y="755994"/>
            <a:ext cx="6202680" cy="572700"/>
          </a:xfrm>
          <a:prstGeom prst="rect">
            <a:avLst/>
          </a:prstGeom>
          <a:solidFill>
            <a:srgbClr val="2D1561"/>
          </a:solidFill>
          <a:ln w="19050">
            <a:solidFill>
              <a:srgbClr val="00CFCF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3) Analyse du fichier : </a:t>
            </a:r>
            <a:r>
              <a:rPr lang="fr-FR" b="1" dirty="0">
                <a:solidFill>
                  <a:schemeClr val="bg1"/>
                </a:solidFill>
              </a:rPr>
              <a:t>Ventes de Consoles</a:t>
            </a:r>
          </a:p>
          <a:p>
            <a:r>
              <a:rPr lang="fr-FR" dirty="0">
                <a:solidFill>
                  <a:schemeClr val="bg1"/>
                </a:solidFill>
              </a:rPr>
              <a:t>                                       Entre 1977 à 2020.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B75AD97-A7FC-0459-06A4-357E668E2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" y="1516380"/>
            <a:ext cx="7132320" cy="3528060"/>
          </a:xfrm>
          <a:prstGeom prst="rect">
            <a:avLst/>
          </a:prstGeom>
        </p:spPr>
      </p:pic>
      <p:sp>
        <p:nvSpPr>
          <p:cNvPr id="12" name="Shape 6">
            <a:extLst>
              <a:ext uri="{FF2B5EF4-FFF2-40B4-BE49-F238E27FC236}">
                <a16:creationId xmlns:a16="http://schemas.microsoft.com/office/drawing/2014/main" id="{9AA08F46-E2E8-119A-E8B3-BD0C1B7E80D7}"/>
              </a:ext>
            </a:extLst>
          </p:cNvPr>
          <p:cNvSpPr/>
          <p:nvPr/>
        </p:nvSpPr>
        <p:spPr>
          <a:xfrm>
            <a:off x="7299960" y="1874245"/>
            <a:ext cx="1844040" cy="2956560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- Total des consoles: 20 consoles 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+Les consoles dominantes :</a:t>
            </a:r>
          </a:p>
          <a:p>
            <a:r>
              <a:rPr lang="fr-FR" dirty="0">
                <a:solidFill>
                  <a:schemeClr val="bg1"/>
                </a:solidFill>
              </a:rPr>
              <a:t>PlayStation </a:t>
            </a:r>
          </a:p>
          <a:p>
            <a:r>
              <a:rPr lang="fr-FR" dirty="0">
                <a:solidFill>
                  <a:schemeClr val="bg1"/>
                </a:solidFill>
              </a:rPr>
              <a:t>Nintendo</a:t>
            </a:r>
          </a:p>
          <a:p>
            <a:r>
              <a:rPr lang="fr-FR" dirty="0">
                <a:solidFill>
                  <a:schemeClr val="bg1"/>
                </a:solidFill>
              </a:rPr>
              <a:t>la Switch</a:t>
            </a:r>
          </a:p>
          <a:p>
            <a:r>
              <a:rPr lang="fr-FR" dirty="0">
                <a:solidFill>
                  <a:schemeClr val="bg1"/>
                </a:solidFill>
              </a:rPr>
              <a:t>Xbox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5" name="Google Shape;2326;p10">
            <a:extLst>
              <a:ext uri="{FF2B5EF4-FFF2-40B4-BE49-F238E27FC236}">
                <a16:creationId xmlns:a16="http://schemas.microsoft.com/office/drawing/2014/main" id="{E3CF4961-288B-F191-4F09-197921DD1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9240" y="-8563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>
                <a:solidFill>
                  <a:schemeClr val="bg1"/>
                </a:solidFill>
              </a:rPr>
              <a:t>Analyse</a:t>
            </a:r>
            <a:r>
              <a:rPr lang="fr-FR" sz="2800" dirty="0"/>
              <a:t> des tendances du marché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161181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EBB260C4-E360-0533-86AB-D93BBEC1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">
            <a:extLst>
              <a:ext uri="{FF2B5EF4-FFF2-40B4-BE49-F238E27FC236}">
                <a16:creationId xmlns:a16="http://schemas.microsoft.com/office/drawing/2014/main" id="{1681E4FD-9146-924A-8E8F-1B8FF3E53EB5}"/>
              </a:ext>
            </a:extLst>
          </p:cNvPr>
          <p:cNvSpPr/>
          <p:nvPr/>
        </p:nvSpPr>
        <p:spPr>
          <a:xfrm>
            <a:off x="7342788" y="1229172"/>
            <a:ext cx="1763112" cy="3431916"/>
          </a:xfrm>
          <a:prstGeom prst="rect">
            <a:avLst/>
          </a:prstGeom>
          <a:solidFill>
            <a:srgbClr val="2D1561"/>
          </a:solidFill>
          <a:ln w="12700">
            <a:solidFill>
              <a:srgbClr val="7B4FFF"/>
            </a:solidFill>
            <a:prstDash val="solid"/>
          </a:ln>
        </p:spPr>
        <p:txBody>
          <a:bodyPr/>
          <a:lstStyle/>
          <a:p>
            <a:pPr algn="ctr"/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Mots‑clés</a:t>
            </a:r>
          </a:p>
          <a:p>
            <a:endParaRPr lang="fr-FR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fr-FR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- </a:t>
            </a:r>
            <a:r>
              <a:rPr lang="fr-FR" b="1" dirty="0">
                <a:solidFill>
                  <a:schemeClr val="bg1"/>
                </a:solidFill>
              </a:rPr>
              <a:t>Classement des constructeurs par ventes totales:</a:t>
            </a:r>
          </a:p>
          <a:p>
            <a:endParaRPr lang="fr-FR" sz="800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Nintendo → 795 M</a:t>
            </a:r>
          </a:p>
          <a:p>
            <a:pPr latinLnBrk="1"/>
            <a:endParaRPr lang="fr-FR" sz="800" dirty="0">
              <a:solidFill>
                <a:schemeClr val="bg1"/>
              </a:solidFill>
            </a:endParaRP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Sony       →  590 M</a:t>
            </a:r>
          </a:p>
          <a:p>
            <a:pPr latinLnBrk="1"/>
            <a:endParaRPr lang="fr-FR" sz="800" dirty="0">
              <a:solidFill>
                <a:schemeClr val="bg1"/>
              </a:solidFill>
            </a:endParaRP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Microsoft → 166 M</a:t>
            </a:r>
          </a:p>
          <a:p>
            <a:pPr latinLnBrk="1"/>
            <a:endParaRPr lang="fr-FR" sz="800" dirty="0">
              <a:solidFill>
                <a:schemeClr val="bg1"/>
              </a:solidFill>
            </a:endParaRP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Sega       →  31 M</a:t>
            </a:r>
          </a:p>
          <a:p>
            <a:pPr latinLnBrk="1"/>
            <a:endParaRPr lang="fr-FR" sz="800" dirty="0">
              <a:solidFill>
                <a:schemeClr val="bg1"/>
              </a:solidFill>
            </a:endParaRPr>
          </a:p>
          <a:p>
            <a:pPr latinLnBrk="1"/>
            <a:r>
              <a:rPr lang="fr-FR" dirty="0">
                <a:solidFill>
                  <a:schemeClr val="bg1"/>
                </a:solidFill>
              </a:rPr>
              <a:t>Atari        →   30 M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Google Shape;2326;p10">
            <a:extLst>
              <a:ext uri="{FF2B5EF4-FFF2-40B4-BE49-F238E27FC236}">
                <a16:creationId xmlns:a16="http://schemas.microsoft.com/office/drawing/2014/main" id="{EF029B9D-6652-ED2E-FB9A-4BB821458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3980" y="-47538"/>
            <a:ext cx="62636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Analyse des tendances du marché</a:t>
            </a:r>
            <a:endParaRPr sz="28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28AC161-A4FA-265E-8E2F-08BB1C647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883920"/>
            <a:ext cx="7193280" cy="412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0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9F82-C7FE-5EB4-5457-031A4A2F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582C9B6-F4AC-C72B-361B-C4CC21183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40" y="716550"/>
            <a:ext cx="4328159" cy="3566070"/>
          </a:xfrm>
          <a:prstGeom prst="rect">
            <a:avLst/>
          </a:prstGeom>
        </p:spPr>
      </p:pic>
      <p:sp>
        <p:nvSpPr>
          <p:cNvPr id="3" name="Google Shape;2326;p10">
            <a:extLst>
              <a:ext uri="{FF2B5EF4-FFF2-40B4-BE49-F238E27FC236}">
                <a16:creationId xmlns:a16="http://schemas.microsoft.com/office/drawing/2014/main" id="{DDC21F18-0D13-660B-D268-B0DA74DBC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9185" y="25021"/>
            <a:ext cx="4117855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sz="2800" b="1" dirty="0"/>
              <a:t>Tendances actuelles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1B5E3946-D7CC-62A8-FEF6-73045A514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550"/>
            <a:ext cx="4754880" cy="3566070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E9CA33F9-1FEF-FA4E-FDA8-735DA6276B0C}"/>
              </a:ext>
            </a:extLst>
          </p:cNvPr>
          <p:cNvSpPr txBox="1"/>
          <p:nvPr/>
        </p:nvSpPr>
        <p:spPr>
          <a:xfrm>
            <a:off x="358141" y="654320"/>
            <a:ext cx="3482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Nombre de joueurs par région 2025</a:t>
            </a:r>
            <a:endParaRPr lang="fr-FR" dirty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A41592F6-1BE4-15BE-1934-91B7A893627B}"/>
              </a:ext>
            </a:extLst>
          </p:cNvPr>
          <p:cNvSpPr txBox="1"/>
          <p:nvPr/>
        </p:nvSpPr>
        <p:spPr>
          <a:xfrm>
            <a:off x="5113021" y="652356"/>
            <a:ext cx="4443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Nombre d’utilisateurs par plateforme</a:t>
            </a:r>
            <a:r>
              <a:rPr lang="fr-FR" dirty="0"/>
              <a:t> </a:t>
            </a:r>
            <a:r>
              <a:rPr lang="fr-FR" b="1" dirty="0"/>
              <a:t>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4357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87CE-39B3-2BEA-EA52-F2464244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73EC3A73-46C9-0E50-9943-2601CD245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2699"/>
            <a:ext cx="8176260" cy="2232027"/>
          </a:xfrm>
          <a:prstGeom prst="rect">
            <a:avLst/>
          </a:prstGeom>
        </p:spPr>
      </p:pic>
      <p:sp>
        <p:nvSpPr>
          <p:cNvPr id="13" name="Google Shape;2326;p10">
            <a:extLst>
              <a:ext uri="{FF2B5EF4-FFF2-40B4-BE49-F238E27FC236}">
                <a16:creationId xmlns:a16="http://schemas.microsoft.com/office/drawing/2014/main" id="{708CD8AB-91D8-E1B8-7473-40C494481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3295" y="-87198"/>
            <a:ext cx="4384555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sz="2800" b="1" dirty="0"/>
              <a:t>Tendances actuelles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10B3DBB-BC21-2316-6C52-AACE0F7B0800}"/>
              </a:ext>
            </a:extLst>
          </p:cNvPr>
          <p:cNvSpPr txBox="1"/>
          <p:nvPr/>
        </p:nvSpPr>
        <p:spPr>
          <a:xfrm>
            <a:off x="2793295" y="592249"/>
            <a:ext cx="4270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Genres de jeux préférés dans le monde en 2025 (%)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D2C10A5-9B7B-FC30-5D00-51CFB8224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61" y="2891923"/>
            <a:ext cx="8176260" cy="2232028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FA811573-E594-29F1-88E3-43138040D214}"/>
              </a:ext>
            </a:extLst>
          </p:cNvPr>
          <p:cNvSpPr txBox="1"/>
          <p:nvPr/>
        </p:nvSpPr>
        <p:spPr>
          <a:xfrm>
            <a:off x="2783393" y="2911472"/>
            <a:ext cx="35772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Répartition des joueurs par âge en 2025 (%)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03BC3D5-1580-5502-62A6-728FEB85D334}"/>
              </a:ext>
            </a:extLst>
          </p:cNvPr>
          <p:cNvSpPr txBox="1"/>
          <p:nvPr/>
        </p:nvSpPr>
        <p:spPr>
          <a:xfrm>
            <a:off x="4535991" y="3209476"/>
            <a:ext cx="4495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/>
              <a:t>26 %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6255A2A-07E4-536D-C7B7-9C84BB7974B3}"/>
              </a:ext>
            </a:extLst>
          </p:cNvPr>
          <p:cNvSpPr txBox="1"/>
          <p:nvPr/>
        </p:nvSpPr>
        <p:spPr>
          <a:xfrm>
            <a:off x="6046470" y="3252418"/>
            <a:ext cx="4495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/>
              <a:t>25 %</a:t>
            </a:r>
            <a:endParaRPr lang="fr-FR" sz="800" b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8998058-76B5-D5F3-DA9C-DBEBE7A524DD}"/>
              </a:ext>
            </a:extLst>
          </p:cNvPr>
          <p:cNvSpPr txBox="1"/>
          <p:nvPr/>
        </p:nvSpPr>
        <p:spPr>
          <a:xfrm>
            <a:off x="7511990" y="2979874"/>
            <a:ext cx="4495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/>
              <a:t> 30 %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CD4A2FC-D425-9826-2E88-3A1DE4AB1425}"/>
              </a:ext>
            </a:extLst>
          </p:cNvPr>
          <p:cNvSpPr txBox="1"/>
          <p:nvPr/>
        </p:nvSpPr>
        <p:spPr>
          <a:xfrm>
            <a:off x="2960828" y="3664743"/>
            <a:ext cx="4495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/>
              <a:t>18%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BFAB865-2DD0-C547-BF4A-F1862A085346}"/>
              </a:ext>
            </a:extLst>
          </p:cNvPr>
          <p:cNvSpPr txBox="1"/>
          <p:nvPr/>
        </p:nvSpPr>
        <p:spPr>
          <a:xfrm>
            <a:off x="1428261" y="3482834"/>
            <a:ext cx="4495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/>
              <a:t>  21%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A60B6DA-AF60-CF04-EC54-77B6BABD7172}"/>
              </a:ext>
            </a:extLst>
          </p:cNvPr>
          <p:cNvSpPr txBox="1"/>
          <p:nvPr/>
        </p:nvSpPr>
        <p:spPr>
          <a:xfrm>
            <a:off x="4545330" y="3467862"/>
            <a:ext cx="338554" cy="1376697"/>
          </a:xfrm>
          <a:prstGeom prst="rect">
            <a:avLst/>
          </a:prstGeom>
          <a:noFill/>
        </p:spPr>
        <p:txBody>
          <a:bodyPr vert="vert" wrap="square">
            <a:spAutoFit/>
          </a:bodyPr>
          <a:lstStyle/>
          <a:p>
            <a:r>
              <a:rPr lang="fr-FR" sz="10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Action-aventure, RPG</a:t>
            </a:r>
            <a:endParaRPr lang="fr-FR" sz="10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BE4D009-F062-0CB7-9326-5C0CC5011905}"/>
              </a:ext>
            </a:extLst>
          </p:cNvPr>
          <p:cNvSpPr txBox="1"/>
          <p:nvPr/>
        </p:nvSpPr>
        <p:spPr>
          <a:xfrm rot="10800000" flipV="1">
            <a:off x="3029021" y="3880187"/>
            <a:ext cx="323165" cy="1073375"/>
          </a:xfrm>
          <a:prstGeom prst="rect">
            <a:avLst/>
          </a:prstGeom>
          <a:noFill/>
        </p:spPr>
        <p:txBody>
          <a:bodyPr vert="vert" wrap="square">
            <a:spAutoFit/>
          </a:bodyPr>
          <a:lstStyle/>
          <a:p>
            <a:r>
              <a:rPr lang="fr-FR" sz="9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Jeux de tir, MOBA</a:t>
            </a:r>
            <a:endParaRPr lang="fr-FR" sz="9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9969F0B-85C7-0A48-91E1-DC247731F41E}"/>
              </a:ext>
            </a:extLst>
          </p:cNvPr>
          <p:cNvSpPr txBox="1"/>
          <p:nvPr/>
        </p:nvSpPr>
        <p:spPr>
          <a:xfrm rot="5400000">
            <a:off x="6885396" y="3982717"/>
            <a:ext cx="17773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Puzzle, Casino, Occasionnel</a:t>
            </a:r>
            <a:endParaRPr lang="fr-FR" sz="9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7C6479B-B2D9-F61E-9F1D-B6AC9CCB02F5}"/>
              </a:ext>
            </a:extLst>
          </p:cNvPr>
          <p:cNvSpPr txBox="1"/>
          <p:nvPr/>
        </p:nvSpPr>
        <p:spPr>
          <a:xfrm rot="5400000">
            <a:off x="5643656" y="4135472"/>
            <a:ext cx="11876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Stratégie, Sports</a:t>
            </a:r>
            <a:endParaRPr lang="fr-FR" sz="100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382DDB6-4801-36D4-34B9-3E87BB6C06A9}"/>
              </a:ext>
            </a:extLst>
          </p:cNvPr>
          <p:cNvSpPr txBox="1"/>
          <p:nvPr/>
        </p:nvSpPr>
        <p:spPr>
          <a:xfrm rot="5400000">
            <a:off x="1001855" y="4200510"/>
            <a:ext cx="13177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Bataille royale, bac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279783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1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/>
              <a:t>Les futures tendances et perspectives</a:t>
            </a:r>
            <a:endParaRPr dirty="0"/>
          </a:p>
        </p:txBody>
      </p:sp>
      <p:sp>
        <p:nvSpPr>
          <p:cNvPr id="2333" name="Google Shape;2333;p11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04</a:t>
            </a:r>
            <a:endParaRPr sz="10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7">
          <a:extLst>
            <a:ext uri="{FF2B5EF4-FFF2-40B4-BE49-F238E27FC236}">
              <a16:creationId xmlns:a16="http://schemas.microsoft.com/office/drawing/2014/main" id="{32431A97-0F74-3015-D657-A3E13BC8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2">
            <a:extLst>
              <a:ext uri="{FF2B5EF4-FFF2-40B4-BE49-F238E27FC236}">
                <a16:creationId xmlns:a16="http://schemas.microsoft.com/office/drawing/2014/main" id="{8F2D25C2-2840-ED98-6638-E184A63F9C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550" y="-16164"/>
            <a:ext cx="63962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3600" dirty="0"/>
              <a:t>Les futures tendances</a:t>
            </a:r>
            <a:endParaRPr b="1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C2F64BD2-D003-2C56-5173-0D450389B91D}"/>
              </a:ext>
            </a:extLst>
          </p:cNvPr>
          <p:cNvSpPr/>
          <p:nvPr/>
        </p:nvSpPr>
        <p:spPr>
          <a:xfrm>
            <a:off x="118110" y="733280"/>
            <a:ext cx="8774430" cy="1423180"/>
          </a:xfrm>
          <a:prstGeom prst="rect">
            <a:avLst/>
          </a:prstGeom>
          <a:solidFill>
            <a:srgbClr val="2D1561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pPr>
              <a:spcAft>
                <a:spcPts val="300"/>
              </a:spcAft>
            </a:pPr>
            <a:r>
              <a:rPr lang="fr-FR" b="1" dirty="0">
                <a:solidFill>
                  <a:schemeClr val="bg1"/>
                </a:solidFill>
                <a:latin typeface="+mn-lt"/>
              </a:rPr>
              <a:t>Plateformes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  <a:latin typeface="+mn-lt"/>
              </a:rPr>
              <a:t>PS6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  <a:latin typeface="+mn-lt"/>
              </a:rPr>
              <a:t>Xbox : Project Helix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VR/AR: Meta Quest 4</a:t>
            </a: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PC gaming </a:t>
            </a: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Cloud gaming </a:t>
            </a:r>
          </a:p>
          <a:p>
            <a:pPr>
              <a:buClr>
                <a:schemeClr val="bg1"/>
              </a:buClr>
              <a:buSzPct val="90000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endParaRPr lang="fr-FR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" name="Image 13" descr="Best AR/VR Headsets for Engineers in 2022">
            <a:extLst>
              <a:ext uri="{FF2B5EF4-FFF2-40B4-BE49-F238E27FC236}">
                <a16:creationId xmlns:a16="http://schemas.microsoft.com/office/drawing/2014/main" id="{DC1B5BD9-D433-E60A-4C6C-6D55E78DA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214482" y="790789"/>
            <a:ext cx="1389309" cy="121744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319EB4E-78D7-E0EC-9B42-60DAABF08E59}"/>
              </a:ext>
            </a:extLst>
          </p:cNvPr>
          <p:cNvSpPr txBox="1"/>
          <p:nvPr/>
        </p:nvSpPr>
        <p:spPr>
          <a:xfrm>
            <a:off x="3156134" y="1742598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VR</a:t>
            </a:r>
          </a:p>
        </p:txBody>
      </p:sp>
      <p:pic>
        <p:nvPicPr>
          <p:cNvPr id="16" name="Image 15" descr="Magnus, here's what the next Xbox console could look like – Archyde">
            <a:extLst>
              <a:ext uri="{FF2B5EF4-FFF2-40B4-BE49-F238E27FC236}">
                <a16:creationId xmlns:a16="http://schemas.microsoft.com/office/drawing/2014/main" id="{EA26CC82-9AB1-6147-7A63-8ABC44A4E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871" y="790789"/>
            <a:ext cx="1438588" cy="121744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DF10BB5F-44B4-5759-D853-AA0A562CCA65}"/>
              </a:ext>
            </a:extLst>
          </p:cNvPr>
          <p:cNvSpPr txBox="1"/>
          <p:nvPr/>
        </p:nvSpPr>
        <p:spPr>
          <a:xfrm>
            <a:off x="5293215" y="1742599"/>
            <a:ext cx="742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Xbox</a:t>
            </a:r>
          </a:p>
        </p:txBody>
      </p:sp>
      <p:pic>
        <p:nvPicPr>
          <p:cNvPr id="18" name="Image 17" descr="Pack PS5 Digitale (sans lecteur CD) : Console PlayStation 5 (Modèle Slim) + Socle Vertical + Station de charge pour DualSense - Cdiscount Jeux vidéo">
            <a:extLst>
              <a:ext uri="{FF2B5EF4-FFF2-40B4-BE49-F238E27FC236}">
                <a16:creationId xmlns:a16="http://schemas.microsoft.com/office/drawing/2014/main" id="{847000B0-DF50-B1AE-D4F8-E8B5711CE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540" y="733280"/>
            <a:ext cx="1438588" cy="121744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9EDD968-81BD-26EB-713C-F662AA5FC6F2}"/>
              </a:ext>
            </a:extLst>
          </p:cNvPr>
          <p:cNvSpPr txBox="1"/>
          <p:nvPr/>
        </p:nvSpPr>
        <p:spPr>
          <a:xfrm>
            <a:off x="7422819" y="1659469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PS</a:t>
            </a:r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D2014CB6-3A84-B9BF-C6C2-13602889442C}"/>
              </a:ext>
            </a:extLst>
          </p:cNvPr>
          <p:cNvSpPr/>
          <p:nvPr/>
        </p:nvSpPr>
        <p:spPr>
          <a:xfrm>
            <a:off x="118110" y="2373931"/>
            <a:ext cx="8774430" cy="1287232"/>
          </a:xfrm>
          <a:prstGeom prst="rect">
            <a:avLst/>
          </a:prstGeom>
          <a:solidFill>
            <a:srgbClr val="2D1561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pPr>
              <a:spcAft>
                <a:spcPts val="300"/>
              </a:spcAft>
            </a:pPr>
            <a:r>
              <a:rPr lang="fr-FR" b="1" dirty="0">
                <a:solidFill>
                  <a:schemeClr val="bg1"/>
                </a:solidFill>
                <a:latin typeface="+mn-lt"/>
              </a:rPr>
              <a:t>Technologies Clés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b="1" dirty="0" err="1">
                <a:solidFill>
                  <a:schemeClr val="bg1"/>
                </a:solidFill>
                <a:latin typeface="+mn-lt"/>
              </a:rPr>
              <a:t>Unreal</a:t>
            </a:r>
            <a:r>
              <a:rPr lang="fr-FR" sz="1200" b="1" dirty="0">
                <a:solidFill>
                  <a:schemeClr val="bg1"/>
                </a:solidFill>
                <a:latin typeface="+mn-lt"/>
              </a:rPr>
              <a:t> Engine 5.4 (Nanite et Lumen) 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nouveaux outils de création de jeux 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.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chemeClr val="bg1"/>
                </a:solidFill>
                <a:latin typeface="+mn-lt"/>
              </a:rPr>
              <a:t>IA générative 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création automatique de contenu pour les jeux vidéo.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chemeClr val="bg1"/>
                </a:solidFill>
                <a:latin typeface="+mn-lt"/>
              </a:rPr>
              <a:t>Cross-platform 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disponibilité sur plusieurs plateformes.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chemeClr val="bg1"/>
                </a:solidFill>
                <a:latin typeface="+mn-lt"/>
              </a:rPr>
              <a:t>Narration cinématographique 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jeux vidéo ressemblant à des films interactifs.</a:t>
            </a: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b="1" dirty="0">
              <a:solidFill>
                <a:schemeClr val="bg1"/>
              </a:solidFill>
              <a:latin typeface="+mn-lt"/>
            </a:endParaRPr>
          </a:p>
          <a:p>
            <a:endParaRPr lang="fr-FR" sz="1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9FC201C4-5C6B-45BF-3BE5-93995B60CA24}"/>
              </a:ext>
            </a:extLst>
          </p:cNvPr>
          <p:cNvSpPr/>
          <p:nvPr/>
        </p:nvSpPr>
        <p:spPr>
          <a:xfrm>
            <a:off x="132698" y="3878634"/>
            <a:ext cx="8774430" cy="1011136"/>
          </a:xfrm>
          <a:prstGeom prst="rect">
            <a:avLst/>
          </a:prstGeom>
          <a:solidFill>
            <a:srgbClr val="2D1561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pPr>
              <a:buClr>
                <a:schemeClr val="bg1"/>
              </a:buClr>
              <a:buSzPct val="90000"/>
            </a:pPr>
            <a:r>
              <a:rPr lang="fr-FR" sz="1200" dirty="0">
                <a:solidFill>
                  <a:schemeClr val="bg1"/>
                </a:solidFill>
                <a:latin typeface="+mn-lt"/>
              </a:rPr>
              <a:t>Autre :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chemeClr val="bg1"/>
                </a:solidFill>
                <a:latin typeface="+mn-lt"/>
              </a:rPr>
              <a:t>Live-service 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jeu mis à jour régulièrement après sa sortie.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chemeClr val="bg1"/>
                </a:solidFill>
                <a:latin typeface="+mn-lt"/>
              </a:rPr>
              <a:t>Hybridation des genres 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mélange de plusieurs types de jeux dans un même jeu.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  <a:latin typeface="+mn-lt"/>
              </a:rPr>
              <a:t>Modes de jeu variés</a:t>
            </a:r>
            <a:r>
              <a:rPr lang="fr-FR" sz="1200" b="1" dirty="0">
                <a:solidFill>
                  <a:schemeClr val="bg1"/>
                </a:solidFill>
                <a:latin typeface="+mn-lt"/>
              </a:rPr>
              <a:t>:</a:t>
            </a:r>
            <a:r>
              <a:rPr lang="fr-FR" sz="1200" dirty="0">
                <a:solidFill>
                  <a:schemeClr val="bg1"/>
                </a:solidFill>
                <a:latin typeface="+mn-lt"/>
              </a:rPr>
              <a:t> solo, multijoueur, coopération ou </a:t>
            </a:r>
            <a:r>
              <a:rPr lang="fr-FR" sz="1200" dirty="0" err="1">
                <a:solidFill>
                  <a:schemeClr val="bg1"/>
                </a:solidFill>
                <a:latin typeface="+mn-lt"/>
              </a:rPr>
              <a:t>PvP</a:t>
            </a: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  <a:latin typeface="+mn-lt"/>
              </a:rPr>
              <a:t>Tendances : RPG narratifs (centré sur l’histoire ), mondes ouverts, semi- ouverts (liberté d’exploration)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  <a:buSzPct val="90000"/>
            </a:pPr>
            <a:endParaRPr lang="fr-FR" sz="1200" dirty="0">
              <a:solidFill>
                <a:schemeClr val="bg1"/>
              </a:solidFill>
              <a:latin typeface="+mn-lt"/>
            </a:endParaRPr>
          </a:p>
          <a:p>
            <a:endParaRPr lang="fr-FR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433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3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/>
              <a:t>Analyses  des segments</a:t>
            </a:r>
            <a:endParaRPr dirty="0"/>
          </a:p>
        </p:txBody>
      </p:sp>
      <p:sp>
        <p:nvSpPr>
          <p:cNvPr id="2345" name="Google Shape;2345;p13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05</a:t>
            </a:r>
            <a:endParaRPr sz="10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41"/>
          <p:cNvSpPr txBox="1"/>
          <p:nvPr/>
        </p:nvSpPr>
        <p:spPr>
          <a:xfrm>
            <a:off x="0" y="1113315"/>
            <a:ext cx="2642153" cy="348652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3300"/>
            </a:pPr>
            <a:endParaRPr lang="en" b="1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>
              <a:buSzPts val="3300"/>
            </a:pPr>
            <a:r>
              <a:rPr lang="en" sz="1200" b="1" i="0" u="none" strike="noStrike" cap="none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Q1 :  </a:t>
            </a:r>
            <a:r>
              <a:rPr lang="fr-FR" sz="1200" b="1" dirty="0">
                <a:solidFill>
                  <a:schemeClr val="accent2"/>
                </a:solidFill>
                <a:latin typeface="+mn-lt"/>
              </a:rPr>
              <a:t>Quel est votre âge ?</a:t>
            </a:r>
            <a:endParaRPr lang="fr-FR" sz="1200" dirty="0">
              <a:solidFill>
                <a:schemeClr val="accent2"/>
              </a:solidFill>
              <a:latin typeface="+mn-lt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b="1" i="0" u="none" strike="noStrike" cap="none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2350;p14">
            <a:extLst>
              <a:ext uri="{FF2B5EF4-FFF2-40B4-BE49-F238E27FC236}">
                <a16:creationId xmlns:a16="http://schemas.microsoft.com/office/drawing/2014/main" id="{354FC3A3-8BF0-2BA9-D00E-E2EFE50AD621}"/>
              </a:ext>
            </a:extLst>
          </p:cNvPr>
          <p:cNvSpPr txBox="1">
            <a:spLocks/>
          </p:cNvSpPr>
          <p:nvPr/>
        </p:nvSpPr>
        <p:spPr>
          <a:xfrm>
            <a:off x="1451455" y="-154512"/>
            <a:ext cx="69915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fr-FR" b="1" dirty="0"/>
              <a:t>Analyses du ou des segments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9103D0C-B785-B63C-6A60-9E5D65845A30}"/>
              </a:ext>
            </a:extLst>
          </p:cNvPr>
          <p:cNvGrpSpPr/>
          <p:nvPr/>
        </p:nvGrpSpPr>
        <p:grpSpPr>
          <a:xfrm>
            <a:off x="-14640" y="1461968"/>
            <a:ext cx="2656793" cy="1298026"/>
            <a:chOff x="1434054" y="1581500"/>
            <a:chExt cx="2394853" cy="1304978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03BA05F5-6FCD-BCF2-FEF7-FD5ABBACE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4054" y="1581500"/>
              <a:ext cx="1224360" cy="1304977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DCC2D92-F3D5-F30E-A2D8-6FDDCCB0D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55325" y="1581500"/>
              <a:ext cx="1173582" cy="1304978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3904674-5BFA-140C-FBE3-08F3B7E89EAE}"/>
              </a:ext>
            </a:extLst>
          </p:cNvPr>
          <p:cNvGrpSpPr/>
          <p:nvPr/>
        </p:nvGrpSpPr>
        <p:grpSpPr>
          <a:xfrm>
            <a:off x="0" y="3800364"/>
            <a:ext cx="2656793" cy="1343135"/>
            <a:chOff x="3477563" y="1607225"/>
            <a:chExt cx="3568601" cy="1298024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30E966B-9864-1D65-3ABF-40B920219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77563" y="1607225"/>
              <a:ext cx="1729744" cy="1298024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10A99721-9F4D-0E57-2E22-E169EA72E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07307" y="1607225"/>
              <a:ext cx="1838857" cy="1298024"/>
            </a:xfrm>
            <a:prstGeom prst="rect">
              <a:avLst/>
            </a:prstGeom>
          </p:spPr>
        </p:pic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B400239F-3A00-69C2-22CD-8F8655C9B969}"/>
              </a:ext>
            </a:extLst>
          </p:cNvPr>
          <p:cNvGrpSpPr/>
          <p:nvPr/>
        </p:nvGrpSpPr>
        <p:grpSpPr>
          <a:xfrm>
            <a:off x="3094920" y="2384695"/>
            <a:ext cx="2656793" cy="1343136"/>
            <a:chOff x="3368045" y="1612972"/>
            <a:chExt cx="2477859" cy="1298025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6F784436-278E-CCF5-9E38-D23C49636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8045" y="1612973"/>
              <a:ext cx="1388105" cy="1298024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66FA050D-1BEE-1215-FC12-3B29E1FA9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6150" y="1612972"/>
              <a:ext cx="1089754" cy="1298023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E6E92C2-417F-19A8-3721-6AF0EA13C523}"/>
              </a:ext>
            </a:extLst>
          </p:cNvPr>
          <p:cNvGrpSpPr/>
          <p:nvPr/>
        </p:nvGrpSpPr>
        <p:grpSpPr>
          <a:xfrm>
            <a:off x="6192583" y="1474972"/>
            <a:ext cx="2942868" cy="1405388"/>
            <a:chOff x="4900664" y="3776906"/>
            <a:chExt cx="3783450" cy="1320487"/>
          </a:xfrm>
        </p:grpSpPr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CFEEFAC2-AB3F-E7BE-ACD2-7031B51B2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00664" y="3778381"/>
              <a:ext cx="1657287" cy="1319012"/>
            </a:xfrm>
            <a:prstGeom prst="rect">
              <a:avLst/>
            </a:prstGeom>
          </p:spPr>
        </p:pic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BE2FAC41-1532-BD58-1066-DCD1D09E3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57950" y="3776906"/>
              <a:ext cx="2126164" cy="1319013"/>
            </a:xfrm>
            <a:prstGeom prst="rect">
              <a:avLst/>
            </a:prstGeom>
          </p:spPr>
        </p:pic>
      </p:grpSp>
      <p:sp>
        <p:nvSpPr>
          <p:cNvPr id="32" name="Google Shape;2942;p41">
            <a:extLst>
              <a:ext uri="{FF2B5EF4-FFF2-40B4-BE49-F238E27FC236}">
                <a16:creationId xmlns:a16="http://schemas.microsoft.com/office/drawing/2014/main" id="{D6220822-4F8B-9858-C75F-22F8B31150B9}"/>
              </a:ext>
            </a:extLst>
          </p:cNvPr>
          <p:cNvSpPr txBox="1"/>
          <p:nvPr/>
        </p:nvSpPr>
        <p:spPr>
          <a:xfrm>
            <a:off x="8549" y="3315564"/>
            <a:ext cx="2656793" cy="484799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3300"/>
            </a:pPr>
            <a:endParaRPr lang="en" b="1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lvl="0" algn="ctr">
              <a:buSzPts val="1400"/>
            </a:pPr>
            <a:r>
              <a:rPr lang="en" sz="1200" b="1" i="0" u="none" strike="noStrike" cap="none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Q</a:t>
            </a:r>
            <a:r>
              <a:rPr lang="en" sz="1200" b="1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2</a:t>
            </a:r>
            <a:r>
              <a:rPr lang="en" sz="1200" b="1" i="0" u="none" strike="noStrike" cap="none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 :  </a:t>
            </a:r>
            <a:r>
              <a:rPr lang="fr-FR" sz="1200" b="1" dirty="0">
                <a:solidFill>
                  <a:schemeClr val="accent2"/>
                </a:solidFill>
                <a:latin typeface="+mn-lt"/>
              </a:rPr>
              <a:t>À quelle fréquence jouez-vous aux jeux vidéo ?</a:t>
            </a:r>
            <a:endParaRPr lang="fr-FR" sz="1200" dirty="0">
              <a:solidFill>
                <a:schemeClr val="accent2"/>
              </a:solidFill>
              <a:latin typeface="+mn-lt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b="1" i="0" u="none" strike="noStrike" cap="none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Google Shape;2942;p41">
            <a:extLst>
              <a:ext uri="{FF2B5EF4-FFF2-40B4-BE49-F238E27FC236}">
                <a16:creationId xmlns:a16="http://schemas.microsoft.com/office/drawing/2014/main" id="{E524304D-25BF-B498-3669-CB15C323B14F}"/>
              </a:ext>
            </a:extLst>
          </p:cNvPr>
          <p:cNvSpPr txBox="1"/>
          <p:nvPr/>
        </p:nvSpPr>
        <p:spPr>
          <a:xfrm>
            <a:off x="3094920" y="1919383"/>
            <a:ext cx="2668084" cy="465312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3300"/>
            </a:pPr>
            <a:endParaRPr lang="en" b="1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lvl="0" algn="ctr">
              <a:buSzPts val="1400"/>
            </a:pPr>
            <a:r>
              <a:rPr lang="en" sz="1200" b="1" i="0" u="none" strike="noStrike" cap="none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Q</a:t>
            </a:r>
            <a:r>
              <a:rPr lang="en" sz="1200" b="1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3</a:t>
            </a:r>
            <a:r>
              <a:rPr lang="en" sz="1200" b="1" i="0" u="none" strike="noStrike" cap="none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: </a:t>
            </a:r>
            <a:r>
              <a:rPr lang="fr-FR" sz="1200" b="1" dirty="0">
                <a:solidFill>
                  <a:schemeClr val="accent2"/>
                </a:solidFill>
                <a:latin typeface="+mn-lt"/>
              </a:rPr>
              <a:t>Sur quelle(s) plateforme(s) jouez-vous principalement ? </a:t>
            </a:r>
            <a:endParaRPr lang="fr-FR" sz="1200" dirty="0">
              <a:solidFill>
                <a:schemeClr val="accent2"/>
              </a:solidFill>
              <a:latin typeface="+mn-lt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b="1" i="0" u="none" strike="noStrike" cap="none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" name="Google Shape;2942;p41">
            <a:extLst>
              <a:ext uri="{FF2B5EF4-FFF2-40B4-BE49-F238E27FC236}">
                <a16:creationId xmlns:a16="http://schemas.microsoft.com/office/drawing/2014/main" id="{03147F7F-B98B-EC12-B1D3-C34A2302E176}"/>
              </a:ext>
            </a:extLst>
          </p:cNvPr>
          <p:cNvSpPr txBox="1"/>
          <p:nvPr/>
        </p:nvSpPr>
        <p:spPr>
          <a:xfrm>
            <a:off x="6192583" y="1001410"/>
            <a:ext cx="2926173" cy="48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3300"/>
            </a:pPr>
            <a:endParaRPr lang="en" b="1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algn="ctr">
              <a:buSzPts val="1400"/>
            </a:pPr>
            <a:r>
              <a:rPr lang="en" sz="1200" b="1" i="0" u="none" strike="noStrike" cap="none" dirty="0">
                <a:solidFill>
                  <a:schemeClr val="lt1"/>
                </a:solidFill>
                <a:latin typeface="+mn-lt"/>
                <a:ea typeface="Space Grotesk"/>
                <a:cs typeface="Space Grotesk"/>
                <a:sym typeface="Space Grotesk"/>
              </a:rPr>
              <a:t>Q4: </a:t>
            </a:r>
            <a:r>
              <a:rPr lang="fr-FR" sz="1200" b="1" dirty="0">
                <a:solidFill>
                  <a:schemeClr val="accent2"/>
                </a:solidFill>
                <a:latin typeface="+mn-lt"/>
              </a:rPr>
              <a:t>Quel est votre genre de jeu préféré ?</a:t>
            </a:r>
            <a:endParaRPr lang="fr-FR" sz="1200" dirty="0">
              <a:solidFill>
                <a:schemeClr val="accent2"/>
              </a:solidFill>
              <a:latin typeface="+mn-lt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b="1" i="0" u="none" strike="noStrike" cap="none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" name="Google Shape;2942;p41">
            <a:extLst>
              <a:ext uri="{FF2B5EF4-FFF2-40B4-BE49-F238E27FC236}">
                <a16:creationId xmlns:a16="http://schemas.microsoft.com/office/drawing/2014/main" id="{F28BB2D8-6D54-AA76-5423-9114CDB3FCF1}"/>
              </a:ext>
            </a:extLst>
          </p:cNvPr>
          <p:cNvSpPr txBox="1"/>
          <p:nvPr/>
        </p:nvSpPr>
        <p:spPr>
          <a:xfrm>
            <a:off x="6164599" y="3352353"/>
            <a:ext cx="2970852" cy="448011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en" sz="1200" b="1" i="0" u="none" strike="noStrike" cap="none" dirty="0">
                <a:solidFill>
                  <a:schemeClr val="accent2"/>
                </a:solidFill>
                <a:latin typeface="+mn-lt"/>
                <a:ea typeface="Space Grotesk"/>
                <a:cs typeface="Space Grotesk"/>
                <a:sym typeface="Space Grotesk"/>
              </a:rPr>
              <a:t>Q5: </a:t>
            </a:r>
            <a:r>
              <a:rPr lang="fr-FR" sz="1200" b="1" dirty="0">
                <a:solidFill>
                  <a:schemeClr val="accent2"/>
                </a:solidFill>
                <a:latin typeface="+mn-lt"/>
              </a:rPr>
              <a:t>Quelle mécanique de jeu est indispensable pour vous ?</a:t>
            </a:r>
            <a:endParaRPr sz="1200" b="1" i="0" u="none" strike="noStrike" cap="none" dirty="0">
              <a:solidFill>
                <a:schemeClr val="accent2"/>
              </a:solidFill>
              <a:latin typeface="+mn-lt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E3551049-AE62-2781-6AFF-24E2F0CA456F}"/>
              </a:ext>
            </a:extLst>
          </p:cNvPr>
          <p:cNvGrpSpPr/>
          <p:nvPr/>
        </p:nvGrpSpPr>
        <p:grpSpPr>
          <a:xfrm>
            <a:off x="6164599" y="3801838"/>
            <a:ext cx="2987546" cy="1341662"/>
            <a:chOff x="2748997" y="3524350"/>
            <a:chExt cx="3714545" cy="1341662"/>
          </a:xfrm>
        </p:grpSpPr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B7EAA280-25ED-1587-BD89-11057F68F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48997" y="3524351"/>
              <a:ext cx="1496933" cy="1341660"/>
            </a:xfrm>
            <a:prstGeom prst="rect">
              <a:avLst/>
            </a:prstGeom>
          </p:spPr>
        </p:pic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C7764846-95D1-4BF2-4458-25D92B8F5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45930" y="3524350"/>
              <a:ext cx="2217612" cy="1341662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EBC91FAE-F6F9-C7CF-B1ED-C57973F96209}"/>
              </a:ext>
            </a:extLst>
          </p:cNvPr>
          <p:cNvSpPr/>
          <p:nvPr/>
        </p:nvSpPr>
        <p:spPr>
          <a:xfrm>
            <a:off x="1541582" y="527097"/>
            <a:ext cx="5774760" cy="348652"/>
          </a:xfrm>
          <a:prstGeom prst="rect">
            <a:avLst/>
          </a:prstGeom>
          <a:solidFill>
            <a:srgbClr val="2D156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Les réponses du questionnaire réalisé sur Google Forms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72C8CF72-628B-5D61-25CB-DDCFCA46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41">
            <a:extLst>
              <a:ext uri="{FF2B5EF4-FFF2-40B4-BE49-F238E27FC236}">
                <a16:creationId xmlns:a16="http://schemas.microsoft.com/office/drawing/2014/main" id="{DBFCCAF2-76EB-2AAB-BEFB-CC43903DE717}"/>
              </a:ext>
            </a:extLst>
          </p:cNvPr>
          <p:cNvSpPr txBox="1"/>
          <p:nvPr/>
        </p:nvSpPr>
        <p:spPr>
          <a:xfrm>
            <a:off x="12544" y="1016924"/>
            <a:ext cx="2748594" cy="484801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3300"/>
            </a:pPr>
            <a:r>
              <a:rPr lang="en" sz="1200" b="1" i="0" u="none" strike="noStrike" cap="none" dirty="0">
                <a:solidFill>
                  <a:schemeClr val="bg1"/>
                </a:solidFill>
                <a:latin typeface="+mn-lt"/>
                <a:ea typeface="Space Grotesk"/>
                <a:cs typeface="Space Grotesk"/>
                <a:sym typeface="Space Grotesk"/>
              </a:rPr>
              <a:t>Q6:  </a:t>
            </a:r>
            <a:r>
              <a:rPr lang="fr-FR" sz="1200" b="1" dirty="0">
                <a:solidFill>
                  <a:schemeClr val="bg1"/>
                </a:solidFill>
                <a:latin typeface="+mn-lt"/>
              </a:rPr>
              <a:t>Quels critères vous décident à acheter un jeu Triple A ?</a:t>
            </a:r>
            <a:endParaRPr sz="1200" b="1" i="0" u="none" strike="noStrike" cap="none" dirty="0">
              <a:solidFill>
                <a:schemeClr val="bg1"/>
              </a:solidFill>
              <a:latin typeface="+mn-lt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2350;p14">
            <a:extLst>
              <a:ext uri="{FF2B5EF4-FFF2-40B4-BE49-F238E27FC236}">
                <a16:creationId xmlns:a16="http://schemas.microsoft.com/office/drawing/2014/main" id="{C5E7D562-5D75-E73C-F511-BF40B5F7AAFC}"/>
              </a:ext>
            </a:extLst>
          </p:cNvPr>
          <p:cNvSpPr txBox="1">
            <a:spLocks/>
          </p:cNvSpPr>
          <p:nvPr/>
        </p:nvSpPr>
        <p:spPr>
          <a:xfrm>
            <a:off x="1542895" y="-91394"/>
            <a:ext cx="69915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fr-FR" b="1" dirty="0"/>
              <a:t>Analyses du ou des segments</a:t>
            </a:r>
          </a:p>
        </p:txBody>
      </p:sp>
      <p:sp>
        <p:nvSpPr>
          <p:cNvPr id="32" name="Google Shape;2942;p41">
            <a:extLst>
              <a:ext uri="{FF2B5EF4-FFF2-40B4-BE49-F238E27FC236}">
                <a16:creationId xmlns:a16="http://schemas.microsoft.com/office/drawing/2014/main" id="{79027D3B-3AAD-B5F2-5291-0658E4985F90}"/>
              </a:ext>
            </a:extLst>
          </p:cNvPr>
          <p:cNvSpPr txBox="1"/>
          <p:nvPr/>
        </p:nvSpPr>
        <p:spPr>
          <a:xfrm>
            <a:off x="0" y="3399375"/>
            <a:ext cx="2786223" cy="484802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Q7: Quel modèle économique acceptez-vous pour un Triple A ?</a:t>
            </a:r>
            <a:endParaRPr lang="en" sz="1200" b="1" dirty="0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Google Shape;2942;p41">
            <a:extLst>
              <a:ext uri="{FF2B5EF4-FFF2-40B4-BE49-F238E27FC236}">
                <a16:creationId xmlns:a16="http://schemas.microsoft.com/office/drawing/2014/main" id="{93401714-45B0-6577-66C3-8F6DF6AA1CFB}"/>
              </a:ext>
            </a:extLst>
          </p:cNvPr>
          <p:cNvSpPr txBox="1"/>
          <p:nvPr/>
        </p:nvSpPr>
        <p:spPr>
          <a:xfrm>
            <a:off x="3495989" y="2111196"/>
            <a:ext cx="2325351" cy="483852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fr-FR" sz="1200" b="1" dirty="0">
                <a:solidFill>
                  <a:schemeClr val="bg1"/>
                </a:solidFill>
              </a:rPr>
              <a:t>Q10: Quel jeu récent vous a le plus marqué?</a:t>
            </a:r>
            <a:endParaRPr sz="1200" b="1" i="0" u="none" strike="noStrike" cap="none" dirty="0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" name="Google Shape;2942;p41">
            <a:extLst>
              <a:ext uri="{FF2B5EF4-FFF2-40B4-BE49-F238E27FC236}">
                <a16:creationId xmlns:a16="http://schemas.microsoft.com/office/drawing/2014/main" id="{68963568-9673-EAB7-D87A-6AF4CC394974}"/>
              </a:ext>
            </a:extLst>
          </p:cNvPr>
          <p:cNvSpPr txBox="1"/>
          <p:nvPr/>
        </p:nvSpPr>
        <p:spPr>
          <a:xfrm>
            <a:off x="6287173" y="1169449"/>
            <a:ext cx="2856827" cy="484801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fr-FR" sz="1200" b="1" dirty="0">
                <a:solidFill>
                  <a:schemeClr val="bg1"/>
                </a:solidFill>
              </a:rPr>
              <a:t>Q8 : Quels types d’univers t’attirent le plus ?</a:t>
            </a:r>
            <a:endParaRPr sz="1200" b="1" i="0" u="none" strike="noStrike" cap="none" dirty="0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" name="Google Shape;2942;p41">
            <a:extLst>
              <a:ext uri="{FF2B5EF4-FFF2-40B4-BE49-F238E27FC236}">
                <a16:creationId xmlns:a16="http://schemas.microsoft.com/office/drawing/2014/main" id="{03806484-1BB1-DD37-A0BB-E64BD3E1AA3F}"/>
              </a:ext>
            </a:extLst>
          </p:cNvPr>
          <p:cNvSpPr txBox="1"/>
          <p:nvPr/>
        </p:nvSpPr>
        <p:spPr>
          <a:xfrm>
            <a:off x="6274630" y="3314698"/>
            <a:ext cx="2856826" cy="484802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fr-FR" sz="1200" b="1" dirty="0">
                <a:solidFill>
                  <a:schemeClr val="bg1"/>
                </a:solidFill>
              </a:rPr>
              <a:t>Q9: Comment découvrez-vous généralement un nouveau jeu ?</a:t>
            </a:r>
            <a:endParaRPr sz="1200" b="1" i="0" u="none" strike="noStrike" cap="none" dirty="0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B9CEEBF-2383-A768-AC1E-30BAA42E09D0}"/>
              </a:ext>
            </a:extLst>
          </p:cNvPr>
          <p:cNvGrpSpPr/>
          <p:nvPr/>
        </p:nvGrpSpPr>
        <p:grpSpPr>
          <a:xfrm>
            <a:off x="12544" y="1450018"/>
            <a:ext cx="2761136" cy="1473668"/>
            <a:chOff x="12544" y="1566385"/>
            <a:chExt cx="3066343" cy="1321540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09DEAB85-15F8-C9F5-7598-5186C1637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44" y="1566386"/>
              <a:ext cx="1480758" cy="1321539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D8A91946-0F5C-DA7D-42CD-92724A1B2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3302" y="1566385"/>
              <a:ext cx="1585585" cy="1321539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2A18C9C-7457-BC71-6C38-2187DDCD1F38}"/>
              </a:ext>
            </a:extLst>
          </p:cNvPr>
          <p:cNvGrpSpPr/>
          <p:nvPr/>
        </p:nvGrpSpPr>
        <p:grpSpPr>
          <a:xfrm>
            <a:off x="12544" y="3799500"/>
            <a:ext cx="2798766" cy="1344000"/>
            <a:chOff x="-168851" y="3864458"/>
            <a:chExt cx="3214657" cy="1279042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0917ADFB-1E3B-2AA8-E902-B55213B87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68851" y="3864458"/>
              <a:ext cx="1506151" cy="1279042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EC999190-763E-4EA5-E48B-B9547FA12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7300" y="3864458"/>
              <a:ext cx="1708506" cy="1279042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C36B5945-CDAC-D9F5-865B-737F1837DD06}"/>
              </a:ext>
            </a:extLst>
          </p:cNvPr>
          <p:cNvGrpSpPr/>
          <p:nvPr/>
        </p:nvGrpSpPr>
        <p:grpSpPr>
          <a:xfrm>
            <a:off x="6287173" y="1602147"/>
            <a:ext cx="2856827" cy="1321539"/>
            <a:chOff x="6387183" y="1389467"/>
            <a:chExt cx="2756817" cy="1321539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7AE61C50-CFC0-F438-90CE-68C7331E9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87183" y="1389467"/>
              <a:ext cx="1453165" cy="1321539"/>
            </a:xfrm>
            <a:prstGeom prst="rect">
              <a:avLst/>
            </a:prstGeom>
          </p:spPr>
        </p:pic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4E478D36-2426-818E-2F4C-8FC1F57C7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40348" y="1389467"/>
              <a:ext cx="1303652" cy="1321539"/>
            </a:xfrm>
            <a:prstGeom prst="rect">
              <a:avLst/>
            </a:prstGeom>
          </p:spPr>
        </p:pic>
      </p:grpSp>
      <p:pic>
        <p:nvPicPr>
          <p:cNvPr id="30" name="Image 29">
            <a:extLst>
              <a:ext uri="{FF2B5EF4-FFF2-40B4-BE49-F238E27FC236}">
                <a16:creationId xmlns:a16="http://schemas.microsoft.com/office/drawing/2014/main" id="{3BE48177-7AB7-EB50-629D-6BF7B79FDE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7173" y="3756664"/>
            <a:ext cx="1337300" cy="1386835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C6907C30-A8F6-41D7-4DDC-EB8477316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7016" y="3756665"/>
            <a:ext cx="1506985" cy="138683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ED335A1-6C9B-89C4-8AB6-089A4F8A309E}"/>
              </a:ext>
            </a:extLst>
          </p:cNvPr>
          <p:cNvSpPr/>
          <p:nvPr/>
        </p:nvSpPr>
        <p:spPr>
          <a:xfrm>
            <a:off x="3504865" y="2543393"/>
            <a:ext cx="2307600" cy="12221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100" dirty="0"/>
          </a:p>
          <a:p>
            <a:r>
              <a:rPr lang="en-US" sz="1100" dirty="0"/>
              <a:t>FIFA (2025)</a:t>
            </a:r>
          </a:p>
          <a:p>
            <a:r>
              <a:rPr lang="fr-FR" sz="1100" dirty="0"/>
              <a:t>PUBG</a:t>
            </a:r>
          </a:p>
          <a:p>
            <a:r>
              <a:rPr lang="en-US" sz="1100" dirty="0"/>
              <a:t>Call of duty</a:t>
            </a:r>
          </a:p>
          <a:p>
            <a:r>
              <a:rPr lang="en-US" sz="1100" dirty="0"/>
              <a:t>Lost Horizon</a:t>
            </a:r>
          </a:p>
          <a:p>
            <a:r>
              <a:rPr lang="en-US" sz="1100" dirty="0"/>
              <a:t>Crimson Desert</a:t>
            </a:r>
          </a:p>
          <a:p>
            <a:r>
              <a:rPr lang="fr-FR" sz="1100" dirty="0"/>
              <a:t>Counter-Strike 2 (2023)</a:t>
            </a:r>
          </a:p>
          <a:p>
            <a:r>
              <a:rPr lang="fr-FR" sz="1100" dirty="0"/>
              <a:t>Iron Empire</a:t>
            </a:r>
            <a:endParaRPr lang="en-US" sz="1100" dirty="0"/>
          </a:p>
          <a:p>
            <a:pPr algn="ctr"/>
            <a:endParaRPr lang="fr-FR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6F24FE01-7372-8BC7-A04A-4CE774831165}"/>
              </a:ext>
            </a:extLst>
          </p:cNvPr>
          <p:cNvSpPr/>
          <p:nvPr/>
        </p:nvSpPr>
        <p:spPr>
          <a:xfrm>
            <a:off x="1541582" y="527097"/>
            <a:ext cx="5774760" cy="348652"/>
          </a:xfrm>
          <a:prstGeom prst="rect">
            <a:avLst/>
          </a:prstGeom>
          <a:solidFill>
            <a:srgbClr val="2D156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Les réponses du questionnaire réalisé sur Google Forms</a:t>
            </a:r>
          </a:p>
        </p:txBody>
      </p:sp>
    </p:spTree>
    <p:extLst>
      <p:ext uri="{BB962C8B-B14F-4D97-AF65-F5344CB8AC3E}">
        <p14:creationId xmlns:p14="http://schemas.microsoft.com/office/powerpoint/2010/main" val="3513183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34617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Recommandations stratégiques</a:t>
            </a:r>
            <a:endParaRPr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06</a:t>
            </a:r>
            <a:endParaRPr sz="10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273C0-0D1F-924A-4838-9000AFCC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304" y="53340"/>
            <a:ext cx="8209795" cy="565400"/>
          </a:xfrm>
        </p:spPr>
        <p:txBody>
          <a:bodyPr/>
          <a:lstStyle/>
          <a:p>
            <a:r>
              <a:rPr lang="fr-FR" sz="2800" b="1" dirty="0"/>
              <a:t>Recommandations des segments visés</a:t>
            </a:r>
            <a:endParaRPr lang="fr-FR" sz="280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B22B2B6-6D3B-8671-87BB-78D513E04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00754"/>
              </p:ext>
            </p:extLst>
          </p:nvPr>
        </p:nvGraphicFramePr>
        <p:xfrm>
          <a:off x="1353304" y="1010363"/>
          <a:ext cx="6804660" cy="3122773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2181629">
                  <a:extLst>
                    <a:ext uri="{9D8B030D-6E8A-4147-A177-3AD203B41FA5}">
                      <a16:colId xmlns:a16="http://schemas.microsoft.com/office/drawing/2014/main" val="1239525355"/>
                    </a:ext>
                  </a:extLst>
                </a:gridCol>
                <a:gridCol w="4623031">
                  <a:extLst>
                    <a:ext uri="{9D8B030D-6E8A-4147-A177-3AD203B41FA5}">
                      <a16:colId xmlns:a16="http://schemas.microsoft.com/office/drawing/2014/main" val="1965405926"/>
                    </a:ext>
                  </a:extLst>
                </a:gridCol>
              </a:tblGrid>
              <a:tr h="40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Critère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Choix possibles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0217"/>
                  </a:ext>
                </a:extLst>
              </a:tr>
              <a:tr h="405555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Plateforme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864678"/>
                  </a:ext>
                </a:extLst>
              </a:tr>
              <a:tr h="68944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Consoles : PlayStation (Sony), Xbox (Microsoft), Nintendo Switch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968085"/>
                  </a:ext>
                </a:extLst>
              </a:tr>
              <a:tr h="40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solidFill>
                            <a:schemeClr val="bg1"/>
                          </a:solidFill>
                        </a:rPr>
                        <a:t>Genre de jeu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Action, Aventure,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Role-Playing (</a:t>
                      </a: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RPG), Shooter,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Sports       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284724"/>
                  </a:ext>
                </a:extLst>
              </a:tr>
              <a:tr h="405555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Âge (classification)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Mature (M) →  +17 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366636"/>
                  </a:ext>
                </a:extLst>
              </a:tr>
              <a:tr h="40555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Adults  → +18 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031454"/>
                  </a:ext>
                </a:extLst>
              </a:tr>
              <a:tr h="40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Région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</a:rPr>
                        <a:t>Asie, Amérique du Nord, Europe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499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274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62;p16">
            <a:extLst>
              <a:ext uri="{FF2B5EF4-FFF2-40B4-BE49-F238E27FC236}">
                <a16:creationId xmlns:a16="http://schemas.microsoft.com/office/drawing/2014/main" id="{AB37F189-2180-7EF7-85D5-CDD36E529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9795" y="82619"/>
            <a:ext cx="62697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Recommandations pour un jeu AAA</a:t>
            </a:r>
            <a:endParaRPr sz="2800" b="1" dirty="0">
              <a:solidFill>
                <a:srgbClr val="FF0000"/>
              </a:solidFill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593D459-A647-8A87-69C2-D58BEAD99876}"/>
              </a:ext>
            </a:extLst>
          </p:cNvPr>
          <p:cNvSpPr/>
          <p:nvPr/>
        </p:nvSpPr>
        <p:spPr>
          <a:xfrm>
            <a:off x="1620782" y="1103919"/>
            <a:ext cx="7315200" cy="833598"/>
          </a:xfrm>
          <a:prstGeom prst="rect">
            <a:avLst/>
          </a:prstGeom>
          <a:solidFill>
            <a:srgbClr val="2D1561"/>
          </a:solidFill>
          <a:ln w="25400">
            <a:solidFill>
              <a:srgbClr val="00CFCF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Cible démographique et géographique</a:t>
            </a:r>
          </a:p>
          <a:p>
            <a:endParaRPr lang="fr-FR" sz="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fr-FR" sz="1200" dirty="0">
                <a:solidFill>
                  <a:schemeClr val="bg1"/>
                </a:solidFill>
              </a:rPr>
              <a:t>- Âge cible : 18-35 ans  avec ESRP = Adults +18 ans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Marchés prioritaires : Asie, Amérique du Nord, Europe</a:t>
            </a:r>
            <a:endParaRPr lang="fr-FR" sz="12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52F8E15-4389-1C6A-0F67-E4315F1C10A7}"/>
              </a:ext>
            </a:extLst>
          </p:cNvPr>
          <p:cNvSpPr/>
          <p:nvPr/>
        </p:nvSpPr>
        <p:spPr>
          <a:xfrm>
            <a:off x="1620782" y="2316715"/>
            <a:ext cx="7315200" cy="846451"/>
          </a:xfrm>
          <a:prstGeom prst="rect">
            <a:avLst/>
          </a:prstGeom>
          <a:solidFill>
            <a:srgbClr val="2D1561"/>
          </a:solidFill>
          <a:ln w="25400">
            <a:solidFill>
              <a:srgbClr val="00CFCF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PLATEFORME CIBLE</a:t>
            </a:r>
          </a:p>
          <a:p>
            <a:endParaRPr lang="fr-FR" sz="800" dirty="0"/>
          </a:p>
          <a:p>
            <a:r>
              <a:rPr lang="fr-FR" sz="1200" dirty="0">
                <a:solidFill>
                  <a:schemeClr val="bg1"/>
                </a:solidFill>
              </a:rPr>
              <a:t>- PC + PS5 en priorité au lancement.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- La console Xbox suivra ensuite afin de maximiser les revenus.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C74B644-0328-D1D6-2FC6-8156BAC44F11}"/>
              </a:ext>
            </a:extLst>
          </p:cNvPr>
          <p:cNvSpPr/>
          <p:nvPr/>
        </p:nvSpPr>
        <p:spPr>
          <a:xfrm>
            <a:off x="1559822" y="3637622"/>
            <a:ext cx="7315200" cy="959327"/>
          </a:xfrm>
          <a:prstGeom prst="rect">
            <a:avLst/>
          </a:prstGeom>
          <a:solidFill>
            <a:srgbClr val="2D1561"/>
          </a:solidFill>
          <a:ln w="25400">
            <a:solidFill>
              <a:srgbClr val="00CFCF"/>
            </a:solidFill>
            <a:prstDash val="solid"/>
          </a:ln>
        </p:spPr>
        <p:txBody>
          <a:bodyPr/>
          <a:lstStyle/>
          <a:p>
            <a:r>
              <a:rPr lang="fr-FR" sz="1200" b="1" cap="al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GENRE CIBLE</a:t>
            </a:r>
          </a:p>
          <a:p>
            <a:endParaRPr lang="fr-FR" sz="800" b="1" cap="all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sz="1200" dirty="0">
                <a:solidFill>
                  <a:schemeClr val="bg1"/>
                </a:solidFill>
              </a:rPr>
              <a:t>- Action - Aventure - Shooter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Combinaison des 3 genres les plus performants mondialement</a:t>
            </a:r>
          </a:p>
          <a:p>
            <a:r>
              <a:rPr lang="fr-FR" sz="1200" dirty="0">
                <a:solidFill>
                  <a:schemeClr val="bg1"/>
                </a:solidFill>
              </a:rPr>
              <a:t>- Aligné avec la tendance 2025-2026 : RPG narratifs, mondes semi-ouverts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6ECA0CF-F2B0-29B4-79AD-C1DD09AB0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48" y="1103919"/>
            <a:ext cx="896908" cy="8464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08CEEDB-7205-AEC1-30AB-0033FAF55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48" y="2306836"/>
            <a:ext cx="896908" cy="85633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6F851E4-CCBB-F91E-8B98-B32D1BA35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73" y="3637622"/>
            <a:ext cx="896909" cy="95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55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B2E3917-41C9-B345-40B2-3A3E4E1D6394}"/>
              </a:ext>
            </a:extLst>
          </p:cNvPr>
          <p:cNvSpPr txBox="1"/>
          <p:nvPr/>
        </p:nvSpPr>
        <p:spPr>
          <a:xfrm>
            <a:off x="0" y="6969"/>
            <a:ext cx="9144000" cy="140400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7BA21-4CA1-A39C-3D81-7F62720CBC18}"/>
              </a:ext>
            </a:extLst>
          </p:cNvPr>
          <p:cNvSpPr/>
          <p:nvPr/>
        </p:nvSpPr>
        <p:spPr>
          <a:xfrm>
            <a:off x="1451021" y="215300"/>
            <a:ext cx="338265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</a:rPr>
              <a:t>FRONTLINE</a:t>
            </a:r>
            <a:endParaRPr lang="fr-FR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DC991E4-D9F1-81AB-3E20-8B2E78A5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050" y="-123111"/>
            <a:ext cx="2335494" cy="92333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FA37CD5-8E8B-12E0-EB06-1EF9128E2BE1}"/>
              </a:ext>
            </a:extLst>
          </p:cNvPr>
          <p:cNvSpPr txBox="1"/>
          <p:nvPr/>
        </p:nvSpPr>
        <p:spPr>
          <a:xfrm>
            <a:off x="1423692" y="-28872"/>
            <a:ext cx="38623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accent3">
                    <a:lumMod val="85000"/>
                  </a:schemeClr>
                </a:solidFill>
              </a:rPr>
              <a:t>Proposition de concept · jeu AAA ·  2026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75F5272-0063-D7BF-90EC-5F523E118DB6}"/>
              </a:ext>
            </a:extLst>
          </p:cNvPr>
          <p:cNvSpPr txBox="1"/>
          <p:nvPr/>
        </p:nvSpPr>
        <p:spPr>
          <a:xfrm>
            <a:off x="1463221" y="836784"/>
            <a:ext cx="62122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>
                <a:solidFill>
                  <a:srgbClr val="00B0F0"/>
                </a:solidFill>
                <a:latin typeface="+mn-lt"/>
              </a:rPr>
              <a:t>Action · Aventure · Shooter</a:t>
            </a:r>
            <a:r>
              <a:rPr lang="fr-FR" sz="900" b="0" i="0" dirty="0">
                <a:solidFill>
                  <a:srgbClr val="00B0F0"/>
                </a:solidFill>
                <a:effectLst/>
                <a:latin typeface="+mn-lt"/>
              </a:rPr>
              <a:t> </a:t>
            </a:r>
            <a:r>
              <a:rPr lang="fr-FR" sz="900" dirty="0">
                <a:solidFill>
                  <a:srgbClr val="00B0F0"/>
                </a:solidFill>
                <a:latin typeface="+mn-lt"/>
              </a:rPr>
              <a:t>|  </a:t>
            </a:r>
            <a:r>
              <a:rPr lang="fr-FR" sz="900" b="0" i="0" dirty="0">
                <a:solidFill>
                  <a:srgbClr val="00B0F0"/>
                </a:solidFill>
                <a:effectLst/>
                <a:latin typeface="+mn-lt"/>
              </a:rPr>
              <a:t>S</a:t>
            </a:r>
            <a:r>
              <a:rPr lang="fr-FR" sz="900" dirty="0">
                <a:solidFill>
                  <a:srgbClr val="00B0F0"/>
                </a:solidFill>
                <a:latin typeface="+mn-lt"/>
              </a:rPr>
              <a:t>emi-Ouverts </a:t>
            </a:r>
            <a:r>
              <a:rPr lang="fr-FR" sz="900" b="0" i="0" dirty="0">
                <a:solidFill>
                  <a:srgbClr val="00B0F0"/>
                </a:solidFill>
                <a:effectLst/>
                <a:latin typeface="+mn-lt"/>
              </a:rPr>
              <a:t>| </a:t>
            </a:r>
            <a:r>
              <a:rPr lang="fr-FR" sz="900" dirty="0">
                <a:solidFill>
                  <a:srgbClr val="00B0F0"/>
                </a:solidFill>
                <a:latin typeface="+mn-lt"/>
              </a:rPr>
              <a:t>Réaliste · Techno-Militaire</a:t>
            </a:r>
            <a:r>
              <a:rPr lang="fr-FR" sz="900" b="0" i="0" dirty="0">
                <a:solidFill>
                  <a:srgbClr val="00B0F0"/>
                </a:solidFill>
                <a:effectLst/>
                <a:latin typeface="+mn-lt"/>
              </a:rPr>
              <a:t> | PS5 ·</a:t>
            </a:r>
            <a:r>
              <a:rPr lang="fr-FR" sz="900" dirty="0">
                <a:solidFill>
                  <a:srgbClr val="00B0F0"/>
                </a:solidFill>
                <a:latin typeface="+mn-lt"/>
              </a:rPr>
              <a:t> Xbox</a:t>
            </a:r>
            <a:r>
              <a:rPr lang="fr-FR" sz="900" b="0" i="0" dirty="0">
                <a:solidFill>
                  <a:srgbClr val="00B0F0"/>
                </a:solidFill>
                <a:effectLst/>
                <a:latin typeface="+mn-lt"/>
              </a:rPr>
              <a:t> · PC</a:t>
            </a:r>
            <a:endParaRPr lang="fr-FR" sz="90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985F3B0-A93D-55E6-9F7F-9957349DBC22}"/>
              </a:ext>
            </a:extLst>
          </p:cNvPr>
          <p:cNvSpPr/>
          <p:nvPr/>
        </p:nvSpPr>
        <p:spPr>
          <a:xfrm>
            <a:off x="3873949" y="1162898"/>
            <a:ext cx="1044000" cy="180000"/>
          </a:xfrm>
          <a:prstGeom prst="roundRect">
            <a:avLst/>
          </a:prstGeom>
          <a:solidFill>
            <a:srgbClr val="1A0E3B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Solo - Coop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9E59BA5-6E0A-2C2C-F8A7-F7FF732EFAA0}"/>
              </a:ext>
            </a:extLst>
          </p:cNvPr>
          <p:cNvSpPr/>
          <p:nvPr/>
        </p:nvSpPr>
        <p:spPr>
          <a:xfrm>
            <a:off x="5074884" y="1160874"/>
            <a:ext cx="1044000" cy="180000"/>
          </a:xfrm>
          <a:prstGeom prst="roundRect">
            <a:avLst/>
          </a:prstGeom>
          <a:solidFill>
            <a:srgbClr val="1A0E3B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Adults +18 ans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7F96CCB-BADC-6BA4-5AB5-EAB23DE2259D}"/>
              </a:ext>
            </a:extLst>
          </p:cNvPr>
          <p:cNvSpPr/>
          <p:nvPr/>
        </p:nvSpPr>
        <p:spPr>
          <a:xfrm>
            <a:off x="2673014" y="1162898"/>
            <a:ext cx="1044000" cy="180000"/>
          </a:xfrm>
          <a:prstGeom prst="roundRect">
            <a:avLst/>
          </a:prstGeom>
          <a:solidFill>
            <a:srgbClr val="1A0E3B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Multi-plateforme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73D72A87-E0D8-6C0A-7C46-A69A344CCE54}"/>
              </a:ext>
            </a:extLst>
          </p:cNvPr>
          <p:cNvSpPr/>
          <p:nvPr/>
        </p:nvSpPr>
        <p:spPr>
          <a:xfrm>
            <a:off x="1535211" y="1165066"/>
            <a:ext cx="1044000" cy="180000"/>
          </a:xfrm>
          <a:prstGeom prst="roundRect">
            <a:avLst/>
          </a:prstGeom>
          <a:solidFill>
            <a:srgbClr val="1A0E3B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RPG narratifs</a:t>
            </a:r>
            <a:endParaRPr lang="fr-FR" sz="900" dirty="0">
              <a:solidFill>
                <a:srgbClr val="00B0F0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B551435-E328-F113-F4B0-932C44E422A6}"/>
              </a:ext>
            </a:extLst>
          </p:cNvPr>
          <p:cNvSpPr txBox="1"/>
          <p:nvPr/>
        </p:nvSpPr>
        <p:spPr>
          <a:xfrm>
            <a:off x="5919514" y="1410969"/>
            <a:ext cx="3224485" cy="374400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B7FF"/>
                </a:solidFill>
                <a:latin typeface="+mn-lt"/>
              </a:rPr>
              <a:t>Fiche Technique</a:t>
            </a:r>
          </a:p>
          <a:p>
            <a:endParaRPr lang="fr-FR" sz="800" dirty="0">
              <a:solidFill>
                <a:srgbClr val="2043A4"/>
              </a:solidFill>
              <a:latin typeface="+mn-lt"/>
            </a:endParaRPr>
          </a:p>
          <a:p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Genres              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Action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</a:rPr>
              <a:t>·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Aventure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</a:rPr>
              <a:t>·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 Shooter </a:t>
            </a:r>
          </a:p>
          <a:p>
            <a:endParaRPr lang="fr-FR" sz="12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fr-FR" sz="1200" dirty="0">
                <a:solidFill>
                  <a:schemeClr val="tx2">
                    <a:lumMod val="75000"/>
                  </a:schemeClr>
                </a:solidFill>
              </a:rPr>
              <a:t>Cross-platform             </a:t>
            </a:r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PC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</a:rPr>
              <a:t>·</a:t>
            </a:r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PS5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</a:rPr>
              <a:t>· </a:t>
            </a:r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Xbox</a:t>
            </a:r>
          </a:p>
          <a:p>
            <a:endParaRPr lang="fr-FR" sz="12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fr-FR" sz="1200" cap="all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PEGI                                </a:t>
            </a:r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18+</a:t>
            </a:r>
          </a:p>
          <a:p>
            <a:endParaRPr lang="fr-FR" sz="12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Modes                       Solo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</a:rPr>
              <a:t>·</a:t>
            </a:r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Coop </a:t>
            </a:r>
          </a:p>
          <a:p>
            <a:endParaRPr lang="fr-FR" sz="12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fr-FR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Prix lancement             69,99 €</a:t>
            </a: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r>
              <a:rPr lang="fr-FR" dirty="0">
                <a:solidFill>
                  <a:srgbClr val="00B7FF"/>
                </a:solidFill>
              </a:rPr>
              <a:t>Type d’univers</a:t>
            </a: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endParaRPr lang="fr-FR" sz="8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endParaRPr lang="fr-FR" sz="800" cap="all" dirty="0">
              <a:solidFill>
                <a:schemeClr val="bg1">
                  <a:lumMod val="65000"/>
                </a:schemeClr>
              </a:solidFill>
              <a:latin typeface="+mj-lt"/>
            </a:endParaRPr>
          </a:p>
          <a:p>
            <a:r>
              <a:rPr lang="fr-FR" dirty="0">
                <a:solidFill>
                  <a:srgbClr val="00B7FF"/>
                </a:solidFill>
              </a:rPr>
              <a:t>Inspirations</a:t>
            </a:r>
          </a:p>
          <a:p>
            <a:endParaRPr lang="fr-FR" cap="all" dirty="0">
              <a:solidFill>
                <a:schemeClr val="bg1"/>
              </a:solidFill>
            </a:endParaRP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BADC3BD0-3A19-59F7-1191-948340E5DEDA}"/>
              </a:ext>
            </a:extLst>
          </p:cNvPr>
          <p:cNvCxnSpPr>
            <a:cxnSpLocks/>
          </p:cNvCxnSpPr>
          <p:nvPr/>
        </p:nvCxnSpPr>
        <p:spPr>
          <a:xfrm>
            <a:off x="5919516" y="2002302"/>
            <a:ext cx="325208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CDCFD956-9DF0-C2F5-E5C8-E37E50D9ADFC}"/>
              </a:ext>
            </a:extLst>
          </p:cNvPr>
          <p:cNvCxnSpPr>
            <a:cxnSpLocks/>
          </p:cNvCxnSpPr>
          <p:nvPr/>
        </p:nvCxnSpPr>
        <p:spPr>
          <a:xfrm>
            <a:off x="5883501" y="2776229"/>
            <a:ext cx="325208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E5F1A532-1A60-20A9-E2CA-799DA0B0545D}"/>
              </a:ext>
            </a:extLst>
          </p:cNvPr>
          <p:cNvCxnSpPr>
            <a:cxnSpLocks/>
          </p:cNvCxnSpPr>
          <p:nvPr/>
        </p:nvCxnSpPr>
        <p:spPr>
          <a:xfrm>
            <a:off x="5891917" y="3119714"/>
            <a:ext cx="325208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A7505A12-892F-497C-1A7B-FB333EFCADA0}"/>
              </a:ext>
            </a:extLst>
          </p:cNvPr>
          <p:cNvCxnSpPr>
            <a:cxnSpLocks/>
          </p:cNvCxnSpPr>
          <p:nvPr/>
        </p:nvCxnSpPr>
        <p:spPr>
          <a:xfrm>
            <a:off x="5891917" y="2372968"/>
            <a:ext cx="325208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F4E13728-9751-87E7-C9BB-4719584258C5}"/>
              </a:ext>
            </a:extLst>
          </p:cNvPr>
          <p:cNvCxnSpPr>
            <a:cxnSpLocks/>
          </p:cNvCxnSpPr>
          <p:nvPr/>
        </p:nvCxnSpPr>
        <p:spPr>
          <a:xfrm>
            <a:off x="0" y="1379611"/>
            <a:ext cx="9099960" cy="940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14B42DAE-7233-6344-FF68-7497AA5AE34F}"/>
              </a:ext>
            </a:extLst>
          </p:cNvPr>
          <p:cNvSpPr/>
          <p:nvPr/>
        </p:nvSpPr>
        <p:spPr>
          <a:xfrm>
            <a:off x="5962179" y="4867825"/>
            <a:ext cx="1008000" cy="216000"/>
          </a:xfrm>
          <a:prstGeom prst="roundRect">
            <a:avLst/>
          </a:prstGeom>
          <a:solidFill>
            <a:srgbClr val="1A0E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Call of Duty</a:t>
            </a:r>
            <a:endParaRPr lang="fr-FR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9BCBBA4E-CF81-7C3B-9DA5-6A163B449DC3}"/>
              </a:ext>
            </a:extLst>
          </p:cNvPr>
          <p:cNvSpPr/>
          <p:nvPr/>
        </p:nvSpPr>
        <p:spPr>
          <a:xfrm>
            <a:off x="5973864" y="4212671"/>
            <a:ext cx="1476000" cy="216000"/>
          </a:xfrm>
          <a:prstGeom prst="roundRect">
            <a:avLst/>
          </a:prstGeom>
          <a:solidFill>
            <a:srgbClr val="1A0E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2">
                    <a:lumMod val="75000"/>
                  </a:schemeClr>
                </a:solidFill>
              </a:rPr>
              <a:t>Techno‑Militaire</a:t>
            </a:r>
            <a:endParaRPr lang="fr-FR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7FE4F565-B6F1-E0B9-5199-745DC0D03D46}"/>
              </a:ext>
            </a:extLst>
          </p:cNvPr>
          <p:cNvSpPr txBox="1"/>
          <p:nvPr/>
        </p:nvSpPr>
        <p:spPr>
          <a:xfrm>
            <a:off x="847" y="1410969"/>
            <a:ext cx="5940000" cy="3724096"/>
          </a:xfrm>
          <a:prstGeom prst="rect">
            <a:avLst/>
          </a:prstGeom>
          <a:solidFill>
            <a:srgbClr val="0000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7FF"/>
                </a:solidFill>
              </a:rPr>
              <a:t>Description du jeu</a:t>
            </a:r>
          </a:p>
          <a:p>
            <a:endParaRPr lang="fr-FR" b="1" cap="all" dirty="0">
              <a:solidFill>
                <a:schemeClr val="bg1"/>
              </a:solidFill>
            </a:endParaRPr>
          </a:p>
          <a:p>
            <a:endParaRPr lang="fr-FR" b="1" cap="all" dirty="0">
              <a:solidFill>
                <a:schemeClr val="bg1"/>
              </a:solidFill>
            </a:endParaRPr>
          </a:p>
          <a:p>
            <a:endParaRPr lang="fr-FR" b="1" cap="all" dirty="0">
              <a:solidFill>
                <a:schemeClr val="bg1"/>
              </a:solidFill>
            </a:endParaRPr>
          </a:p>
          <a:p>
            <a:endParaRPr lang="fr-FR" b="1" cap="all" dirty="0">
              <a:solidFill>
                <a:schemeClr val="bg1"/>
              </a:solidFill>
            </a:endParaRPr>
          </a:p>
          <a:p>
            <a:endParaRPr lang="fr-FR" b="1" cap="all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Campagne solo 20–25h: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histoire principale se déroulant dans plusieurs zones</a:t>
            </a:r>
            <a:r>
              <a:rPr lang="fr-F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Coop drop‑in/drop‑out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: un ami peut rejoindre la partie à tout moment. 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Contrats dynamiques Missions rapides :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extraction, sabotage, sécurisation.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Zones à haute intensité: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Secteurs plus dangereux avec meilleures récompenses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Événements urbains aléatoires: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embuscades, convois ennemis.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Saisons post‑lancement :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Nouvelles zones, armes, ennemis, opérations.</a:t>
            </a:r>
          </a:p>
          <a:p>
            <a:pPr marL="171450" indent="-171450">
              <a:buClr>
                <a:schemeClr val="bg1"/>
              </a:buClr>
              <a:buSzPct val="90000"/>
              <a:buFont typeface="Wingdings" panose="05000000000000000000" pitchFamily="2" charset="2"/>
              <a:buChar char="Ø"/>
            </a:pPr>
            <a:r>
              <a:rPr lang="fr-FR" sz="1200" dirty="0">
                <a:solidFill>
                  <a:schemeClr val="bg1"/>
                </a:solidFill>
              </a:rPr>
              <a:t>Cosmétiques premiums non intrusifs :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</a:rPr>
              <a:t>Skins visuels uniquement, sans impact.</a:t>
            </a:r>
            <a:endParaRPr lang="fr-FR" sz="1200" cap="all" dirty="0">
              <a:solidFill>
                <a:schemeClr val="bg1"/>
              </a:solidFill>
            </a:endParaRPr>
          </a:p>
          <a:p>
            <a:endParaRPr lang="fr-FR" sz="1200" cap="all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DD1D9BD-D70E-E0BF-D578-4DF0B09BB69E}"/>
              </a:ext>
            </a:extLst>
          </p:cNvPr>
          <p:cNvCxnSpPr>
            <a:cxnSpLocks/>
          </p:cNvCxnSpPr>
          <p:nvPr/>
        </p:nvCxnSpPr>
        <p:spPr>
          <a:xfrm flipH="1">
            <a:off x="5914595" y="1410969"/>
            <a:ext cx="0" cy="37080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CBFB7A0E-3CD1-8BA1-0A55-4A9745DCEC6F}"/>
              </a:ext>
            </a:extLst>
          </p:cNvPr>
          <p:cNvSpPr/>
          <p:nvPr/>
        </p:nvSpPr>
        <p:spPr>
          <a:xfrm>
            <a:off x="7059557" y="4866692"/>
            <a:ext cx="972000" cy="216000"/>
          </a:xfrm>
          <a:prstGeom prst="roundRect">
            <a:avLst/>
          </a:prstGeom>
          <a:solidFill>
            <a:srgbClr val="1A0E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2">
                    <a:lumMod val="75000"/>
                  </a:schemeClr>
                </a:solidFill>
              </a:rPr>
              <a:t>Battlefield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DE3A5EC8-CE77-C88C-4D03-199363AAA80D}"/>
              </a:ext>
            </a:extLst>
          </p:cNvPr>
          <p:cNvSpPr/>
          <p:nvPr/>
        </p:nvSpPr>
        <p:spPr>
          <a:xfrm>
            <a:off x="8100000" y="4866692"/>
            <a:ext cx="1044000" cy="216000"/>
          </a:xfrm>
          <a:prstGeom prst="roundRect">
            <a:avLst/>
          </a:prstGeom>
          <a:solidFill>
            <a:srgbClr val="1A0E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2">
                    <a:lumMod val="75000"/>
                  </a:schemeClr>
                </a:solidFill>
              </a:rPr>
              <a:t>The Division</a:t>
            </a: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13F9FC0B-CA57-9EB0-0885-0C5C8BCAD7A0}"/>
              </a:ext>
            </a:extLst>
          </p:cNvPr>
          <p:cNvSpPr/>
          <p:nvPr/>
        </p:nvSpPr>
        <p:spPr>
          <a:xfrm>
            <a:off x="5973864" y="3925225"/>
            <a:ext cx="2448000" cy="216000"/>
          </a:xfrm>
          <a:prstGeom prst="roundRect">
            <a:avLst/>
          </a:prstGeom>
          <a:solidFill>
            <a:srgbClr val="1A0E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2">
                    <a:lumMod val="75000"/>
                  </a:schemeClr>
                </a:solidFill>
              </a:rPr>
              <a:t>Univers contemporain réaliste</a:t>
            </a:r>
            <a:endParaRPr lang="fr-FR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3E795726-00EC-09F6-6087-693023DF0393}"/>
              </a:ext>
            </a:extLst>
          </p:cNvPr>
          <p:cNvSpPr txBox="1"/>
          <p:nvPr/>
        </p:nvSpPr>
        <p:spPr>
          <a:xfrm>
            <a:off x="0" y="2408638"/>
            <a:ext cx="1672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7FF"/>
                </a:solidFill>
              </a:rPr>
              <a:t>Écosystème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58C3234F-9A56-8C2C-B5F6-53B535F0790D}"/>
              </a:ext>
            </a:extLst>
          </p:cNvPr>
          <p:cNvSpPr txBox="1"/>
          <p:nvPr/>
        </p:nvSpPr>
        <p:spPr>
          <a:xfrm>
            <a:off x="0" y="4108325"/>
            <a:ext cx="2687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7FF"/>
                </a:solidFill>
              </a:rPr>
              <a:t>Prévision grossière des ventes</a:t>
            </a:r>
          </a:p>
        </p:txBody>
      </p:sp>
      <p:graphicFrame>
        <p:nvGraphicFramePr>
          <p:cNvPr id="77" name="Tableau 76">
            <a:extLst>
              <a:ext uri="{FF2B5EF4-FFF2-40B4-BE49-F238E27FC236}">
                <a16:creationId xmlns:a16="http://schemas.microsoft.com/office/drawing/2014/main" id="{961B28EE-4918-B821-EBAC-79B7004AB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758557"/>
              </p:ext>
            </p:extLst>
          </p:nvPr>
        </p:nvGraphicFramePr>
        <p:xfrm>
          <a:off x="63044" y="4440502"/>
          <a:ext cx="5755509" cy="5986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9668">
                  <a:extLst>
                    <a:ext uri="{9D8B030D-6E8A-4147-A177-3AD203B41FA5}">
                      <a16:colId xmlns:a16="http://schemas.microsoft.com/office/drawing/2014/main" val="3576499927"/>
                    </a:ext>
                  </a:extLst>
                </a:gridCol>
                <a:gridCol w="733186">
                  <a:extLst>
                    <a:ext uri="{9D8B030D-6E8A-4147-A177-3AD203B41FA5}">
                      <a16:colId xmlns:a16="http://schemas.microsoft.com/office/drawing/2014/main" val="3267762336"/>
                    </a:ext>
                  </a:extLst>
                </a:gridCol>
                <a:gridCol w="733186">
                  <a:extLst>
                    <a:ext uri="{9D8B030D-6E8A-4147-A177-3AD203B41FA5}">
                      <a16:colId xmlns:a16="http://schemas.microsoft.com/office/drawing/2014/main" val="2824799769"/>
                    </a:ext>
                  </a:extLst>
                </a:gridCol>
                <a:gridCol w="733186">
                  <a:extLst>
                    <a:ext uri="{9D8B030D-6E8A-4147-A177-3AD203B41FA5}">
                      <a16:colId xmlns:a16="http://schemas.microsoft.com/office/drawing/2014/main" val="3910833540"/>
                    </a:ext>
                  </a:extLst>
                </a:gridCol>
                <a:gridCol w="1026460">
                  <a:extLst>
                    <a:ext uri="{9D8B030D-6E8A-4147-A177-3AD203B41FA5}">
                      <a16:colId xmlns:a16="http://schemas.microsoft.com/office/drawing/2014/main" val="1368779827"/>
                    </a:ext>
                  </a:extLst>
                </a:gridCol>
                <a:gridCol w="879823">
                  <a:extLst>
                    <a:ext uri="{9D8B030D-6E8A-4147-A177-3AD203B41FA5}">
                      <a16:colId xmlns:a16="http://schemas.microsoft.com/office/drawing/2014/main" val="1280230607"/>
                    </a:ext>
                  </a:extLst>
                </a:gridCol>
              </a:tblGrid>
              <a:tr h="1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SCÉNARIO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AN 1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AN 2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AN 3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TOTAL 3 ANS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CA ESTIMÉ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312081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</a:rPr>
                        <a:t>🔴 </a:t>
                      </a: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Pessimiste</a:t>
                      </a:r>
                      <a:r>
                        <a:rPr lang="fr-FR" sz="1000" dirty="0">
                          <a:solidFill>
                            <a:schemeClr val="bg1"/>
                          </a:solidFill>
                        </a:rPr>
                        <a:t> (critiques mitigées, marketing limité)</a:t>
                      </a: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1 000 000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600 000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300 000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</a:rPr>
                        <a:t>1 900 000 </a:t>
                      </a:r>
                      <a:endParaRPr lang="fr-FR" sz="1000" dirty="0">
                        <a:solidFill>
                          <a:schemeClr val="bg1"/>
                        </a:solidFill>
                      </a:endParaRP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</a:rPr>
                        <a:t>~150M€</a:t>
                      </a:r>
                    </a:p>
                  </a:txBody>
                  <a:tcPr marL="70715" marR="70715" marT="35357" marB="353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141323"/>
                  </a:ext>
                </a:extLst>
              </a:tr>
            </a:tbl>
          </a:graphicData>
        </a:graphic>
      </p:graphicFrame>
      <p:sp>
        <p:nvSpPr>
          <p:cNvPr id="83" name="ZoneTexte 82">
            <a:extLst>
              <a:ext uri="{FF2B5EF4-FFF2-40B4-BE49-F238E27FC236}">
                <a16:creationId xmlns:a16="http://schemas.microsoft.com/office/drawing/2014/main" id="{307EC8DE-B417-D855-D4DC-600AEBD5D3A8}"/>
              </a:ext>
            </a:extLst>
          </p:cNvPr>
          <p:cNvSpPr txBox="1"/>
          <p:nvPr/>
        </p:nvSpPr>
        <p:spPr>
          <a:xfrm>
            <a:off x="19267" y="1690637"/>
            <a:ext cx="5921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FRONTLINE est un shooter narratif d’action-aventure dans lequel le joueur incarne un opérateur d’une unité spéciale déployée dans des zones urbaines semi-ouvertes afin de contenir une crise mondiale.</a:t>
            </a:r>
          </a:p>
        </p:txBody>
      </p:sp>
      <p:pic>
        <p:nvPicPr>
          <p:cNvPr id="86" name="Image 85">
            <a:extLst>
              <a:ext uri="{FF2B5EF4-FFF2-40B4-BE49-F238E27FC236}">
                <a16:creationId xmlns:a16="http://schemas.microsoft.com/office/drawing/2014/main" id="{CD7C4DA6-4F81-5AE7-C26F-57BD25D0F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" y="18823"/>
            <a:ext cx="1486922" cy="14171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11699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">
          <a:extLst>
            <a:ext uri="{FF2B5EF4-FFF2-40B4-BE49-F238E27FC236}">
              <a16:creationId xmlns:a16="http://schemas.microsoft.com/office/drawing/2014/main" id="{D6C36606-0A35-C263-88F7-412FD0F1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EF718AF6-6815-03A2-99A4-D010E870A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27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17"/>
          <p:cNvSpPr txBox="1">
            <a:spLocks noGrp="1"/>
          </p:cNvSpPr>
          <p:nvPr>
            <p:ph type="title" idx="8"/>
          </p:nvPr>
        </p:nvSpPr>
        <p:spPr>
          <a:xfrm>
            <a:off x="713225" y="539499"/>
            <a:ext cx="7717500" cy="407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6600" dirty="0"/>
              <a:t>Annexes des slides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CB6A3845-4EE2-EF44-CFB6-1A22DF6FDB72}"/>
              </a:ext>
            </a:extLst>
          </p:cNvPr>
          <p:cNvSpPr txBox="1"/>
          <p:nvPr/>
        </p:nvSpPr>
        <p:spPr>
          <a:xfrm>
            <a:off x="0" y="624937"/>
            <a:ext cx="85972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Contexte</a:t>
            </a:r>
          </a:p>
          <a:p>
            <a:pPr lvl="0">
              <a:buSzPts val="1100"/>
            </a:pPr>
            <a:r>
              <a:rPr lang="fr-FR" sz="1200" dirty="0">
                <a:solidFill>
                  <a:schemeClr val="tx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https://www.windowscentral.com/gaming/its-official-battlefield-6-is-the-best-selling-game-of-2025-and-holy-smokes-it-had-the-biggest-launch-month-of-any-game-in-the-past-3-years-too</a:t>
            </a:r>
            <a:endParaRPr lang="fr-FR" sz="1200" dirty="0">
              <a:solidFill>
                <a:schemeClr val="tx1">
                  <a:lumMod val="50000"/>
                </a:schemeClr>
              </a:solidFill>
            </a:endParaRPr>
          </a:p>
          <a:p>
            <a:pPr lvl="0">
              <a:buSzPts val="1100"/>
            </a:pPr>
            <a:r>
              <a:rPr lang="fr-FR" sz="1200" dirty="0">
                <a:solidFill>
                  <a:schemeClr val="tx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https://gamerant.com/best-selling-video-games-2024</a:t>
            </a:r>
            <a:endParaRPr lang="fr-FR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72FF221-A0A0-CFC2-32C4-29DA84192355}"/>
              </a:ext>
            </a:extLst>
          </p:cNvPr>
          <p:cNvSpPr txBox="1"/>
          <p:nvPr/>
        </p:nvSpPr>
        <p:spPr>
          <a:xfrm>
            <a:off x="0" y="4002785"/>
            <a:ext cx="769048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 Le questionnaire réalisé sur Google Forms  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https://docs.google.com/forms/d/1A1t3ooMtSMriwf8TpAxU_1rGy3fXDVa_Xqtf5V75j5k/edit</a:t>
            </a:r>
            <a:endParaRPr lang="fr-FR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5A944F8-3CF6-D887-1793-7FE3758E8E45}"/>
              </a:ext>
            </a:extLst>
          </p:cNvPr>
          <p:cNvSpPr txBox="1"/>
          <p:nvPr/>
        </p:nvSpPr>
        <p:spPr>
          <a:xfrm>
            <a:off x="2817495" y="0"/>
            <a:ext cx="4695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Sources et références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E053665-1336-22BD-E8B5-194E36D856C4}"/>
              </a:ext>
            </a:extLst>
          </p:cNvPr>
          <p:cNvSpPr txBox="1"/>
          <p:nvPr/>
        </p:nvSpPr>
        <p:spPr>
          <a:xfrm>
            <a:off x="0" y="1694713"/>
            <a:ext cx="595503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Tendances actuelles</a:t>
            </a:r>
            <a:endParaRPr lang="fr-FR" dirty="0">
              <a:solidFill>
                <a:schemeClr val="bg1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fr-FR" sz="1200" dirty="0">
                <a:solidFill>
                  <a:schemeClr val="tx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https://icon-era.com/statistics/video-game-statistics</a:t>
            </a:r>
            <a:endParaRPr lang="fr-FR" sz="12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fr-FR" sz="1200" dirty="0">
                <a:solidFill>
                  <a:schemeClr val="tx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https://icon-era.com/statistics/video-game-statistics</a:t>
            </a:r>
            <a:endParaRPr lang="fr-FR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BF569BE-823C-32C1-54D6-2D022BB2F580}"/>
              </a:ext>
            </a:extLst>
          </p:cNvPr>
          <p:cNvSpPr txBox="1"/>
          <p:nvPr/>
        </p:nvSpPr>
        <p:spPr>
          <a:xfrm>
            <a:off x="0" y="2571750"/>
            <a:ext cx="1034796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100"/>
              <a:defRPr/>
            </a:pPr>
            <a:r>
              <a:rPr lang="en" b="1" dirty="0">
                <a:solidFill>
                  <a:schemeClr val="bg1"/>
                </a:solidFill>
              </a:rPr>
              <a:t>Tendances futures</a:t>
            </a:r>
          </a:p>
          <a:p>
            <a:pPr lvl="0">
              <a:buSzPts val="1100"/>
              <a:defRPr/>
            </a:pPr>
            <a:r>
              <a:rPr lang="en-US" sz="1200" b="0" i="0" u="none" strike="noStrike" cap="none" dirty="0">
                <a:solidFill>
                  <a:schemeClr val="tx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Source : IDC, Grand View Research , Sony PlayStation Blog</a:t>
            </a:r>
          </a:p>
          <a:p>
            <a:pPr lvl="0">
              <a:buSzPts val="1100"/>
              <a:defRPr/>
            </a:pPr>
            <a:endParaRPr lang="en-US" sz="1200" b="0" i="0" u="none" strike="noStrike" cap="none" dirty="0">
              <a:solidFill>
                <a:schemeClr val="tx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https://vrrare.com/guides/meta-quest-4-everything-we-know</a:t>
            </a: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https://www.generation-nt.com/actualites/xbox-prix-explosion-memoire-2074943</a:t>
            </a: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https://www.phonandroid.com/ps6-prix-nouveautes-fenetre-de-sortie-performances-jeux-toutes-les-infos-sur-la-playstation-6-de-sony.html</a:t>
            </a: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8392073"/>
      </p:ext>
    </p:extLst>
  </p:cSld>
  <p:clrMapOvr>
    <a:masterClrMapping/>
  </p:clrMapOvr>
</p:sld>
</file>

<file path=ppt/theme/theme1.xml><?xml version="1.0" encoding="utf-8"?>
<a:theme xmlns:a="http://schemas.openxmlformats.org/drawingml/2006/main" name="Big Data Science Consulting Toolkit by Slidesgo">
  <a:themeElements>
    <a:clrScheme name="Simple Light">
      <a:dk1>
        <a:srgbClr val="351C75"/>
      </a:dk1>
      <a:lt1>
        <a:srgbClr val="FFFFFF"/>
      </a:lt1>
      <a:dk2>
        <a:srgbClr val="674EA7"/>
      </a:dk2>
      <a:lt2>
        <a:srgbClr val="FFFFFF"/>
      </a:lt2>
      <a:accent1>
        <a:srgbClr val="00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22867</TotalTime>
  <Words>1943</Words>
  <Application>Microsoft Office PowerPoint</Application>
  <PresentationFormat>Affichage à l'écran (16:9)</PresentationFormat>
  <Paragraphs>530</Paragraphs>
  <Slides>32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2" baseType="lpstr">
      <vt:lpstr>Space Grotesk Medium</vt:lpstr>
      <vt:lpstr>DM Sans</vt:lpstr>
      <vt:lpstr>Space Grotesk</vt:lpstr>
      <vt:lpstr>Dosis</vt:lpstr>
      <vt:lpstr>Segoe UI</vt:lpstr>
      <vt:lpstr>Helvetica</vt:lpstr>
      <vt:lpstr>Wingdings</vt:lpstr>
      <vt:lpstr>Arial</vt:lpstr>
      <vt:lpstr>Space Grotesk Light</vt:lpstr>
      <vt:lpstr>Big Data Science Consulting Toolkit by Slidesgo</vt:lpstr>
      <vt:lpstr>Présentation PowerPoint</vt:lpstr>
      <vt:lpstr>Sommaire</vt:lpstr>
      <vt:lpstr>Le contexte</vt:lpstr>
      <vt:lpstr>Le contexte</vt:lpstr>
      <vt:lpstr>La matrice SWOT et  Le business plan PESTEL</vt:lpstr>
      <vt:lpstr>Matrice SWOT</vt:lpstr>
      <vt:lpstr>Environmental</vt:lpstr>
      <vt:lpstr>Analyses des tendances actuelles</vt:lpstr>
      <vt:lpstr>Analyse des tendances du marché</vt:lpstr>
      <vt:lpstr>Analyse des tendances du marché</vt:lpstr>
      <vt:lpstr>Analyse des tendances du marché</vt:lpstr>
      <vt:lpstr>Analyse des tendances du marché</vt:lpstr>
      <vt:lpstr>Analyse des tendances du marché</vt:lpstr>
      <vt:lpstr>Analyse des tendances du marché</vt:lpstr>
      <vt:lpstr>Présentation PowerPoint</vt:lpstr>
      <vt:lpstr>Analyse des tendances du marché</vt:lpstr>
      <vt:lpstr>Analyse des tendances du marché</vt:lpstr>
      <vt:lpstr>Analyse des tendances du marché</vt:lpstr>
      <vt:lpstr>Tendances actuelles</vt:lpstr>
      <vt:lpstr>Tendances actuelles</vt:lpstr>
      <vt:lpstr>Les futures tendances et perspectives</vt:lpstr>
      <vt:lpstr>Les futures tendances</vt:lpstr>
      <vt:lpstr>Analyses  des segments</vt:lpstr>
      <vt:lpstr>Présentation PowerPoint</vt:lpstr>
      <vt:lpstr>Présentation PowerPoint</vt:lpstr>
      <vt:lpstr>Recommandations stratégiques</vt:lpstr>
      <vt:lpstr>Recommandations des segments visés</vt:lpstr>
      <vt:lpstr>Recommandations pour un jeu AAA</vt:lpstr>
      <vt:lpstr>Présentation PowerPoint</vt:lpstr>
      <vt:lpstr>Présentation PowerPoint</vt:lpstr>
      <vt:lpstr>Annexes des slides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Jeremy</dc:creator>
  <cp:lastModifiedBy>AMEL HADJ</cp:lastModifiedBy>
  <cp:revision>61</cp:revision>
  <dcterms:modified xsi:type="dcterms:W3CDTF">2026-05-29T10:36:49Z</dcterms:modified>
</cp:coreProperties>
</file>